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4"/>
        <p:guide pos="38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5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3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2.png"/><Relationship Id="rId15" Type="http://schemas.openxmlformats.org/officeDocument/2006/relationships/image" Target="../media/image11.svg"/><Relationship Id="rId14" Type="http://schemas.openxmlformats.org/officeDocument/2006/relationships/image" Target="../media/image10.png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4.xml"/><Relationship Id="rId10" Type="http://schemas.openxmlformats.org/officeDocument/2006/relationships/image" Target="../media/image7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1828800" y="41910"/>
            <a:ext cx="9552940" cy="6221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771650" y="169545"/>
            <a:ext cx="9552940" cy="6221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722755" y="342900"/>
            <a:ext cx="9552940" cy="6221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2074545" y="1640205"/>
            <a:ext cx="8348980" cy="3279775"/>
          </a:xfrm>
          <a:prstGeom prst="roundRect">
            <a:avLst>
              <a:gd name="adj" fmla="val 809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端到端传输场景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0" y="2245360"/>
            <a:ext cx="3178175" cy="22148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315210" y="2108835"/>
            <a:ext cx="3359785" cy="242824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869305" y="3101975"/>
            <a:ext cx="77851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754495" y="2108835"/>
            <a:ext cx="3179445" cy="242824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54675" y="2761615"/>
            <a:ext cx="121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管控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892800" y="3701415"/>
            <a:ext cx="713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分解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058660" y="3984625"/>
            <a:ext cx="2632075" cy="4756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网络状态感知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58660" y="3404870"/>
            <a:ext cx="2632075" cy="4756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接入与</a:t>
            </a:r>
            <a:r>
              <a:rPr lang="zh-CN" altLang="en-US">
                <a:solidFill>
                  <a:schemeClr val="tx1"/>
                </a:solidFill>
              </a:rPr>
              <a:t>切换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058660" y="2825115"/>
            <a:ext cx="2632075" cy="4756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无线资源</a:t>
            </a:r>
            <a:r>
              <a:rPr lang="zh-CN" altLang="en-US">
                <a:solidFill>
                  <a:schemeClr val="tx1"/>
                </a:solidFill>
              </a:rPr>
              <a:t>调度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58660" y="2245360"/>
            <a:ext cx="2632075" cy="4756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端到端</a:t>
            </a:r>
            <a:r>
              <a:rPr lang="zh-CN" altLang="en-US">
                <a:solidFill>
                  <a:schemeClr val="tx1"/>
                </a:solidFill>
              </a:rPr>
              <a:t>传输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61335" y="4582160"/>
            <a:ext cx="1868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端到端业务</a:t>
            </a:r>
            <a:r>
              <a:rPr lang="zh-CN" altLang="en-US"/>
              <a:t>传输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83095" y="4564380"/>
            <a:ext cx="2783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端到端管控</a:t>
            </a:r>
            <a:r>
              <a:rPr lang="zh-CN" altLang="en-US"/>
              <a:t>环节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946910" y="1695450"/>
            <a:ext cx="1047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网络</a:t>
            </a:r>
            <a:endParaRPr lang="zh-CN" altLang="en-US" b="1"/>
          </a:p>
        </p:txBody>
      </p:sp>
      <p:sp>
        <p:nvSpPr>
          <p:cNvPr id="19" name="圆角矩形 18"/>
          <p:cNvSpPr/>
          <p:nvPr/>
        </p:nvSpPr>
        <p:spPr>
          <a:xfrm>
            <a:off x="2089150" y="560070"/>
            <a:ext cx="8348980" cy="1023620"/>
          </a:xfrm>
          <a:prstGeom prst="roundRect">
            <a:avLst>
              <a:gd name="adj" fmla="val 809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141220" y="796925"/>
            <a:ext cx="920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星上</a:t>
            </a:r>
            <a:r>
              <a:rPr lang="en-US" altLang="zh-CN" b="1"/>
              <a:t>AI</a:t>
            </a:r>
            <a:r>
              <a:rPr lang="zh-CN" altLang="en-US" b="1"/>
              <a:t>优化</a:t>
            </a:r>
            <a:endParaRPr lang="zh-CN" altLang="en-US" b="1"/>
          </a:p>
        </p:txBody>
      </p:sp>
      <p:sp>
        <p:nvSpPr>
          <p:cNvPr id="21" name="右箭头 20"/>
          <p:cNvSpPr/>
          <p:nvPr/>
        </p:nvSpPr>
        <p:spPr>
          <a:xfrm rot="16200000">
            <a:off x="3604260" y="1475740"/>
            <a:ext cx="55499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319145" y="657225"/>
            <a:ext cx="1125220" cy="806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本地数据</a:t>
            </a:r>
            <a:r>
              <a:rPr lang="zh-CN" altLang="en-US">
                <a:solidFill>
                  <a:schemeClr val="tx1"/>
                </a:solidFill>
              </a:rPr>
              <a:t>采集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右箭头 22"/>
          <p:cNvSpPr/>
          <p:nvPr/>
        </p:nvSpPr>
        <p:spPr>
          <a:xfrm rot="5400000">
            <a:off x="2787015" y="4782820"/>
            <a:ext cx="25273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 rot="5400000">
            <a:off x="5039360" y="4778375"/>
            <a:ext cx="25273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 rot="5400000">
            <a:off x="7166610" y="4789805"/>
            <a:ext cx="25273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 rot="5400000">
            <a:off x="9483090" y="4789805"/>
            <a:ext cx="25273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930140" y="657225"/>
            <a:ext cx="3150870" cy="806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079875" y="5096510"/>
            <a:ext cx="0" cy="13957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263640" y="5096510"/>
            <a:ext cx="0" cy="139680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8521700" y="5096510"/>
            <a:ext cx="0" cy="139680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4" name="图片 33" descr="柱状图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3665" y="710565"/>
            <a:ext cx="532765" cy="53276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010150" y="1200150"/>
            <a:ext cx="11436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数据清洗</a:t>
            </a:r>
            <a:endParaRPr lang="zh-CN" altLang="en-US" sz="1400"/>
          </a:p>
        </p:txBody>
      </p:sp>
      <p:cxnSp>
        <p:nvCxnSpPr>
          <p:cNvPr id="36" name="直接箭头连接符 35"/>
          <p:cNvCxnSpPr/>
          <p:nvPr/>
        </p:nvCxnSpPr>
        <p:spPr>
          <a:xfrm>
            <a:off x="5810885" y="1070610"/>
            <a:ext cx="331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图片 36" descr="市场分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4265" y="710565"/>
            <a:ext cx="603885" cy="60388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5934075" y="1207770"/>
            <a:ext cx="11436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分析与</a:t>
            </a:r>
            <a:r>
              <a:rPr lang="zh-CN" altLang="en-US" sz="1400"/>
              <a:t>推理</a:t>
            </a:r>
            <a:endParaRPr lang="zh-CN" altLang="en-US" sz="1400"/>
          </a:p>
        </p:txBody>
      </p:sp>
      <p:sp>
        <p:nvSpPr>
          <p:cNvPr id="39" name="右箭头 38"/>
          <p:cNvSpPr/>
          <p:nvPr/>
        </p:nvSpPr>
        <p:spPr>
          <a:xfrm>
            <a:off x="8107045" y="796925"/>
            <a:ext cx="25273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文档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5985" y="710565"/>
            <a:ext cx="533400" cy="5334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6914515" y="1082040"/>
            <a:ext cx="331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983095" y="1191895"/>
            <a:ext cx="11436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本地</a:t>
            </a:r>
            <a:r>
              <a:rPr lang="zh-CN" altLang="en-US" sz="1400"/>
              <a:t>样本库</a:t>
            </a:r>
            <a:endParaRPr lang="zh-CN" altLang="en-US" sz="1400"/>
          </a:p>
        </p:txBody>
      </p:sp>
      <p:sp>
        <p:nvSpPr>
          <p:cNvPr id="43" name="矩形 42"/>
          <p:cNvSpPr/>
          <p:nvPr/>
        </p:nvSpPr>
        <p:spPr>
          <a:xfrm>
            <a:off x="8385175" y="649605"/>
            <a:ext cx="1816735" cy="806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4" name="图片 43" descr="齿轮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66785" y="779145"/>
            <a:ext cx="643255" cy="64325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9230995" y="901065"/>
            <a:ext cx="992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在线</a:t>
            </a:r>
            <a:r>
              <a:rPr lang="zh-CN" altLang="en-US" sz="1400"/>
              <a:t>训练微调</a:t>
            </a:r>
            <a:endParaRPr lang="zh-CN" altLang="en-US" sz="1400"/>
          </a:p>
        </p:txBody>
      </p:sp>
      <p:sp>
        <p:nvSpPr>
          <p:cNvPr id="47" name="右箭头 46"/>
          <p:cNvSpPr/>
          <p:nvPr/>
        </p:nvSpPr>
        <p:spPr>
          <a:xfrm rot="5400000" flipV="1">
            <a:off x="8711565" y="1523365"/>
            <a:ext cx="554990" cy="6203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780020" y="1509395"/>
            <a:ext cx="1057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模型参数</a:t>
            </a:r>
            <a:r>
              <a:rPr lang="zh-CN" altLang="en-US"/>
              <a:t>更新</a:t>
            </a: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74545" y="5309870"/>
            <a:ext cx="728345" cy="728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solidFill>
                  <a:schemeClr val="tx1"/>
                </a:solidFill>
              </a:rPr>
              <a:t>邻居特征</a:t>
            </a:r>
            <a:endParaRPr lang="zh-CN" altLang="en-US" sz="1500">
              <a:solidFill>
                <a:schemeClr val="tx1"/>
              </a:solidFill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2802890" y="5674360"/>
            <a:ext cx="2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3018790" y="5309870"/>
            <a:ext cx="728345" cy="728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solidFill>
                  <a:schemeClr val="tx1"/>
                </a:solidFill>
              </a:rPr>
              <a:t>任务</a:t>
            </a:r>
            <a:r>
              <a:rPr lang="zh-CN" altLang="en-US" sz="1500">
                <a:solidFill>
                  <a:schemeClr val="tx1"/>
                </a:solidFill>
              </a:rPr>
              <a:t>反馈</a:t>
            </a:r>
            <a:endParaRPr lang="zh-CN" altLang="en-US" sz="1500">
              <a:solidFill>
                <a:schemeClr val="tx1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028190" y="6125210"/>
            <a:ext cx="1868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网络状态</a:t>
            </a:r>
            <a:r>
              <a:rPr lang="zh-CN" altLang="en-US"/>
              <a:t>感知</a:t>
            </a:r>
            <a:endParaRPr lang="zh-CN" altLang="en-US"/>
          </a:p>
        </p:txBody>
      </p:sp>
      <p:pic>
        <p:nvPicPr>
          <p:cNvPr id="55" name="图片 54" descr="nn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47244" t="41315" r="42421" b="44198"/>
          <a:stretch>
            <a:fillRect/>
          </a:stretch>
        </p:blipFill>
        <p:spPr>
          <a:xfrm>
            <a:off x="1771650" y="5735320"/>
            <a:ext cx="773430" cy="596900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>
          <a:xfrm>
            <a:off x="4281805" y="5309870"/>
            <a:ext cx="728345" cy="728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solidFill>
                  <a:schemeClr val="tx1"/>
                </a:solidFill>
              </a:rPr>
              <a:t>切换</a:t>
            </a:r>
            <a:r>
              <a:rPr lang="zh-CN" altLang="en-US" sz="1500">
                <a:solidFill>
                  <a:schemeClr val="tx1"/>
                </a:solidFill>
              </a:rPr>
              <a:t>决策</a:t>
            </a:r>
            <a:endParaRPr lang="zh-CN" altLang="en-US" sz="1500">
              <a:solidFill>
                <a:schemeClr val="tx1"/>
              </a:solidFill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5105400" y="5674360"/>
            <a:ext cx="2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5226050" y="5393690"/>
            <a:ext cx="8388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500"/>
              <a:t>目标</a:t>
            </a:r>
            <a:endParaRPr lang="zh-CN" altLang="en-US" sz="1500"/>
          </a:p>
          <a:p>
            <a:pPr algn="ctr"/>
            <a:r>
              <a:rPr lang="zh-CN" altLang="en-US" sz="1500"/>
              <a:t>卫星</a:t>
            </a:r>
            <a:endParaRPr lang="zh-CN" altLang="en-US" sz="1500"/>
          </a:p>
        </p:txBody>
      </p:sp>
      <p:pic>
        <p:nvPicPr>
          <p:cNvPr id="59" name="图片 58" descr="nn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47244" t="41315" r="42421" b="44198"/>
          <a:stretch>
            <a:fillRect/>
          </a:stretch>
        </p:blipFill>
        <p:spPr>
          <a:xfrm>
            <a:off x="3896995" y="5735320"/>
            <a:ext cx="773430" cy="596900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4444365" y="6123940"/>
            <a:ext cx="1474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接入与</a:t>
            </a:r>
            <a:r>
              <a:rPr lang="zh-CN" altLang="en-US"/>
              <a:t>切换</a:t>
            </a:r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6391910" y="5309870"/>
            <a:ext cx="728345" cy="728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solidFill>
                  <a:schemeClr val="tx1"/>
                </a:solidFill>
              </a:rPr>
              <a:t>切片</a:t>
            </a:r>
            <a:r>
              <a:rPr lang="zh-CN" altLang="en-US" sz="1500">
                <a:solidFill>
                  <a:schemeClr val="tx1"/>
                </a:solidFill>
              </a:rPr>
              <a:t>配置</a:t>
            </a:r>
            <a:endParaRPr lang="zh-CN" altLang="en-US" sz="1500">
              <a:solidFill>
                <a:schemeClr val="tx1"/>
              </a:solidFill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V="1">
            <a:off x="7169150" y="5666740"/>
            <a:ext cx="57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7734935" y="5309870"/>
            <a:ext cx="728345" cy="728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500">
                <a:solidFill>
                  <a:schemeClr val="tx1"/>
                </a:solidFill>
              </a:rPr>
              <a:t>MAC</a:t>
            </a:r>
            <a:r>
              <a:rPr lang="zh-CN" altLang="en-US" sz="1500">
                <a:solidFill>
                  <a:schemeClr val="tx1"/>
                </a:solidFill>
              </a:rPr>
              <a:t>资源</a:t>
            </a:r>
            <a:r>
              <a:rPr lang="zh-CN" altLang="en-US" sz="1500">
                <a:solidFill>
                  <a:schemeClr val="tx1"/>
                </a:solidFill>
              </a:rPr>
              <a:t>分配</a:t>
            </a:r>
            <a:endParaRPr lang="zh-CN" altLang="en-US" sz="1500">
              <a:solidFill>
                <a:schemeClr val="tx1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605905" y="6125210"/>
            <a:ext cx="1591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无线资源</a:t>
            </a:r>
            <a:r>
              <a:rPr lang="zh-CN" altLang="en-US"/>
              <a:t>调度</a:t>
            </a:r>
            <a:endParaRPr lang="zh-CN" altLang="en-US"/>
          </a:p>
        </p:txBody>
      </p:sp>
      <p:pic>
        <p:nvPicPr>
          <p:cNvPr id="65" name="图片 64" descr="nn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47244" t="41315" r="42421" b="44198"/>
          <a:stretch>
            <a:fillRect/>
          </a:stretch>
        </p:blipFill>
        <p:spPr>
          <a:xfrm>
            <a:off x="5869305" y="5666740"/>
            <a:ext cx="773430" cy="596900"/>
          </a:xfrm>
          <a:prstGeom prst="rect">
            <a:avLst/>
          </a:prstGeom>
        </p:spPr>
      </p:pic>
      <p:pic>
        <p:nvPicPr>
          <p:cNvPr id="66" name="图片 65" descr="nn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47244" t="41315" r="42421" b="44198"/>
          <a:stretch>
            <a:fillRect/>
          </a:stretch>
        </p:blipFill>
        <p:spPr>
          <a:xfrm>
            <a:off x="7245985" y="5666740"/>
            <a:ext cx="773430" cy="596900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8910955" y="6125210"/>
            <a:ext cx="1591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端到端</a:t>
            </a:r>
            <a:r>
              <a:rPr lang="zh-CN" altLang="en-US"/>
              <a:t>传输</a:t>
            </a:r>
            <a:endParaRPr lang="zh-CN" altLang="en-US"/>
          </a:p>
        </p:txBody>
      </p:sp>
      <p:pic>
        <p:nvPicPr>
          <p:cNvPr id="68" name="图片 67" descr="ChatGPT Image 2026年7月9日 21_20_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25970" y="5222240"/>
            <a:ext cx="592455" cy="395605"/>
          </a:xfrm>
          <a:prstGeom prst="rect">
            <a:avLst/>
          </a:prstGeom>
        </p:spPr>
      </p:pic>
      <p:sp>
        <p:nvSpPr>
          <p:cNvPr id="69" name="矩形 68"/>
          <p:cNvSpPr/>
          <p:nvPr/>
        </p:nvSpPr>
        <p:spPr>
          <a:xfrm>
            <a:off x="8679180" y="5309870"/>
            <a:ext cx="728345" cy="728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solidFill>
                  <a:schemeClr val="tx1"/>
                </a:solidFill>
              </a:rPr>
              <a:t>发送端</a:t>
            </a:r>
            <a:r>
              <a:rPr lang="zh-CN" altLang="en-US" sz="1500">
                <a:solidFill>
                  <a:schemeClr val="tx1"/>
                </a:solidFill>
              </a:rPr>
              <a:t>编码器</a:t>
            </a:r>
            <a:endParaRPr lang="zh-CN" altLang="en-US" sz="1500">
              <a:solidFill>
                <a:schemeClr val="tx1"/>
              </a:solidFill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 flipV="1">
            <a:off x="9407525" y="5674360"/>
            <a:ext cx="5969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nn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47244" t="41315" r="42421" b="44198"/>
          <a:stretch>
            <a:fillRect/>
          </a:stretch>
        </p:blipFill>
        <p:spPr>
          <a:xfrm>
            <a:off x="9230995" y="5617845"/>
            <a:ext cx="773430" cy="596900"/>
          </a:xfrm>
          <a:prstGeom prst="rect">
            <a:avLst/>
          </a:prstGeom>
        </p:spPr>
      </p:pic>
      <p:sp>
        <p:nvSpPr>
          <p:cNvPr id="72" name="矩形 71"/>
          <p:cNvSpPr/>
          <p:nvPr/>
        </p:nvSpPr>
        <p:spPr>
          <a:xfrm>
            <a:off x="10004425" y="5309870"/>
            <a:ext cx="728345" cy="728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solidFill>
                  <a:schemeClr val="tx1"/>
                </a:solidFill>
              </a:rPr>
              <a:t>接收端</a:t>
            </a:r>
            <a:r>
              <a:rPr lang="zh-CN" altLang="en-US" sz="1500">
                <a:solidFill>
                  <a:schemeClr val="tx1"/>
                </a:solidFill>
              </a:rPr>
              <a:t>解码器</a:t>
            </a:r>
            <a:endParaRPr lang="zh-CN" altLang="en-US" sz="1500">
              <a:solidFill>
                <a:schemeClr val="tx1"/>
              </a:solidFill>
            </a:endParaRPr>
          </a:p>
        </p:txBody>
      </p:sp>
      <p:pic>
        <p:nvPicPr>
          <p:cNvPr id="73" name="图片 72" descr="nn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47244" t="41315" r="42421" b="44198"/>
          <a:stretch>
            <a:fillRect/>
          </a:stretch>
        </p:blipFill>
        <p:spPr>
          <a:xfrm>
            <a:off x="10502265" y="5568950"/>
            <a:ext cx="773430" cy="5969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722755" y="342900"/>
            <a:ext cx="683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卫星</a:t>
            </a:r>
            <a:r>
              <a:rPr lang="en-US" altLang="zh-CN" sz="1000" b="1" i="1"/>
              <a:t> N</a:t>
            </a:r>
            <a:endParaRPr lang="en-US" altLang="zh-CN" sz="1000" b="1" i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3645080&quot;,&quot;origin&quot;:0,&quot;type&quot;:&quot;icons&quot;,&quot;user&quot;:&quot;245216284&quot;}"/>
</p:tagLst>
</file>

<file path=ppt/tags/tag2.xml><?xml version="1.0" encoding="utf-8"?>
<p:tagLst xmlns:p="http://schemas.openxmlformats.org/presentationml/2006/main">
  <p:tag name="KSO_DOCER_RESOURCE_TRACE_INFO" val="{&quot;id&quot;:&quot;4532497&quot;,&quot;origin&quot;:0,&quot;type&quot;:&quot;icons&quot;,&quot;user&quot;:&quot;245216284&quot;}"/>
</p:tagLst>
</file>

<file path=ppt/tags/tag3.xml><?xml version="1.0" encoding="utf-8"?>
<p:tagLst xmlns:p="http://schemas.openxmlformats.org/presentationml/2006/main">
  <p:tag name="KSO_DOCER_RESOURCE_TRACE_INFO" val="{&quot;id&quot;:&quot;50059283&quot;,&quot;origin&quot;:0,&quot;type&quot;:&quot;icons&quot;,&quot;user&quot;:&quot;245216284&quot;}"/>
</p:tagLst>
</file>

<file path=ppt/tags/tag4.xml><?xml version="1.0" encoding="utf-8"?>
<p:tagLst xmlns:p="http://schemas.openxmlformats.org/presentationml/2006/main">
  <p:tag name="KSO_DOCER_RESOURCE_TRACE_INFO" val="{&quot;id&quot;:&quot;50011502&quot;,&quot;origin&quot;:0,&quot;type&quot;:&quot;icons&quot;,&quot;user&quot;:&quot;245216284&quot;}"/>
</p:tagLst>
</file>

<file path=ppt/tags/tag5.xml><?xml version="1.0" encoding="utf-8"?>
<p:tagLst xmlns:p="http://schemas.openxmlformats.org/presentationml/2006/main">
  <p:tag name="resource_record_key" val="{&quot;10&quot;:[3645080,4532497,50059283,5001150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WPS 演示</Application>
  <PresentationFormat>宽屏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102</cp:revision>
  <dcterms:created xsi:type="dcterms:W3CDTF">2023-08-09T12:44:00Z</dcterms:created>
  <dcterms:modified xsi:type="dcterms:W3CDTF">2026-07-09T13:51:54Z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3F35C39C24544C698636AEE5B7C917FE_12</vt:lpwstr>
  </property>
</Properties>
</file>