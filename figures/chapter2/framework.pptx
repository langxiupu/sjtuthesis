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media/image2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9" userDrawn="1">
          <p15:clr>
            <a:srgbClr val="A4A3A4"/>
          </p15:clr>
        </p15:guide>
        <p15:guide id="2" pos="38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09"/>
        <p:guide pos="38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3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1" Type="http://schemas.openxmlformats.org/officeDocument/2006/relationships/notesSlide" Target="../notesSlides/notesSlide1.xml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9" Type="http://schemas.openxmlformats.org/officeDocument/2006/relationships/image" Target="../media/image37.png"/><Relationship Id="rId38" Type="http://schemas.openxmlformats.org/officeDocument/2006/relationships/tags" Target="../tags/tag2.xml"/><Relationship Id="rId37" Type="http://schemas.openxmlformats.org/officeDocument/2006/relationships/image" Target="../media/image36.png"/><Relationship Id="rId36" Type="http://schemas.openxmlformats.org/officeDocument/2006/relationships/image" Target="../media/image35.png"/><Relationship Id="rId35" Type="http://schemas.openxmlformats.org/officeDocument/2006/relationships/image" Target="../media/image34.png"/><Relationship Id="rId34" Type="http://schemas.openxmlformats.org/officeDocument/2006/relationships/image" Target="../media/image33.png"/><Relationship Id="rId33" Type="http://schemas.openxmlformats.org/officeDocument/2006/relationships/image" Target="../media/image32.png"/><Relationship Id="rId32" Type="http://schemas.openxmlformats.org/officeDocument/2006/relationships/image" Target="../media/image31.png"/><Relationship Id="rId31" Type="http://schemas.openxmlformats.org/officeDocument/2006/relationships/image" Target="../media/image30.png"/><Relationship Id="rId30" Type="http://schemas.openxmlformats.org/officeDocument/2006/relationships/image" Target="../media/image29.png"/><Relationship Id="rId3" Type="http://schemas.openxmlformats.org/officeDocument/2006/relationships/image" Target="../media/image3.png"/><Relationship Id="rId29" Type="http://schemas.openxmlformats.org/officeDocument/2006/relationships/image" Target="../media/image28.png"/><Relationship Id="rId28" Type="http://schemas.openxmlformats.org/officeDocument/2006/relationships/image" Target="../media/image27.png"/><Relationship Id="rId27" Type="http://schemas.openxmlformats.org/officeDocument/2006/relationships/image" Target="../media/image26.sv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svg"/><Relationship Id="rId2" Type="http://schemas.openxmlformats.org/officeDocument/2006/relationships/image" Target="../media/image2.png"/><Relationship Id="rId19" Type="http://schemas.openxmlformats.org/officeDocument/2006/relationships/image" Target="../media/image18.png"/><Relationship Id="rId18" Type="http://schemas.openxmlformats.org/officeDocument/2006/relationships/tags" Target="../tags/tag1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" name="圆角矩形 59"/>
          <p:cNvSpPr/>
          <p:nvPr/>
        </p:nvSpPr>
        <p:spPr>
          <a:xfrm>
            <a:off x="690880" y="71120"/>
            <a:ext cx="1432560" cy="27025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797560" y="478790"/>
            <a:ext cx="351155" cy="40068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843915" y="556895"/>
            <a:ext cx="257175" cy="257175"/>
            <a:chOff x="5057" y="1810"/>
            <a:chExt cx="790" cy="790"/>
          </a:xfrm>
        </p:grpSpPr>
        <p:sp>
          <p:nvSpPr>
            <p:cNvPr id="5" name="椭圆 4"/>
            <p:cNvSpPr/>
            <p:nvPr/>
          </p:nvSpPr>
          <p:spPr>
            <a:xfrm>
              <a:off x="5392" y="2145"/>
              <a:ext cx="120" cy="120"/>
            </a:xfrm>
            <a:prstGeom prst="ellipse">
              <a:avLst/>
            </a:prstGeom>
            <a:solidFill>
              <a:srgbClr val="C0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5392" y="1810"/>
              <a:ext cx="120" cy="1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057" y="2145"/>
              <a:ext cx="120" cy="1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>
              <a:stCxn id="5" idx="0"/>
              <a:endCxn id="6" idx="4"/>
            </p:cNvCxnSpPr>
            <p:nvPr/>
          </p:nvCxnSpPr>
          <p:spPr>
            <a:xfrm flipV="1">
              <a:off x="5452" y="1930"/>
              <a:ext cx="0" cy="2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V="1">
              <a:off x="5177" y="2205"/>
              <a:ext cx="21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V="1">
              <a:off x="5512" y="2205"/>
              <a:ext cx="21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5452" y="2265"/>
              <a:ext cx="0" cy="2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5727" y="2145"/>
              <a:ext cx="120" cy="1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5392" y="2480"/>
              <a:ext cx="120" cy="1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209675" y="465455"/>
            <a:ext cx="9201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局部拓扑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442720" y="619760"/>
                <a:ext cx="453390" cy="259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sup>
                      </m:sSubSup>
                      <m:d>
                        <m:d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720" y="619760"/>
                <a:ext cx="453390" cy="25971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圆角矩形 17"/>
          <p:cNvSpPr/>
          <p:nvPr/>
        </p:nvSpPr>
        <p:spPr>
          <a:xfrm>
            <a:off x="797560" y="915035"/>
            <a:ext cx="351155" cy="40068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843915" y="1003935"/>
            <a:ext cx="257175" cy="257175"/>
            <a:chOff x="5057" y="1810"/>
            <a:chExt cx="790" cy="790"/>
          </a:xfrm>
        </p:grpSpPr>
        <p:sp>
          <p:nvSpPr>
            <p:cNvPr id="20" name="椭圆 19"/>
            <p:cNvSpPr/>
            <p:nvPr/>
          </p:nvSpPr>
          <p:spPr>
            <a:xfrm>
              <a:off x="5392" y="2145"/>
              <a:ext cx="120" cy="120"/>
            </a:xfrm>
            <a:prstGeom prst="ellipse">
              <a:avLst/>
            </a:prstGeom>
            <a:solidFill>
              <a:srgbClr val="C0000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5392" y="1810"/>
              <a:ext cx="120" cy="1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5057" y="2145"/>
              <a:ext cx="120" cy="1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>
              <a:stCxn id="20" idx="0"/>
              <a:endCxn id="21" idx="4"/>
            </p:cNvCxnSpPr>
            <p:nvPr/>
          </p:nvCxnSpPr>
          <p:spPr>
            <a:xfrm flipV="1">
              <a:off x="5452" y="1930"/>
              <a:ext cx="0" cy="2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V="1">
              <a:off x="5177" y="2205"/>
              <a:ext cx="21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V="1">
              <a:off x="5512" y="2205"/>
              <a:ext cx="21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V="1">
              <a:off x="5452" y="2265"/>
              <a:ext cx="0" cy="2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5727" y="2145"/>
              <a:ext cx="120" cy="1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392" y="2480"/>
              <a:ext cx="120" cy="12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209675" y="915035"/>
            <a:ext cx="9201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观测</a:t>
            </a: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信号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1381760" y="1069340"/>
                <a:ext cx="453390" cy="259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𝑜𝑏𝑠</m:t>
                          </m:r>
                        </m:sup>
                      </m:sSubSup>
                      <m:d>
                        <m:d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760" y="1069340"/>
                <a:ext cx="453390" cy="25971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圆角矩形 31"/>
          <p:cNvSpPr/>
          <p:nvPr/>
        </p:nvSpPr>
        <p:spPr>
          <a:xfrm>
            <a:off x="797560" y="1354455"/>
            <a:ext cx="351155" cy="40068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814705" y="1504315"/>
            <a:ext cx="304800" cy="120650"/>
            <a:chOff x="3306" y="2564"/>
            <a:chExt cx="480" cy="190"/>
          </a:xfrm>
        </p:grpSpPr>
        <p:sp>
          <p:nvSpPr>
            <p:cNvPr id="34" name="矩形 33"/>
            <p:cNvSpPr/>
            <p:nvPr/>
          </p:nvSpPr>
          <p:spPr>
            <a:xfrm>
              <a:off x="3306" y="2564"/>
              <a:ext cx="120" cy="19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426" y="2564"/>
              <a:ext cx="120" cy="19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3546" y="2564"/>
              <a:ext cx="120" cy="190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3666" y="2564"/>
              <a:ext cx="120" cy="19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1209675" y="1329055"/>
            <a:ext cx="9201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可用性</a:t>
            </a: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掩码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/>
              <p:cNvSpPr txBox="1"/>
              <p:nvPr/>
            </p:nvSpPr>
            <p:spPr>
              <a:xfrm>
                <a:off x="1422400" y="1510665"/>
                <a:ext cx="453390" cy="213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40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2400" y="1510665"/>
                <a:ext cx="453390" cy="2133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15" y="1825625"/>
            <a:ext cx="323215" cy="305435"/>
          </a:xfrm>
          <a:prstGeom prst="rect">
            <a:avLst/>
          </a:prstGeom>
        </p:spPr>
      </p:pic>
      <p:sp>
        <p:nvSpPr>
          <p:cNvPr id="42" name="圆角矩形 41"/>
          <p:cNvSpPr/>
          <p:nvPr/>
        </p:nvSpPr>
        <p:spPr>
          <a:xfrm>
            <a:off x="797560" y="1791970"/>
            <a:ext cx="351155" cy="40068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1271270" y="1793240"/>
            <a:ext cx="9201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历史观测</a:t>
            </a: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状态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本框 43"/>
              <p:cNvSpPr txBox="1"/>
              <p:nvPr/>
            </p:nvSpPr>
            <p:spPr>
              <a:xfrm>
                <a:off x="1381760" y="1938020"/>
                <a:ext cx="453390" cy="2825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𝑝𝑟𝑖𝑜𝑟</m:t>
                          </m:r>
                        </m:sup>
                      </m:sSubSup>
                      <m:d>
                        <m:d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760" y="1938020"/>
                <a:ext cx="453390" cy="282575"/>
              </a:xfrm>
              <a:prstGeom prst="rect">
                <a:avLst/>
              </a:prstGeom>
              <a:blipFill rotWithShape="1">
                <a:blip r:embed="rId5"/>
                <a:stretch>
                  <a:fillRect r="-67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图片 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95" y="2276475"/>
            <a:ext cx="323850" cy="304800"/>
          </a:xfrm>
          <a:prstGeom prst="rect">
            <a:avLst/>
          </a:prstGeom>
        </p:spPr>
      </p:pic>
      <p:sp>
        <p:nvSpPr>
          <p:cNvPr id="57" name="圆角矩形 56"/>
          <p:cNvSpPr/>
          <p:nvPr/>
        </p:nvSpPr>
        <p:spPr>
          <a:xfrm>
            <a:off x="797560" y="2233930"/>
            <a:ext cx="351155" cy="40068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1271270" y="2220595"/>
            <a:ext cx="9201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可靠性</a:t>
            </a:r>
            <a:r>
              <a: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评价</a:t>
            </a:r>
            <a:endParaRPr lang="zh-CN" altLang="en-US" sz="8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本框 58"/>
              <p:cNvSpPr txBox="1"/>
              <p:nvPr/>
            </p:nvSpPr>
            <p:spPr>
              <a:xfrm>
                <a:off x="1442720" y="2367915"/>
                <a:ext cx="453390" cy="213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720" y="2367915"/>
                <a:ext cx="453390" cy="21336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本框 60"/>
          <p:cNvSpPr txBox="1"/>
          <p:nvPr/>
        </p:nvSpPr>
        <p:spPr>
          <a:xfrm>
            <a:off x="655320" y="101600"/>
            <a:ext cx="15487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本地感知输入</a:t>
            </a:r>
            <a:endParaRPr lang="zh-CN" altLang="en-US" sz="1200" b="1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2397760" y="55880"/>
            <a:ext cx="5979160" cy="2702560"/>
          </a:xfrm>
          <a:prstGeom prst="roundRect">
            <a:avLst/>
          </a:prstGeom>
          <a:solidFill>
            <a:schemeClr val="accent5">
              <a:lumMod val="20000"/>
              <a:lumOff val="80000"/>
              <a:alpha val="57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2854960" y="71120"/>
            <a:ext cx="49422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阶段</a:t>
            </a:r>
            <a:r>
              <a:rPr lang="en-US" altLang="zh-CN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1: </a:t>
            </a:r>
            <a:r>
              <a:rPr lang="zh-CN" altLang="en-US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置信度自适应的图信号恢复</a:t>
            </a:r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 (CaGSR)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 flipV="1">
            <a:off x="2123440" y="1129030"/>
            <a:ext cx="8674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圆角矩形 64"/>
          <p:cNvSpPr/>
          <p:nvPr/>
        </p:nvSpPr>
        <p:spPr>
          <a:xfrm>
            <a:off x="3012440" y="556895"/>
            <a:ext cx="1051560" cy="115189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2839720" y="620395"/>
            <a:ext cx="14116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置信度预测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/>
              <p:cNvSpPr txBox="1"/>
              <p:nvPr/>
            </p:nvSpPr>
            <p:spPr>
              <a:xfrm>
                <a:off x="3307080" y="865505"/>
                <a:ext cx="45339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∙</m:t>
                          </m:r>
                        </m:e>
                      </m:d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080" y="865505"/>
                <a:ext cx="453390" cy="24511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箭头连接符 67"/>
          <p:cNvCxnSpPr/>
          <p:nvPr/>
        </p:nvCxnSpPr>
        <p:spPr>
          <a:xfrm>
            <a:off x="4064000" y="1456055"/>
            <a:ext cx="6959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/>
              <p:cNvSpPr txBox="1"/>
              <p:nvPr/>
            </p:nvSpPr>
            <p:spPr>
              <a:xfrm>
                <a:off x="3865245" y="1254760"/>
                <a:ext cx="1078230" cy="4044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latin typeface="黑体" panose="02010609060101010101" charset="-122"/>
                    <a:ea typeface="黑体" panose="02010609060101010101" charset="-122"/>
                    <a:cs typeface="Times New Roman" panose="02020603050405020304" charset="0"/>
                  </a:rPr>
                  <a:t>置信度</a:t>
                </a:r>
                <a:endParaRPr lang="zh-CN" altLang="en-US" sz="10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𝑢</m:t>
                        </m:r>
                      </m:sub>
                    </m:sSub>
                    <m:d>
                      <m:d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69" name="文本框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245" y="1254760"/>
                <a:ext cx="1078230" cy="40449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直接箭头连接符 69"/>
          <p:cNvCxnSpPr/>
          <p:nvPr/>
        </p:nvCxnSpPr>
        <p:spPr>
          <a:xfrm flipV="1">
            <a:off x="4064000" y="793750"/>
            <a:ext cx="12947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/>
              <p:cNvSpPr txBox="1"/>
              <p:nvPr/>
            </p:nvSpPr>
            <p:spPr>
              <a:xfrm>
                <a:off x="4648200" y="1278255"/>
                <a:ext cx="31750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⨁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1" name="文本框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278255"/>
                <a:ext cx="317500" cy="3683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接箭头连接符 71"/>
          <p:cNvCxnSpPr/>
          <p:nvPr/>
        </p:nvCxnSpPr>
        <p:spPr>
          <a:xfrm>
            <a:off x="4912360" y="1456055"/>
            <a:ext cx="2895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/>
              <p:cNvSpPr txBox="1"/>
              <p:nvPr/>
            </p:nvSpPr>
            <p:spPr>
              <a:xfrm>
                <a:off x="5358765" y="1379855"/>
                <a:ext cx="548005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𝑌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765" y="1379855"/>
                <a:ext cx="548005" cy="24511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本框 74"/>
              <p:cNvSpPr txBox="1"/>
              <p:nvPr/>
            </p:nvSpPr>
            <p:spPr>
              <a:xfrm>
                <a:off x="4171315" y="589280"/>
                <a:ext cx="1282065" cy="470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latin typeface="Times New Roman" panose="02020603050405020304" charset="0"/>
                    <a:cs typeface="Times New Roman" panose="02020603050405020304" charset="0"/>
                  </a:rPr>
                  <a:t>置信度</a:t>
                </a:r>
                <a14:m>
                  <m:oMath xmlns:m="http://schemas.openxmlformats.org/officeDocument/2006/math">
                    <m:r>
                      <a:rPr lang="zh-CN" altLang="en-US" sz="1000">
                        <a:latin typeface="Cambria Math" panose="02040503050406030204" charset="0"/>
                        <a:cs typeface="Cambria Math" panose="02040503050406030204" charset="0"/>
                      </a:rPr>
                      <m:t>校准</m:t>
                    </m:r>
                  </m:oMath>
                </a14:m>
                <a:endParaRPr lang="zh-CN" altLang="en-US" sz="1000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m:t> </m:t>
                      </m:r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75" name="文本框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15" y="589280"/>
                <a:ext cx="1282065" cy="47053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直接箭头连接符 75"/>
          <p:cNvCxnSpPr/>
          <p:nvPr/>
        </p:nvCxnSpPr>
        <p:spPr>
          <a:xfrm>
            <a:off x="4845685" y="1198245"/>
            <a:ext cx="0" cy="177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/>
        </p:nvCxnSpPr>
        <p:spPr>
          <a:xfrm>
            <a:off x="4835525" y="1518285"/>
            <a:ext cx="0" cy="61214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/>
              <p:cNvSpPr txBox="1"/>
              <p:nvPr/>
            </p:nvSpPr>
            <p:spPr>
              <a:xfrm>
                <a:off x="4602480" y="1022985"/>
                <a:ext cx="548005" cy="255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𝑜𝑏𝑠</m:t>
                        </m:r>
                      </m:sup>
                    </m:sSup>
                  </m:oMath>
                </a14:m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78" name="文本框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80" y="1022985"/>
                <a:ext cx="548005" cy="25527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圆角矩形 79"/>
          <p:cNvSpPr/>
          <p:nvPr/>
        </p:nvSpPr>
        <p:spPr>
          <a:xfrm>
            <a:off x="2990850" y="1979295"/>
            <a:ext cx="1051560" cy="70421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2936875" y="2189480"/>
            <a:ext cx="4908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GRU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V="1">
            <a:off x="4042410" y="2128520"/>
            <a:ext cx="793115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/>
              <p:cNvSpPr txBox="1"/>
              <p:nvPr/>
            </p:nvSpPr>
            <p:spPr>
              <a:xfrm>
                <a:off x="4171315" y="1874520"/>
                <a:ext cx="548005" cy="254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𝑝𝑟𝑖</m:t>
                        </m:r>
                      </m:sup>
                    </m:sSup>
                  </m:oMath>
                </a14:m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15" y="1874520"/>
                <a:ext cx="548005" cy="254000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直接箭头连接符 83"/>
          <p:cNvCxnSpPr/>
          <p:nvPr/>
        </p:nvCxnSpPr>
        <p:spPr>
          <a:xfrm flipH="1">
            <a:off x="3514725" y="1708785"/>
            <a:ext cx="0" cy="25336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本框 84"/>
              <p:cNvSpPr txBox="1"/>
              <p:nvPr/>
            </p:nvSpPr>
            <p:spPr>
              <a:xfrm>
                <a:off x="3470275" y="1739900"/>
                <a:ext cx="548005" cy="241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85" name="文本框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275" y="1739900"/>
                <a:ext cx="548005" cy="2413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圆角矩形 85"/>
          <p:cNvSpPr/>
          <p:nvPr/>
        </p:nvSpPr>
        <p:spPr>
          <a:xfrm>
            <a:off x="5358765" y="447675"/>
            <a:ext cx="1279525" cy="70421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4939030" y="1228090"/>
            <a:ext cx="14116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参考信号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241290" y="516255"/>
            <a:ext cx="1487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置信度边系数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本框 89"/>
              <p:cNvSpPr txBox="1"/>
              <p:nvPr/>
            </p:nvSpPr>
            <p:spPr>
              <a:xfrm>
                <a:off x="5201920" y="819150"/>
                <a:ext cx="1589405" cy="250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𝑢𝑣</m:t>
                        </m:r>
                      </m:sub>
                    </m:sSub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𝑢</m:t>
                        </m:r>
                      </m:sub>
                    </m:sSub>
                    <m:sSub>
                      <m:sSub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𝑤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10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𝑢𝑣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90" name="文本框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920" y="819150"/>
                <a:ext cx="1589405" cy="250190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圆角矩形 90"/>
          <p:cNvSpPr/>
          <p:nvPr/>
        </p:nvSpPr>
        <p:spPr>
          <a:xfrm>
            <a:off x="6169025" y="1708785"/>
            <a:ext cx="2096135" cy="92583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3" name="直接箭头连接符 92"/>
          <p:cNvCxnSpPr/>
          <p:nvPr/>
        </p:nvCxnSpPr>
        <p:spPr>
          <a:xfrm flipV="1">
            <a:off x="6377305" y="1456055"/>
            <a:ext cx="86741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>
            <a:off x="7240905" y="1456055"/>
            <a:ext cx="0" cy="266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/>
          <p:nvPr/>
        </p:nvCxnSpPr>
        <p:spPr>
          <a:xfrm flipV="1">
            <a:off x="6638925" y="793750"/>
            <a:ext cx="86741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>
            <a:off x="7501890" y="782955"/>
            <a:ext cx="0" cy="9315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文本框 96"/>
          <p:cNvSpPr txBox="1"/>
          <p:nvPr/>
        </p:nvSpPr>
        <p:spPr>
          <a:xfrm>
            <a:off x="6529070" y="1711960"/>
            <a:ext cx="14236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图信号恢复</a:t>
            </a: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/>
              <p:cNvSpPr txBox="1"/>
              <p:nvPr/>
            </p:nvSpPr>
            <p:spPr>
              <a:xfrm>
                <a:off x="6210300" y="1960880"/>
                <a:ext cx="2166620" cy="37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sSubSup>
                        <m:sSubSup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altLang="zh-CN" sz="1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1000" i="1">
                                          <a:latin typeface="Cambria Math" panose="02040503050406030204" charset="0"/>
                                          <a:cs typeface="Cambria Math" panose="0204050305040603020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sub>
                        <m:sup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𝑅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sub>
                        <m:sup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98" name="文本框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1960880"/>
                <a:ext cx="2166620" cy="371475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 descr="回形循环箭头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016750" y="2220595"/>
            <a:ext cx="400050" cy="4000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7244715" y="2235835"/>
                <a:ext cx="1033145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sz="10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  <m:r>
                      <a:rPr lang="en-US" altLang="zh-CN" sz="1000" i="1"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</m:oMath>
                </a14:m>
                <a:r>
                  <a:rPr lang="zh-CN" altLang="en-US" sz="1000">
                    <a:latin typeface="黑体" panose="02010609060101010101" charset="-122"/>
                    <a:ea typeface="黑体" panose="02010609060101010101" charset="-122"/>
                    <a:cs typeface="Cambria Math" panose="02040503050406030204" charset="0"/>
                  </a:rPr>
                  <a:t>次</a:t>
                </a:r>
                <a:endParaRPr lang="zh-CN" altLang="en-US" sz="1000">
                  <a:latin typeface="黑体" panose="02010609060101010101" charset="-122"/>
                  <a:ea typeface="黑体" panose="02010609060101010101" charset="-122"/>
                  <a:cs typeface="Cambria Math" panose="02040503050406030204" charset="0"/>
                </a:endParaRPr>
              </a:p>
              <a:p>
                <a:pPr algn="ctr"/>
                <a:r>
                  <a:rPr lang="zh-CN" altLang="en-US" sz="1000">
                    <a:latin typeface="黑体" panose="02010609060101010101" charset="-122"/>
                    <a:ea typeface="黑体" panose="02010609060101010101" charset="-122"/>
                    <a:cs typeface="Cambria Math" panose="02040503050406030204" charset="0"/>
                  </a:rPr>
                  <a:t>梯度下降</a:t>
                </a:r>
                <a:endParaRPr lang="zh-CN" altLang="en-US" sz="1000">
                  <a:latin typeface="黑体" panose="02010609060101010101" charset="-122"/>
                  <a:ea typeface="黑体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4715" y="2235835"/>
                <a:ext cx="1033145" cy="398780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/>
          <p:cNvCxnSpPr/>
          <p:nvPr/>
        </p:nvCxnSpPr>
        <p:spPr>
          <a:xfrm flipH="1">
            <a:off x="5713095" y="2367915"/>
            <a:ext cx="4559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5274945" y="2220595"/>
            <a:ext cx="547370" cy="285750"/>
            <a:chOff x="11020" y="7000"/>
            <a:chExt cx="862" cy="45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/>
                <p:cNvSpPr txBox="1"/>
                <p:nvPr/>
              </p:nvSpPr>
              <p:spPr>
                <a:xfrm>
                  <a:off x="11020" y="7023"/>
                  <a:ext cx="863" cy="3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e>
                      </m:d>
                    </m:oMath>
                  </a14:m>
                  <a:r>
                    <a:rPr lang="en-US" altLang="zh-CN" sz="1000" b="1">
                      <a:latin typeface="Times New Roman" panose="02020603050405020304" charset="0"/>
                      <a:cs typeface="Times New Roman" panose="02020603050405020304" charset="0"/>
                    </a:rPr>
                    <a:t> </a:t>
                  </a:r>
                  <a:endParaRPr lang="en-US" altLang="zh-CN" sz="10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>
            <p:sp>
              <p:nvSpPr>
                <p:cNvPr id="31" name="文本框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20" y="7023"/>
                  <a:ext cx="863" cy="389"/>
                </a:xfrm>
                <a:prstGeom prst="rect">
                  <a:avLst/>
                </a:prstGeom>
                <a:blipFill rotWithShape="1">
                  <a:blip r:embed="rId2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矩形 32"/>
            <p:cNvSpPr/>
            <p:nvPr/>
          </p:nvSpPr>
          <p:spPr>
            <a:xfrm>
              <a:off x="11180" y="7000"/>
              <a:ext cx="530" cy="45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6" name="圆角矩形 45"/>
          <p:cNvSpPr/>
          <p:nvPr/>
        </p:nvSpPr>
        <p:spPr>
          <a:xfrm>
            <a:off x="691515" y="3116580"/>
            <a:ext cx="7685405" cy="2816225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5535295" y="2506345"/>
            <a:ext cx="5080" cy="6096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5535295" y="2805430"/>
                <a:ext cx="548005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𝒁</m:t>
                        </m:r>
                      </m:e>
                      <m:sup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295" y="2805430"/>
                <a:ext cx="548005" cy="245110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接箭头连接符 48"/>
          <p:cNvCxnSpPr/>
          <p:nvPr/>
        </p:nvCxnSpPr>
        <p:spPr>
          <a:xfrm flipH="1">
            <a:off x="4832350" y="2758440"/>
            <a:ext cx="0" cy="3657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/>
              <p:cNvSpPr txBox="1"/>
              <p:nvPr/>
            </p:nvSpPr>
            <p:spPr>
              <a:xfrm>
                <a:off x="4502785" y="2252980"/>
                <a:ext cx="951230" cy="247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𝒁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  <m:sup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𝒌</m:t>
                        </m:r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𝑳</m:t>
                        </m:r>
                      </m:e>
                    </m:d>
                  </m:oMath>
                </a14:m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+… 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785" y="2252980"/>
                <a:ext cx="951230" cy="247015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本框 50"/>
          <p:cNvSpPr txBox="1"/>
          <p:nvPr/>
        </p:nvSpPr>
        <p:spPr>
          <a:xfrm>
            <a:off x="4328795" y="2396490"/>
            <a:ext cx="1125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缓存的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en-US" altLang="zh-CN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历史状态</a:t>
            </a:r>
            <a:r>
              <a:rPr lang="en-US" altLang="zh-CN" sz="10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	</a:t>
            </a:r>
            <a:endParaRPr lang="en-US" altLang="zh-CN" sz="10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 flipH="1">
            <a:off x="4046855" y="2396490"/>
            <a:ext cx="4559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4892040" y="2807335"/>
                <a:ext cx="466725" cy="2451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e>
                      </m:d>
                    </m:oMath>
                  </m:oMathPara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2807335"/>
                <a:ext cx="466725" cy="24511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本框 53"/>
          <p:cNvSpPr txBox="1"/>
          <p:nvPr/>
        </p:nvSpPr>
        <p:spPr>
          <a:xfrm>
            <a:off x="2254250" y="3233420"/>
            <a:ext cx="49422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阶段</a:t>
            </a:r>
            <a:r>
              <a:rPr lang="en-US" altLang="zh-CN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2: </a:t>
            </a:r>
            <a:r>
              <a:rPr lang="zh-CN" altLang="en-US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置信度调制的多跳图扩散</a:t>
            </a:r>
            <a:endParaRPr lang="zh-CN" altLang="en-US" sz="1200" b="1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pic>
        <p:nvPicPr>
          <p:cNvPr id="74" name="图片 73" descr="nn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891665" y="556895"/>
            <a:ext cx="2954020" cy="1625600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04870" y="2030730"/>
            <a:ext cx="495935" cy="603885"/>
          </a:xfrm>
          <a:prstGeom prst="rect">
            <a:avLst/>
          </a:prstGeom>
        </p:spPr>
      </p:pic>
      <p:sp>
        <p:nvSpPr>
          <p:cNvPr id="111" name="圆角矩形 110"/>
          <p:cNvSpPr/>
          <p:nvPr/>
        </p:nvSpPr>
        <p:spPr>
          <a:xfrm>
            <a:off x="1561465" y="4185285"/>
            <a:ext cx="1051560" cy="111125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本框 111"/>
              <p:cNvSpPr txBox="1"/>
              <p:nvPr/>
            </p:nvSpPr>
            <p:spPr>
              <a:xfrm>
                <a:off x="916305" y="4215130"/>
                <a:ext cx="548005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𝒁</m:t>
                        </m:r>
                      </m:e>
                      <m:sup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 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12" name="文本框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05" y="4215130"/>
                <a:ext cx="548005" cy="245110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本框 112"/>
              <p:cNvSpPr txBox="1"/>
              <p:nvPr/>
            </p:nvSpPr>
            <p:spPr>
              <a:xfrm>
                <a:off x="956945" y="4601210"/>
                <a:ext cx="466725" cy="24511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  <m:d>
                        <m:d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e>
                      </m:d>
                    </m:oMath>
                  </m:oMathPara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3" name="文本框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45" y="4601210"/>
                <a:ext cx="466725" cy="24511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直接箭头连接符 113"/>
          <p:cNvCxnSpPr/>
          <p:nvPr/>
        </p:nvCxnSpPr>
        <p:spPr>
          <a:xfrm>
            <a:off x="1361440" y="4338955"/>
            <a:ext cx="1803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>
            <a:off x="1381125" y="4723765"/>
            <a:ext cx="1803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6" name="文本框 115"/>
          <p:cNvSpPr txBox="1"/>
          <p:nvPr/>
        </p:nvSpPr>
        <p:spPr>
          <a:xfrm>
            <a:off x="1699895" y="4222750"/>
            <a:ext cx="7823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特征</a:t>
            </a:r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映射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117" name="直接箭头连接符 116"/>
          <p:cNvCxnSpPr/>
          <p:nvPr/>
        </p:nvCxnSpPr>
        <p:spPr>
          <a:xfrm flipV="1">
            <a:off x="2613025" y="4533900"/>
            <a:ext cx="4381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18" name="图片 117" descr="nn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82295" y="4082415"/>
            <a:ext cx="2729230" cy="15017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本框 118"/>
              <p:cNvSpPr txBox="1"/>
              <p:nvPr/>
            </p:nvSpPr>
            <p:spPr>
              <a:xfrm>
                <a:off x="2613025" y="4498340"/>
                <a:ext cx="466725" cy="2374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𝑯</m:t>
                          </m:r>
                        </m:e>
                        <m:sup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p>
                      </m:sSup>
                      <m:d>
                        <m:d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e>
                      </m:d>
                    </m:oMath>
                  </m:oMathPara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9" name="文本框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025" y="4498340"/>
                <a:ext cx="466725" cy="237490"/>
              </a:xfrm>
              <a:prstGeom prst="rect">
                <a:avLst/>
              </a:prstGeom>
              <a:blipFill rotWithShape="1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圆角矩形 119"/>
          <p:cNvSpPr/>
          <p:nvPr/>
        </p:nvSpPr>
        <p:spPr>
          <a:xfrm>
            <a:off x="3046730" y="3593465"/>
            <a:ext cx="4146550" cy="226568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3703955" y="3593465"/>
            <a:ext cx="28448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 b="1" i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T</a:t>
            </a:r>
            <a:r>
              <a:rPr lang="en-US" altLang="zh-CN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-</a:t>
            </a:r>
            <a:r>
              <a:rPr lang="zh-CN" altLang="en-US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步</a:t>
            </a:r>
            <a:r>
              <a:rPr lang="en-US" altLang="zh-CN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 </a:t>
            </a:r>
            <a:r>
              <a:rPr lang="zh-CN" altLang="en-US" sz="12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rPr>
              <a:t>反应扩散过程</a:t>
            </a:r>
            <a:endParaRPr lang="zh-CN" altLang="en-US" sz="1200" b="1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3197225" y="4752975"/>
            <a:ext cx="2974975" cy="9886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23" name="组合 122"/>
          <p:cNvGrpSpPr/>
          <p:nvPr/>
        </p:nvGrpSpPr>
        <p:grpSpPr>
          <a:xfrm>
            <a:off x="3077845" y="4746625"/>
            <a:ext cx="1007110" cy="1005840"/>
            <a:chOff x="14286" y="5966"/>
            <a:chExt cx="1586" cy="1584"/>
          </a:xfrm>
        </p:grpSpPr>
        <p:sp>
          <p:nvSpPr>
            <p:cNvPr id="89" name="椭圆 88"/>
            <p:cNvSpPr/>
            <p:nvPr/>
          </p:nvSpPr>
          <p:spPr>
            <a:xfrm>
              <a:off x="15361" y="7329"/>
              <a:ext cx="221" cy="22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C00000"/>
                </a:gs>
              </a:gsLst>
              <a:lin ang="54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14851" y="7108"/>
              <a:ext cx="221" cy="221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15651" y="6925"/>
              <a:ext cx="221" cy="22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0" name="直接箭头连接符 99"/>
            <p:cNvCxnSpPr>
              <a:stCxn id="92" idx="5"/>
              <a:endCxn id="89" idx="1"/>
            </p:cNvCxnSpPr>
            <p:nvPr/>
          </p:nvCxnSpPr>
          <p:spPr>
            <a:xfrm>
              <a:off x="15040" y="7297"/>
              <a:ext cx="353" cy="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>
              <a:endCxn id="89" idx="7"/>
            </p:cNvCxnSpPr>
            <p:nvPr/>
          </p:nvCxnSpPr>
          <p:spPr>
            <a:xfrm flipH="1">
              <a:off x="15550" y="7146"/>
              <a:ext cx="220" cy="2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14286" y="6518"/>
              <a:ext cx="135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比较</a:t>
              </a:r>
              <a:endPara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  <a:p>
              <a:pPr algn="ctr"/>
              <a:r>
                <a:rPr lang="zh-CN" altLang="en-US" sz="8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差异</a:t>
              </a:r>
              <a:endPara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15292" y="6370"/>
              <a:ext cx="221" cy="2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4782" y="6149"/>
              <a:ext cx="221" cy="221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15582" y="5966"/>
              <a:ext cx="221" cy="22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8" name="直接箭头连接符 107"/>
            <p:cNvCxnSpPr>
              <a:stCxn id="106" idx="5"/>
              <a:endCxn id="105" idx="1"/>
            </p:cNvCxnSpPr>
            <p:nvPr/>
          </p:nvCxnSpPr>
          <p:spPr>
            <a:xfrm>
              <a:off x="14971" y="6338"/>
              <a:ext cx="353" cy="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>
              <a:endCxn id="105" idx="7"/>
            </p:cNvCxnSpPr>
            <p:nvPr/>
          </p:nvCxnSpPr>
          <p:spPr>
            <a:xfrm flipH="1">
              <a:off x="15481" y="6187"/>
              <a:ext cx="220" cy="2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>
              <a:stCxn id="105" idx="4"/>
              <a:endCxn id="89" idx="0"/>
            </p:cNvCxnSpPr>
            <p:nvPr/>
          </p:nvCxnSpPr>
          <p:spPr>
            <a:xfrm>
              <a:off x="15403" y="6591"/>
              <a:ext cx="69" cy="73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5" name="文本框 124"/>
          <p:cNvSpPr txBox="1"/>
          <p:nvPr/>
        </p:nvSpPr>
        <p:spPr>
          <a:xfrm>
            <a:off x="4171315" y="4747895"/>
            <a:ext cx="20504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置信度调制的反应过程</a:t>
            </a:r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6" name="文本框 125"/>
              <p:cNvSpPr txBox="1"/>
              <p:nvPr/>
            </p:nvSpPr>
            <p:spPr>
              <a:xfrm>
                <a:off x="4135120" y="5143500"/>
                <a:ext cx="2166620" cy="279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p>
                      </m:sSubSup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26" name="文本框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120" y="5143500"/>
                <a:ext cx="2166620" cy="279400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文本框 126"/>
              <p:cNvSpPr txBox="1"/>
              <p:nvPr/>
            </p:nvSpPr>
            <p:spPr>
              <a:xfrm>
                <a:off x="3827145" y="5561330"/>
                <a:ext cx="25781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𝑢</m:t>
                      </m:r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27" name="文本框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145" y="5561330"/>
                <a:ext cx="257810" cy="24511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文本框 127"/>
              <p:cNvSpPr txBox="1"/>
              <p:nvPr/>
            </p:nvSpPr>
            <p:spPr>
              <a:xfrm>
                <a:off x="3900805" y="5173980"/>
                <a:ext cx="25781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28" name="文本框 1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805" y="5173980"/>
                <a:ext cx="257810" cy="245110"/>
              </a:xfrm>
              <a:prstGeom prst="rect">
                <a:avLst/>
              </a:prstGeom>
              <a:blipFill rotWithShape="1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圆角矩形 128"/>
          <p:cNvSpPr/>
          <p:nvPr/>
        </p:nvSpPr>
        <p:spPr>
          <a:xfrm>
            <a:off x="3195955" y="3876040"/>
            <a:ext cx="2974975" cy="8089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文本框 129"/>
          <p:cNvSpPr txBox="1"/>
          <p:nvPr/>
        </p:nvSpPr>
        <p:spPr>
          <a:xfrm>
            <a:off x="4100195" y="3869055"/>
            <a:ext cx="20415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置信度调制的扩散过程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141" name="组合 140"/>
          <p:cNvGrpSpPr/>
          <p:nvPr/>
        </p:nvGrpSpPr>
        <p:grpSpPr>
          <a:xfrm>
            <a:off x="3079750" y="3876040"/>
            <a:ext cx="1189990" cy="697230"/>
            <a:chOff x="13807" y="6447"/>
            <a:chExt cx="1874" cy="1098"/>
          </a:xfrm>
        </p:grpSpPr>
        <p:sp>
          <p:nvSpPr>
            <p:cNvPr id="131" name="椭圆 130"/>
            <p:cNvSpPr/>
            <p:nvPr/>
          </p:nvSpPr>
          <p:spPr>
            <a:xfrm>
              <a:off x="14623" y="7140"/>
              <a:ext cx="221" cy="2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/>
          </p:nvSpPr>
          <p:spPr>
            <a:xfrm>
              <a:off x="15044" y="6772"/>
              <a:ext cx="221" cy="2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33" name="直接箭头连接符 132"/>
            <p:cNvCxnSpPr/>
            <p:nvPr/>
          </p:nvCxnSpPr>
          <p:spPr>
            <a:xfrm flipH="1">
              <a:off x="14794" y="6899"/>
              <a:ext cx="220" cy="21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箭头连接符 133"/>
            <p:cNvCxnSpPr/>
            <p:nvPr/>
          </p:nvCxnSpPr>
          <p:spPr>
            <a:xfrm flipH="1">
              <a:off x="14918" y="6993"/>
              <a:ext cx="220" cy="21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5" name="椭圆 134"/>
            <p:cNvSpPr/>
            <p:nvPr/>
          </p:nvSpPr>
          <p:spPr>
            <a:xfrm>
              <a:off x="14238" y="6772"/>
              <a:ext cx="221" cy="221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36" name="直接箭头连接符 135"/>
            <p:cNvCxnSpPr/>
            <p:nvPr/>
          </p:nvCxnSpPr>
          <p:spPr>
            <a:xfrm flipH="1" flipV="1">
              <a:off x="14475" y="6913"/>
              <a:ext cx="228" cy="211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8" name="直接箭头连接符 137"/>
            <p:cNvCxnSpPr/>
            <p:nvPr/>
          </p:nvCxnSpPr>
          <p:spPr>
            <a:xfrm flipH="1" flipV="1">
              <a:off x="14363" y="7027"/>
              <a:ext cx="228" cy="211"/>
            </a:xfrm>
            <a:prstGeom prst="straightConnector1">
              <a:avLst/>
            </a:prstGeom>
            <a:ln w="6350">
              <a:solidFill>
                <a:schemeClr val="tx1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9" name="文本框 138"/>
            <p:cNvSpPr txBox="1"/>
            <p:nvPr/>
          </p:nvSpPr>
          <p:spPr>
            <a:xfrm>
              <a:off x="14703" y="7208"/>
              <a:ext cx="97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可靠</a:t>
              </a:r>
              <a:endPara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13807" y="6447"/>
              <a:ext cx="111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8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不可靠</a:t>
              </a:r>
              <a:endParaRPr lang="zh-CN" altLang="en-US" sz="8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文本框 141"/>
              <p:cNvSpPr txBox="1"/>
              <p:nvPr/>
            </p:nvSpPr>
            <p:spPr>
              <a:xfrm>
                <a:off x="4041140" y="4282440"/>
                <a:ext cx="2166620" cy="374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p>
                      </m:sSubSup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10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𝑣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𝑣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sub>
                                <m:sup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altLang="zh-CN" sz="10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𝑣</m:t>
                                  </m:r>
                                </m:sub>
                                <m:sup>
                                  <m:r>
                                    <a:rPr lang="en-US" altLang="zh-CN" sz="10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00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m:t> </m:t>
                          </m:r>
                        </m:e>
                      </m:nary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42" name="文本框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140" y="4282440"/>
                <a:ext cx="2166620" cy="374015"/>
              </a:xfrm>
              <a:prstGeom prst="rect">
                <a:avLst/>
              </a:prstGeom>
              <a:blipFill rotWithShape="1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本框 142"/>
              <p:cNvSpPr txBox="1"/>
              <p:nvPr/>
            </p:nvSpPr>
            <p:spPr>
              <a:xfrm>
                <a:off x="3449955" y="4396740"/>
                <a:ext cx="25781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𝑢</m:t>
                      </m:r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43" name="文本框 1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955" y="4396740"/>
                <a:ext cx="257810" cy="245110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本框 143"/>
              <p:cNvSpPr txBox="1"/>
              <p:nvPr/>
            </p:nvSpPr>
            <p:spPr>
              <a:xfrm>
                <a:off x="3762375" y="4070350"/>
                <a:ext cx="25781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𝑣</m:t>
                      </m:r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44" name="文本框 1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375" y="4070350"/>
                <a:ext cx="257810" cy="245110"/>
              </a:xfrm>
              <a:prstGeom prst="rect">
                <a:avLst/>
              </a:prstGeom>
              <a:blipFill rotWithShape="1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本框 144"/>
              <p:cNvSpPr txBox="1"/>
              <p:nvPr/>
            </p:nvSpPr>
            <p:spPr>
              <a:xfrm>
                <a:off x="6411595" y="4723765"/>
                <a:ext cx="317500" cy="3683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⨁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5" name="文本框 1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595" y="4723765"/>
                <a:ext cx="317500" cy="36830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接箭头连接符 145"/>
          <p:cNvCxnSpPr/>
          <p:nvPr/>
        </p:nvCxnSpPr>
        <p:spPr>
          <a:xfrm>
            <a:off x="6167120" y="4366260"/>
            <a:ext cx="43180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 flipV="1">
            <a:off x="6167120" y="5500370"/>
            <a:ext cx="43942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 flipV="1">
            <a:off x="6604635" y="4358005"/>
            <a:ext cx="0" cy="45720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 flipH="1" flipV="1">
            <a:off x="6606540" y="4987290"/>
            <a:ext cx="0" cy="51879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本框 151"/>
              <p:cNvSpPr txBox="1"/>
              <p:nvPr/>
            </p:nvSpPr>
            <p:spPr>
              <a:xfrm>
                <a:off x="6548755" y="4572635"/>
                <a:ext cx="30226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52" name="文本框 1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755" y="4572635"/>
                <a:ext cx="302260" cy="245110"/>
              </a:xfrm>
              <a:prstGeom prst="rect">
                <a:avLst/>
              </a:prstGeom>
              <a:blipFill rotWithShape="1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/>
              <p:cNvSpPr txBox="1"/>
              <p:nvPr/>
            </p:nvSpPr>
            <p:spPr>
              <a:xfrm>
                <a:off x="6549390" y="4987290"/>
                <a:ext cx="302260" cy="245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i="1">
                          <a:latin typeface="Cambria Math" panose="02040503050406030204" charset="0"/>
                          <a:cs typeface="Cambria Math" panose="02040503050406030204" charset="0"/>
                        </a:rPr>
                        <m:t>𝛽</m:t>
                      </m:r>
                    </m:oMath>
                  </m:oMathPara>
                </a14:m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53" name="文本框 1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390" y="4987290"/>
                <a:ext cx="302260" cy="245110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文本框 153"/>
              <p:cNvSpPr txBox="1"/>
              <p:nvPr/>
            </p:nvSpPr>
            <p:spPr>
              <a:xfrm>
                <a:off x="6177280" y="4769485"/>
                <a:ext cx="254000" cy="2457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𝑯</m:t>
                          </m:r>
                        </m:e>
                        <m:sup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4" name="文本框 1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280" y="4769485"/>
                <a:ext cx="254000" cy="245745"/>
              </a:xfrm>
              <a:prstGeom prst="rect">
                <a:avLst/>
              </a:prstGeom>
              <a:blipFill rotWithShape="1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5" name="直接箭头连接符 154"/>
          <p:cNvCxnSpPr/>
          <p:nvPr/>
        </p:nvCxnSpPr>
        <p:spPr>
          <a:xfrm flipH="1" flipV="1">
            <a:off x="6395720" y="4905375"/>
            <a:ext cx="15303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 flipH="1" flipV="1">
            <a:off x="6697980" y="4904740"/>
            <a:ext cx="15303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本框 156"/>
              <p:cNvSpPr txBox="1"/>
              <p:nvPr/>
            </p:nvSpPr>
            <p:spPr>
              <a:xfrm>
                <a:off x="6774815" y="4779010"/>
                <a:ext cx="254000" cy="24320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𝑯</m:t>
                          </m:r>
                        </m:e>
                        <m:sup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𝒕</m:t>
                          </m:r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10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altLang="zh-CN" sz="1000" b="1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7" name="文本框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815" y="4779010"/>
                <a:ext cx="254000" cy="243205"/>
              </a:xfrm>
              <a:prstGeom prst="rect">
                <a:avLst/>
              </a:prstGeom>
              <a:blipFill rotWithShape="1">
                <a:blip r:embed="rId37"/>
                <a:stretch>
                  <a:fillRect r="-38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8" name="图片 157" descr="回形循环箭头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77355" y="5092065"/>
            <a:ext cx="315595" cy="315595"/>
          </a:xfrm>
          <a:prstGeom prst="rect">
            <a:avLst/>
          </a:prstGeom>
        </p:spPr>
      </p:pic>
      <p:cxnSp>
        <p:nvCxnSpPr>
          <p:cNvPr id="159" name="直接箭头连接符 158"/>
          <p:cNvCxnSpPr/>
          <p:nvPr/>
        </p:nvCxnSpPr>
        <p:spPr>
          <a:xfrm flipH="1">
            <a:off x="7028815" y="4987290"/>
            <a:ext cx="45593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0" name="圆角矩形 159"/>
          <p:cNvSpPr/>
          <p:nvPr/>
        </p:nvSpPr>
        <p:spPr>
          <a:xfrm>
            <a:off x="7484745" y="4685030"/>
            <a:ext cx="855980" cy="70421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文本框 161"/>
          <p:cNvSpPr txBox="1"/>
          <p:nvPr/>
        </p:nvSpPr>
        <p:spPr>
          <a:xfrm>
            <a:off x="6529070" y="5382260"/>
            <a:ext cx="8286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传播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000" i="1">
                <a:latin typeface="Times New Roman" panose="02020603050405020304" charset="0"/>
                <a:cs typeface="Times New Roman" panose="02020603050405020304" charset="0"/>
              </a:rPr>
              <a:t>T</a:t>
            </a:r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步</a:t>
            </a:r>
            <a:endParaRPr lang="zh-CN" altLang="en-US" sz="100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7371715" y="4859655"/>
            <a:ext cx="1081405" cy="466725"/>
            <a:chOff x="14509" y="7201"/>
            <a:chExt cx="1703" cy="735"/>
          </a:xfrm>
        </p:grpSpPr>
        <p:sp>
          <p:nvSpPr>
            <p:cNvPr id="161" name="文本框 160"/>
            <p:cNvSpPr txBox="1"/>
            <p:nvPr/>
          </p:nvSpPr>
          <p:spPr>
            <a:xfrm>
              <a:off x="14509" y="7201"/>
              <a:ext cx="170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路由策略</a:t>
              </a:r>
              <a:endParaRPr lang="zh-CN" altLang="en-US" sz="10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3" name="文本框 162"/>
                <p:cNvSpPr txBox="1"/>
                <p:nvPr/>
              </p:nvSpPr>
              <p:spPr>
                <a:xfrm>
                  <a:off x="15031" y="7550"/>
                  <a:ext cx="660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𝝅</m:t>
                        </m:r>
                      </m:oMath>
                    </m:oMathPara>
                  </a14:m>
                  <a:endParaRPr lang="en-US" altLang="zh-CN" sz="10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mc:Choice>
          <mc:Fallback>
            <p:sp>
              <p:nvSpPr>
                <p:cNvPr id="163" name="文本框 1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31" y="7550"/>
                  <a:ext cx="660" cy="386"/>
                </a:xfrm>
                <a:prstGeom prst="rect">
                  <a:avLst/>
                </a:prstGeom>
                <a:blipFill rotWithShape="1">
                  <a:blip r:embed="rId3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1" name="文本框 100"/>
          <p:cNvSpPr txBox="1"/>
          <p:nvPr/>
        </p:nvSpPr>
        <p:spPr>
          <a:xfrm>
            <a:off x="4465955" y="4022090"/>
            <a:ext cx="12547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（发送端）</a:t>
            </a:r>
            <a:endParaRPr lang="zh-CN" altLang="en-US" sz="10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4540885" y="4902200"/>
            <a:ext cx="12547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（接收端）</a:t>
            </a:r>
            <a:endParaRPr lang="en-US" altLang="zh-CN" sz="10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6490190&quot;,&quot;origin&quot;:0,&quot;type&quot;:&quot;icons&quot;,&quot;user&quot;:&quot;245216284&quot;}"/>
</p:tagLst>
</file>

<file path=ppt/tags/tag2.xml><?xml version="1.0" encoding="utf-8"?>
<p:tagLst xmlns:p="http://schemas.openxmlformats.org/presentationml/2006/main">
  <p:tag name="KSO_DOCER_RESOURCE_TRACE_INFO" val="{&quot;id&quot;:&quot;6490190&quot;,&quot;origin&quot;:0,&quot;type&quot;:&quot;icons&quot;,&quot;user&quot;:&quot;245216284&quot;}"/>
</p:tagLst>
</file>

<file path=ppt/tags/tag3.xml><?xml version="1.0" encoding="utf-8"?>
<p:tagLst xmlns:p="http://schemas.openxmlformats.org/presentationml/2006/main">
  <p:tag name="resource_record_key" val="{&quot;10&quot;:[649019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707</Words>
  <Application>WPS 演示</Application>
  <PresentationFormat>宽屏</PresentationFormat>
  <Paragraphs>126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Times New Roman</vt:lpstr>
      <vt:lpstr>Cambria Math</vt:lpstr>
      <vt:lpstr>Calibri</vt:lpstr>
      <vt:lpstr>微软雅黑</vt:lpstr>
      <vt:lpstr>Arial Unicode MS</vt:lpstr>
      <vt:lpstr>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364</cp:revision>
  <dcterms:created xsi:type="dcterms:W3CDTF">2023-08-09T12:44:00Z</dcterms:created>
  <dcterms:modified xsi:type="dcterms:W3CDTF">2026-06-08T05:53:58Z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93CE1E2EDE00451EB23A720EDE32CF11_12</vt:lpwstr>
  </property>
</Properties>
</file>