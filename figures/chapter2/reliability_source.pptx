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7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8"/>
        <p:guide pos="37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5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17.png"/><Relationship Id="rId20" Type="http://schemas.openxmlformats.org/officeDocument/2006/relationships/image" Target="../media/image16.png"/><Relationship Id="rId2" Type="http://schemas.openxmlformats.org/officeDocument/2006/relationships/tags" Target="../tags/tag2.xml"/><Relationship Id="rId19" Type="http://schemas.openxmlformats.org/officeDocument/2006/relationships/image" Target="../media/image15.png"/><Relationship Id="rId18" Type="http://schemas.openxmlformats.org/officeDocument/2006/relationships/image" Target="../media/image14.png"/><Relationship Id="rId17" Type="http://schemas.openxmlformats.org/officeDocument/2006/relationships/image" Target="../media/image13.png"/><Relationship Id="rId16" Type="http://schemas.openxmlformats.org/officeDocument/2006/relationships/tags" Target="../tags/tag4.xml"/><Relationship Id="rId15" Type="http://schemas.openxmlformats.org/officeDocument/2006/relationships/image" Target="../media/image12.svg"/><Relationship Id="rId14" Type="http://schemas.openxmlformats.org/officeDocument/2006/relationships/image" Target="../media/image11.png"/><Relationship Id="rId13" Type="http://schemas.openxmlformats.org/officeDocument/2006/relationships/tags" Target="../tags/tag3.xml"/><Relationship Id="rId12" Type="http://schemas.openxmlformats.org/officeDocument/2006/relationships/image" Target="../media/image10.png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727710" y="3508375"/>
          <a:ext cx="4753130" cy="2202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3420"/>
                <a:gridCol w="694800"/>
                <a:gridCol w="694800"/>
                <a:gridCol w="1120775"/>
                <a:gridCol w="775335"/>
                <a:gridCol w="774000"/>
              </a:tblGrid>
              <a:tr h="35814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97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797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797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972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2"/>
            </p:custDataLst>
          </p:nvPr>
        </p:nvGraphicFramePr>
        <p:xfrm>
          <a:off x="763905" y="565150"/>
          <a:ext cx="4753130" cy="2202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3420"/>
                <a:gridCol w="694800"/>
                <a:gridCol w="694800"/>
                <a:gridCol w="1120775"/>
                <a:gridCol w="775335"/>
                <a:gridCol w="774000"/>
              </a:tblGrid>
              <a:tr h="35814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97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797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797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972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99135" y="180975"/>
            <a:ext cx="4034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遥测状态传输不及时（网络拥塞）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3200" y="565150"/>
            <a:ext cx="5549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时隙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22885" y="912495"/>
                <a:ext cx="57975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  <a:cs typeface="Times New Roman" panose="02020603050405020304" charset="0"/>
                  </a:rPr>
                  <a:t>源</a:t>
                </a:r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𝑗</m:t>
                    </m:r>
                  </m:oMath>
                </a14:m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85" y="912495"/>
                <a:ext cx="579755" cy="3067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-2540" y="1301115"/>
                <a:ext cx="84010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  <a:cs typeface="Times New Roman" panose="02020603050405020304" charset="0"/>
                  </a:rPr>
                  <a:t>中继</a:t>
                </a:r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40" y="1301115"/>
                <a:ext cx="840105" cy="3067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-2540" y="1716405"/>
                <a:ext cx="84010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  <a:cs typeface="Times New Roman" panose="02020603050405020304" charset="0"/>
                  </a:rPr>
                  <a:t>中继</a:t>
                </a:r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40" y="1716405"/>
                <a:ext cx="840105" cy="30670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9210" y="2242185"/>
                <a:ext cx="76898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  <a:cs typeface="Times New Roman" panose="02020603050405020304" charset="0"/>
                  </a:rPr>
                  <a:t>卫星</a:t>
                </a:r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" y="2242185"/>
                <a:ext cx="768985" cy="30670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972185" y="600075"/>
                <a:ext cx="29464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</m:oMath>
                </a14:m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185" y="600075"/>
                <a:ext cx="294640" cy="30670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541145" y="600075"/>
                <a:ext cx="71120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145" y="600075"/>
                <a:ext cx="711200" cy="30670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2223770" y="600075"/>
                <a:ext cx="71120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</m:oMath>
                </a14:m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770" y="600075"/>
                <a:ext cx="711200" cy="30670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3121025" y="559435"/>
            <a:ext cx="7156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……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3879850" y="600075"/>
                <a:ext cx="9785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𝑇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850" y="600075"/>
                <a:ext cx="978535" cy="30670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4683125" y="600075"/>
                <a:ext cx="94615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𝑇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</m:oMath>
                </a14:m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125" y="600075"/>
                <a:ext cx="946150" cy="30670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/>
          <p:cNvSpPr/>
          <p:nvPr/>
        </p:nvSpPr>
        <p:spPr>
          <a:xfrm>
            <a:off x="1541145" y="1348105"/>
            <a:ext cx="492760" cy="215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1366520" y="1347470"/>
                <a:ext cx="840105" cy="216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𝒋</m:t>
                          </m:r>
                        </m:sub>
                      </m:sSub>
                      <m:d>
                        <m:d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</m:e>
                      </m:d>
                    </m:oMath>
                  </m:oMathPara>
                </a14:m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520" y="1347470"/>
                <a:ext cx="840105" cy="21653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箭头连接符 26"/>
          <p:cNvCxnSpPr/>
          <p:nvPr/>
        </p:nvCxnSpPr>
        <p:spPr>
          <a:xfrm>
            <a:off x="1412240" y="1141095"/>
            <a:ext cx="288925" cy="154305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2033905" y="1755140"/>
            <a:ext cx="840105" cy="216535"/>
            <a:chOff x="3503" y="7152"/>
            <a:chExt cx="1323" cy="341"/>
          </a:xfrm>
        </p:grpSpPr>
        <p:sp>
          <p:nvSpPr>
            <p:cNvPr id="29" name="矩形 28"/>
            <p:cNvSpPr/>
            <p:nvPr/>
          </p:nvSpPr>
          <p:spPr>
            <a:xfrm>
              <a:off x="3778" y="7153"/>
              <a:ext cx="776" cy="3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3503" y="7152"/>
                  <a:ext cx="1323" cy="3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𝒌</m:t>
                            </m:r>
                          </m:e>
                        </m:d>
                      </m:oMath>
                    </m:oMathPara>
                  </a14:m>
                  <a:endParaRPr lang="en-US" altLang="zh-CN" sz="8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3" y="7152"/>
                  <a:ext cx="1323" cy="341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直接箭头连接符 30"/>
          <p:cNvCxnSpPr/>
          <p:nvPr/>
        </p:nvCxnSpPr>
        <p:spPr>
          <a:xfrm>
            <a:off x="2064385" y="1581150"/>
            <a:ext cx="288925" cy="154305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3129280" y="1908175"/>
            <a:ext cx="75565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3124835" y="2240280"/>
            <a:ext cx="75628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879850" y="1911350"/>
            <a:ext cx="0" cy="32258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727450" y="1911350"/>
            <a:ext cx="0" cy="32258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600450" y="1915795"/>
            <a:ext cx="0" cy="32258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3473450" y="1912620"/>
            <a:ext cx="0" cy="32258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3346450" y="1920875"/>
            <a:ext cx="0" cy="32258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3219450" y="1910715"/>
            <a:ext cx="0" cy="32258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2766695" y="1913255"/>
            <a:ext cx="398145" cy="171450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5" name="图片 54" descr="文件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34970" y="1755775"/>
            <a:ext cx="206375" cy="206375"/>
          </a:xfrm>
          <a:prstGeom prst="rect">
            <a:avLst/>
          </a:prstGeom>
        </p:spPr>
      </p:pic>
      <p:sp>
        <p:nvSpPr>
          <p:cNvPr id="57" name="文本框 56"/>
          <p:cNvSpPr txBox="1"/>
          <p:nvPr/>
        </p:nvSpPr>
        <p:spPr>
          <a:xfrm>
            <a:off x="2766695" y="2219960"/>
            <a:ext cx="14738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节点拥塞</a:t>
            </a:r>
            <a:endParaRPr lang="zh-CN" altLang="en-US" sz="80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46125" y="3085465"/>
            <a:ext cx="4034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接收端解码失败（链路误码）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3121025" y="3517900"/>
            <a:ext cx="7156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……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21" name="直接箭头连接符 120"/>
          <p:cNvCxnSpPr/>
          <p:nvPr/>
        </p:nvCxnSpPr>
        <p:spPr>
          <a:xfrm>
            <a:off x="1412240" y="4099560"/>
            <a:ext cx="288925" cy="154305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/>
          <p:nvPr/>
        </p:nvCxnSpPr>
        <p:spPr>
          <a:xfrm>
            <a:off x="2064385" y="4539615"/>
            <a:ext cx="288925" cy="154305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0" name="直接箭头连接符 129"/>
          <p:cNvCxnSpPr/>
          <p:nvPr/>
        </p:nvCxnSpPr>
        <p:spPr>
          <a:xfrm>
            <a:off x="3727450" y="5302885"/>
            <a:ext cx="314960" cy="0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/>
          <p:nvPr/>
        </p:nvCxnSpPr>
        <p:spPr>
          <a:xfrm>
            <a:off x="2766695" y="4871720"/>
            <a:ext cx="398145" cy="171450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1" name="图片 140" descr="文件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/>
          <a:stretch>
            <a:fillRect/>
          </a:stretch>
        </p:blipFill>
        <p:spPr>
          <a:xfrm>
            <a:off x="2934970" y="4788535"/>
            <a:ext cx="132080" cy="132080"/>
          </a:xfrm>
          <a:prstGeom prst="rect">
            <a:avLst/>
          </a:prstGeom>
        </p:spPr>
      </p:pic>
      <p:sp>
        <p:nvSpPr>
          <p:cNvPr id="143" name="文本框 142"/>
          <p:cNvSpPr txBox="1"/>
          <p:nvPr/>
        </p:nvSpPr>
        <p:spPr>
          <a:xfrm>
            <a:off x="3093720" y="4981575"/>
            <a:ext cx="5759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……</a:t>
            </a:r>
            <a:endParaRPr lang="en-US" altLang="zh-CN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2644775" y="5176520"/>
            <a:ext cx="1473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链路误码</a:t>
            </a:r>
            <a:endParaRPr lang="zh-CN" altLang="en-US" sz="80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80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积累</a:t>
            </a:r>
            <a:endParaRPr lang="zh-CN" altLang="en-US" sz="80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3592830" y="5691505"/>
            <a:ext cx="14738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解调失败</a:t>
            </a:r>
            <a:r>
              <a:rPr lang="en-US" altLang="zh-CN" sz="120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12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9" name="直接连接符 148"/>
          <p:cNvCxnSpPr/>
          <p:nvPr/>
        </p:nvCxnSpPr>
        <p:spPr>
          <a:xfrm flipV="1">
            <a:off x="5981065" y="4283075"/>
            <a:ext cx="55206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0" name="圆角矩形 149"/>
          <p:cNvSpPr/>
          <p:nvPr/>
        </p:nvSpPr>
        <p:spPr>
          <a:xfrm>
            <a:off x="5958205" y="4396740"/>
            <a:ext cx="1920875" cy="1454785"/>
          </a:xfrm>
          <a:prstGeom prst="roundRect">
            <a:avLst/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1" name="文本框 150"/>
          <p:cNvSpPr txBox="1"/>
          <p:nvPr/>
        </p:nvSpPr>
        <p:spPr>
          <a:xfrm>
            <a:off x="5817235" y="4396740"/>
            <a:ext cx="212153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accent4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本地感知</a:t>
            </a:r>
            <a:endParaRPr lang="zh-CN" altLang="en-US">
              <a:solidFill>
                <a:schemeClr val="accent4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endParaRPr lang="en-US" altLang="zh-CN">
              <a:solidFill>
                <a:schemeClr val="accent4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400">
                <a:solidFill>
                  <a:schemeClr val="accent4"/>
                </a:solidFill>
                <a:latin typeface="Times New Roman" panose="02020603050405020304" charset="0"/>
                <a:cs typeface="Times New Roman" panose="02020603050405020304" charset="0"/>
              </a:rPr>
              <a:t>观测信息</a:t>
            </a:r>
            <a:r>
              <a:rPr lang="en-US" altLang="zh-CN" sz="1400">
                <a:solidFill>
                  <a:schemeClr val="accent4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endParaRPr lang="en-US" altLang="zh-CN" sz="1400">
              <a:solidFill>
                <a:schemeClr val="accent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zh-CN" altLang="en-US" sz="1400">
                <a:solidFill>
                  <a:schemeClr val="accent4"/>
                </a:solidFill>
                <a:latin typeface="Times New Roman" panose="02020603050405020304" charset="0"/>
                <a:cs typeface="Times New Roman" panose="02020603050405020304" charset="0"/>
              </a:rPr>
              <a:t>时间戳</a:t>
            </a:r>
            <a:endParaRPr lang="en-US" altLang="zh-CN" sz="1400">
              <a:solidFill>
                <a:schemeClr val="accent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zh-CN" altLang="en-US" sz="1400">
                <a:solidFill>
                  <a:schemeClr val="accent4"/>
                </a:solidFill>
                <a:latin typeface="Times New Roman" panose="02020603050405020304" charset="0"/>
                <a:cs typeface="Times New Roman" panose="02020603050405020304" charset="0"/>
              </a:rPr>
              <a:t>解码质量</a:t>
            </a:r>
            <a:r>
              <a:rPr lang="en-US" altLang="zh-CN" sz="1400">
                <a:solidFill>
                  <a:schemeClr val="accent4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endParaRPr lang="en-US" altLang="zh-CN" sz="1400">
              <a:solidFill>
                <a:schemeClr val="accent4"/>
              </a:solidFill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8150225" y="4350385"/>
            <a:ext cx="1920875" cy="659130"/>
          </a:xfrm>
          <a:prstGeom prst="roundRect">
            <a:avLst/>
          </a:prstGeom>
          <a:noFill/>
          <a:ln w="15875"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3" name="直接箭头连接符 152"/>
          <p:cNvCxnSpPr>
            <a:endCxn id="152" idx="1"/>
          </p:cNvCxnSpPr>
          <p:nvPr/>
        </p:nvCxnSpPr>
        <p:spPr>
          <a:xfrm flipV="1">
            <a:off x="7645400" y="4679950"/>
            <a:ext cx="504825" cy="3333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4" name="圆角矩形 153"/>
          <p:cNvSpPr/>
          <p:nvPr/>
        </p:nvSpPr>
        <p:spPr>
          <a:xfrm>
            <a:off x="8150225" y="5192395"/>
            <a:ext cx="1920875" cy="659130"/>
          </a:xfrm>
          <a:prstGeom prst="roundRect">
            <a:avLst/>
          </a:prstGeom>
          <a:noFill/>
          <a:ln w="15875"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5" name="直接箭头连接符 154"/>
          <p:cNvCxnSpPr/>
          <p:nvPr/>
        </p:nvCxnSpPr>
        <p:spPr>
          <a:xfrm>
            <a:off x="7637145" y="5198110"/>
            <a:ext cx="454025" cy="2698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6" name="文本框 155"/>
          <p:cNvSpPr txBox="1"/>
          <p:nvPr/>
        </p:nvSpPr>
        <p:spPr>
          <a:xfrm>
            <a:off x="8091170" y="4493895"/>
            <a:ext cx="2121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rgbClr val="7030A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基于</a:t>
            </a:r>
            <a:r>
              <a:rPr lang="en-US" altLang="zh-CN" sz="1600">
                <a:solidFill>
                  <a:srgbClr val="7030A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AoI</a:t>
            </a:r>
            <a:r>
              <a:rPr lang="zh-CN" altLang="en-US" sz="1600">
                <a:solidFill>
                  <a:srgbClr val="7030A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的新鲜度</a:t>
            </a:r>
            <a:endParaRPr lang="zh-CN" altLang="en-US" sz="1600">
              <a:solidFill>
                <a:srgbClr val="7030A0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8049895" y="5296535"/>
            <a:ext cx="2121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观测信息是否缺失</a:t>
            </a:r>
            <a:endParaRPr lang="zh-CN" altLang="en-US" sz="160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10185400" y="4378325"/>
            <a:ext cx="1475740" cy="1454785"/>
          </a:xfrm>
          <a:prstGeom prst="roundRect">
            <a:avLst/>
          </a:prstGeom>
          <a:noFill/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1" name="文本框 160"/>
          <p:cNvSpPr txBox="1"/>
          <p:nvPr/>
        </p:nvSpPr>
        <p:spPr>
          <a:xfrm>
            <a:off x="10196195" y="4804410"/>
            <a:ext cx="14649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观测信息的</a:t>
            </a:r>
            <a:endParaRPr lang="zh-CN" altLang="en-US" sz="1600">
              <a:solidFill>
                <a:schemeClr val="accent1">
                  <a:lumMod val="60000"/>
                  <a:lumOff val="40000"/>
                </a:schemeClr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600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置信度</a:t>
            </a:r>
            <a:endParaRPr lang="zh-CN" altLang="en-US" sz="1600">
              <a:solidFill>
                <a:schemeClr val="accent1">
                  <a:lumMod val="60000"/>
                  <a:lumOff val="40000"/>
                </a:schemeClr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51535" y="1002665"/>
            <a:ext cx="523240" cy="216535"/>
            <a:chOff x="239" y="197"/>
            <a:chExt cx="824" cy="34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239" y="197"/>
                  <a:ext cx="785" cy="3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𝒌</m:t>
                            </m:r>
                          </m:e>
                        </m:d>
                      </m:oMath>
                    </m:oMathPara>
                  </a14:m>
                  <a:endParaRPr lang="en-US" altLang="zh-CN" sz="8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" y="197"/>
                  <a:ext cx="785" cy="341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287" y="198"/>
              <a:ext cx="776" cy="3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3819525" y="5052695"/>
            <a:ext cx="1012190" cy="233045"/>
            <a:chOff x="10907" y="9823"/>
            <a:chExt cx="1594" cy="367"/>
          </a:xfrm>
        </p:grpSpPr>
        <p:grpSp>
          <p:nvGrpSpPr>
            <p:cNvPr id="59" name="组合 58"/>
            <p:cNvGrpSpPr/>
            <p:nvPr/>
          </p:nvGrpSpPr>
          <p:grpSpPr>
            <a:xfrm rot="0">
              <a:off x="11179" y="9848"/>
              <a:ext cx="1323" cy="342"/>
              <a:chOff x="7634" y="4516"/>
              <a:chExt cx="1323" cy="342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7903" y="4516"/>
                <a:ext cx="776" cy="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" name="文本框 46"/>
                  <p:cNvSpPr txBox="1"/>
                  <p:nvPr/>
                </p:nvSpPr>
                <p:spPr>
                  <a:xfrm>
                    <a:off x="7634" y="4517"/>
                    <a:ext cx="1323" cy="3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e>
                          </m:d>
                        </m:oMath>
                      </m:oMathPara>
                    </a14:m>
                    <a:endParaRPr lang="en-US" altLang="zh-CN" sz="800" b="1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47" name="文本框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4" y="4517"/>
                    <a:ext cx="1323" cy="341"/>
                  </a:xfrm>
                  <a:prstGeom prst="rect">
                    <a:avLst/>
                  </a:prstGeom>
                  <a:blipFill rotWithShape="1">
                    <a:blip r:embed="rId1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3" name="文本框 62"/>
            <p:cNvSpPr txBox="1"/>
            <p:nvPr/>
          </p:nvSpPr>
          <p:spPr>
            <a:xfrm>
              <a:off x="10907" y="9823"/>
              <a:ext cx="713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8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……</a:t>
              </a:r>
              <a:endParaRPr lang="en-US" altLang="zh-CN" sz="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4104005" y="5203190"/>
            <a:ext cx="343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+</a:t>
            </a:r>
            <a:endParaRPr lang="en-US" altLang="zh-CN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/>
              <p:cNvSpPr txBox="1"/>
              <p:nvPr/>
            </p:nvSpPr>
            <p:spPr>
              <a:xfrm>
                <a:off x="593725" y="2720340"/>
                <a:ext cx="1027430" cy="467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>
                    <a:solidFill>
                      <a:schemeClr val="accent1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charset="0"/>
                  </a:rPr>
                  <a:t>源</a:t>
                </a:r>
                <a:r>
                  <a:rPr lang="en-US" altLang="zh-CN" sz="1200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solidFill>
                          <a:schemeClr val="accent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𝑗</m:t>
                    </m:r>
                    <m:r>
                      <a:rPr lang="en-US" altLang="zh-CN" sz="1200" i="1">
                        <a:solidFill>
                          <a:schemeClr val="accent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zh-CN" altLang="en-US" sz="1200" i="1">
                        <a:solidFill>
                          <a:schemeClr val="accent1"/>
                        </a:solidFill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产生</m:t>
                    </m:r>
                  </m:oMath>
                </a14:m>
                <a:endParaRPr lang="zh-CN" altLang="en-US" sz="1200" i="1">
                  <a:solidFill>
                    <a:schemeClr val="accent1"/>
                  </a:solidFill>
                  <a:latin typeface="黑体" panose="02010609060101010101" charset="-122"/>
                  <a:ea typeface="黑体" panose="02010609060101010101" charset="-122"/>
                  <a:cs typeface="Cambria Math" panose="02040503050406030204" charset="0"/>
                </a:endParaRPr>
              </a:p>
              <a:p>
                <a:pPr algn="ctr"/>
                <a:r>
                  <a:rPr lang="zh-CN" altLang="en-US" sz="1200">
                    <a:solidFill>
                      <a:schemeClr val="accent1"/>
                    </a:solidFill>
                    <a:latin typeface="黑体" panose="02010609060101010101" charset="-122"/>
                    <a:ea typeface="黑体" panose="02010609060101010101" charset="-122"/>
                    <a:cs typeface="Cambria Math" panose="02040503050406030204" charset="0"/>
                  </a:rPr>
                  <a:t>遥测数据包</a:t>
                </a:r>
                <a:endParaRPr lang="zh-CN" altLang="en-US" sz="1200">
                  <a:solidFill>
                    <a:schemeClr val="accent1"/>
                  </a:solidFill>
                  <a:latin typeface="黑体" panose="02010609060101010101" charset="-122"/>
                  <a:ea typeface="黑体" panose="0201060906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25" y="2720340"/>
                <a:ext cx="1027430" cy="467995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文本框 66"/>
          <p:cNvSpPr txBox="1"/>
          <p:nvPr/>
        </p:nvSpPr>
        <p:spPr>
          <a:xfrm>
            <a:off x="1478915" y="2730500"/>
            <a:ext cx="14738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卫</a:t>
            </a:r>
            <a:r>
              <a:rPr lang="zh-CN" altLang="en-US" sz="120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星中继传输</a:t>
            </a:r>
            <a:endParaRPr lang="zh-CN" altLang="en-US" sz="120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705985" y="2715895"/>
            <a:ext cx="8502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遥测</a:t>
            </a:r>
            <a:endParaRPr lang="zh-CN" altLang="en-US" sz="120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20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延迟接收</a:t>
            </a:r>
            <a:endParaRPr lang="zh-CN" altLang="en-US" sz="120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941445" y="5414645"/>
            <a:ext cx="742315" cy="28384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缺失</a:t>
            </a:r>
            <a:endParaRPr lang="zh-CN" altLang="en-US" sz="80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4598670" y="5040630"/>
            <a:ext cx="1012190" cy="233045"/>
            <a:chOff x="10907" y="9823"/>
            <a:chExt cx="1594" cy="367"/>
          </a:xfrm>
        </p:grpSpPr>
        <p:grpSp>
          <p:nvGrpSpPr>
            <p:cNvPr id="71" name="组合 70"/>
            <p:cNvGrpSpPr/>
            <p:nvPr/>
          </p:nvGrpSpPr>
          <p:grpSpPr>
            <a:xfrm rot="0">
              <a:off x="11179" y="9848"/>
              <a:ext cx="1323" cy="342"/>
              <a:chOff x="7634" y="4516"/>
              <a:chExt cx="1323" cy="342"/>
            </a:xfrm>
          </p:grpSpPr>
          <p:sp>
            <p:nvSpPr>
              <p:cNvPr id="72" name="矩形 71"/>
              <p:cNvSpPr/>
              <p:nvPr/>
            </p:nvSpPr>
            <p:spPr>
              <a:xfrm>
                <a:off x="7903" y="4516"/>
                <a:ext cx="776" cy="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3" name="文本框 72"/>
                  <p:cNvSpPr txBox="1"/>
                  <p:nvPr/>
                </p:nvSpPr>
                <p:spPr>
                  <a:xfrm>
                    <a:off x="7634" y="4517"/>
                    <a:ext cx="1323" cy="3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e>
                          </m:d>
                        </m:oMath>
                      </m:oMathPara>
                    </a14:m>
                    <a:endParaRPr lang="en-US" altLang="zh-CN" sz="800" b="1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73" name="文本框 7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4" y="4517"/>
                    <a:ext cx="1323" cy="341"/>
                  </a:xfrm>
                  <a:prstGeom prst="rect">
                    <a:avLst/>
                  </a:prstGeom>
                  <a:blipFill rotWithShape="1">
                    <a:blip r:embed="rId1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4" name="文本框 73"/>
            <p:cNvSpPr txBox="1"/>
            <p:nvPr/>
          </p:nvSpPr>
          <p:spPr>
            <a:xfrm>
              <a:off x="10907" y="9823"/>
              <a:ext cx="713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8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……</a:t>
              </a:r>
              <a:endParaRPr lang="en-US" altLang="zh-CN" sz="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3942715" y="2715895"/>
            <a:ext cx="8502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路由</a:t>
            </a:r>
            <a:endParaRPr lang="zh-CN" altLang="en-US" sz="120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20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决策</a:t>
            </a:r>
            <a:endParaRPr lang="zh-CN" altLang="en-US" sz="120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953135" y="3539490"/>
                <a:ext cx="29464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</m:oMath>
                </a14:m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35" y="3539490"/>
                <a:ext cx="294640" cy="30670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/>
          <p:cNvGrpSpPr/>
          <p:nvPr/>
        </p:nvGrpSpPr>
        <p:grpSpPr>
          <a:xfrm>
            <a:off x="780415" y="3936365"/>
            <a:ext cx="523240" cy="216535"/>
            <a:chOff x="239" y="197"/>
            <a:chExt cx="824" cy="34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239" y="197"/>
                  <a:ext cx="785" cy="3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𝒌</m:t>
                            </m:r>
                          </m:e>
                        </m:d>
                      </m:oMath>
                    </m:oMathPara>
                  </a14:m>
                  <a:endParaRPr lang="en-US" altLang="zh-CN" sz="8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" y="197"/>
                  <a:ext cx="785" cy="341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287" y="198"/>
              <a:ext cx="776" cy="3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611630" y="4277360"/>
            <a:ext cx="523240" cy="216535"/>
            <a:chOff x="239" y="197"/>
            <a:chExt cx="824" cy="34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239" y="197"/>
                  <a:ext cx="785" cy="3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𝒌</m:t>
                            </m:r>
                          </m:e>
                        </m:d>
                      </m:oMath>
                    </m:oMathPara>
                  </a14:m>
                  <a:endParaRPr lang="en-US" altLang="zh-CN" sz="8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" y="197"/>
                  <a:ext cx="785" cy="341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矩形 33"/>
            <p:cNvSpPr/>
            <p:nvPr/>
          </p:nvSpPr>
          <p:spPr>
            <a:xfrm>
              <a:off x="287" y="198"/>
              <a:ext cx="776" cy="3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245995" y="4716780"/>
            <a:ext cx="523240" cy="227330"/>
            <a:chOff x="239" y="197"/>
            <a:chExt cx="824" cy="35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本框 37"/>
                <p:cNvSpPr txBox="1"/>
                <p:nvPr/>
              </p:nvSpPr>
              <p:spPr>
                <a:xfrm>
                  <a:off x="239" y="197"/>
                  <a:ext cx="785" cy="3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𝒌</m:t>
                            </m:r>
                          </m:e>
                        </m:d>
                      </m:oMath>
                    </m:oMathPara>
                  </a14:m>
                  <a:endParaRPr lang="en-US" altLang="zh-CN" sz="8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>
            <p:sp>
              <p:nvSpPr>
                <p:cNvPr id="38" name="文本框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" y="197"/>
                  <a:ext cx="785" cy="341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矩形 47"/>
            <p:cNvSpPr/>
            <p:nvPr/>
          </p:nvSpPr>
          <p:spPr>
            <a:xfrm>
              <a:off x="287" y="215"/>
              <a:ext cx="776" cy="3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3890645" y="2094865"/>
            <a:ext cx="1012190" cy="233045"/>
            <a:chOff x="10907" y="9823"/>
            <a:chExt cx="1594" cy="367"/>
          </a:xfrm>
        </p:grpSpPr>
        <p:grpSp>
          <p:nvGrpSpPr>
            <p:cNvPr id="137" name="组合 136"/>
            <p:cNvGrpSpPr/>
            <p:nvPr/>
          </p:nvGrpSpPr>
          <p:grpSpPr>
            <a:xfrm rot="0">
              <a:off x="11179" y="9848"/>
              <a:ext cx="1323" cy="342"/>
              <a:chOff x="7634" y="4516"/>
              <a:chExt cx="1323" cy="342"/>
            </a:xfrm>
          </p:grpSpPr>
          <p:sp>
            <p:nvSpPr>
              <p:cNvPr id="138" name="矩形 137"/>
              <p:cNvSpPr/>
              <p:nvPr/>
            </p:nvSpPr>
            <p:spPr>
              <a:xfrm>
                <a:off x="7903" y="4516"/>
                <a:ext cx="776" cy="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9" name="文本框 138"/>
                  <p:cNvSpPr txBox="1"/>
                  <p:nvPr/>
                </p:nvSpPr>
                <p:spPr>
                  <a:xfrm>
                    <a:off x="7634" y="4517"/>
                    <a:ext cx="1323" cy="3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e>
                          </m:d>
                        </m:oMath>
                      </m:oMathPara>
                    </a14:m>
                    <a:endParaRPr lang="en-US" altLang="zh-CN" sz="800" b="1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139" name="文本框 1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4" y="4517"/>
                    <a:ext cx="1323" cy="341"/>
                  </a:xfrm>
                  <a:prstGeom prst="rect">
                    <a:avLst/>
                  </a:prstGeom>
                  <a:blipFill rotWithShape="1">
                    <a:blip r:embed="rId1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2" name="文本框 141"/>
            <p:cNvSpPr txBox="1"/>
            <p:nvPr/>
          </p:nvSpPr>
          <p:spPr>
            <a:xfrm>
              <a:off x="10907" y="9823"/>
              <a:ext cx="713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8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……</a:t>
              </a:r>
              <a:endParaRPr lang="en-US" altLang="zh-CN" sz="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63" name="文本框 162"/>
          <p:cNvSpPr txBox="1"/>
          <p:nvPr/>
        </p:nvSpPr>
        <p:spPr>
          <a:xfrm>
            <a:off x="4175125" y="2245360"/>
            <a:ext cx="343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+</a:t>
            </a:r>
            <a:endParaRPr lang="en-US" altLang="zh-CN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4012565" y="2456815"/>
            <a:ext cx="702945" cy="28384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缺失</a:t>
            </a:r>
            <a:endParaRPr lang="zh-CN" altLang="en-US" sz="80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165" name="组合 164"/>
          <p:cNvGrpSpPr/>
          <p:nvPr/>
        </p:nvGrpSpPr>
        <p:grpSpPr>
          <a:xfrm>
            <a:off x="4669790" y="2082800"/>
            <a:ext cx="1012190" cy="233045"/>
            <a:chOff x="10907" y="9823"/>
            <a:chExt cx="1594" cy="367"/>
          </a:xfrm>
        </p:grpSpPr>
        <p:grpSp>
          <p:nvGrpSpPr>
            <p:cNvPr id="166" name="组合 165"/>
            <p:cNvGrpSpPr/>
            <p:nvPr/>
          </p:nvGrpSpPr>
          <p:grpSpPr>
            <a:xfrm rot="0">
              <a:off x="11179" y="9848"/>
              <a:ext cx="1323" cy="342"/>
              <a:chOff x="7634" y="4516"/>
              <a:chExt cx="1323" cy="342"/>
            </a:xfrm>
          </p:grpSpPr>
          <p:sp>
            <p:nvSpPr>
              <p:cNvPr id="167" name="矩形 166"/>
              <p:cNvSpPr/>
              <p:nvPr/>
            </p:nvSpPr>
            <p:spPr>
              <a:xfrm>
                <a:off x="7903" y="4516"/>
                <a:ext cx="776" cy="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8" name="文本框 167"/>
                  <p:cNvSpPr txBox="1"/>
                  <p:nvPr/>
                </p:nvSpPr>
                <p:spPr>
                  <a:xfrm>
                    <a:off x="7634" y="4517"/>
                    <a:ext cx="1323" cy="3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8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e>
                          </m:d>
                        </m:oMath>
                      </m:oMathPara>
                    </a14:m>
                    <a:endParaRPr lang="en-US" altLang="zh-CN" sz="800" b="1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168" name="文本框 1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4" y="4517"/>
                    <a:ext cx="1323" cy="341"/>
                  </a:xfrm>
                  <a:prstGeom prst="rect">
                    <a:avLst/>
                  </a:prstGeom>
                  <a:blipFill rotWithShape="1">
                    <a:blip r:embed="rId1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9" name="文本框 168"/>
            <p:cNvSpPr txBox="1"/>
            <p:nvPr/>
          </p:nvSpPr>
          <p:spPr>
            <a:xfrm>
              <a:off x="10907" y="9823"/>
              <a:ext cx="713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8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……</a:t>
              </a:r>
              <a:endParaRPr lang="en-US" altLang="zh-CN" sz="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70" name="文本框 169"/>
          <p:cNvSpPr txBox="1"/>
          <p:nvPr/>
        </p:nvSpPr>
        <p:spPr>
          <a:xfrm>
            <a:off x="4965700" y="2243455"/>
            <a:ext cx="343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+</a:t>
            </a:r>
            <a:endParaRPr lang="en-US" altLang="zh-CN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71" name="组合 170"/>
          <p:cNvGrpSpPr/>
          <p:nvPr/>
        </p:nvGrpSpPr>
        <p:grpSpPr>
          <a:xfrm>
            <a:off x="4715510" y="2494280"/>
            <a:ext cx="840105" cy="216535"/>
            <a:chOff x="3503" y="7152"/>
            <a:chExt cx="1323" cy="341"/>
          </a:xfrm>
        </p:grpSpPr>
        <p:sp>
          <p:nvSpPr>
            <p:cNvPr id="172" name="矩形 171"/>
            <p:cNvSpPr/>
            <p:nvPr/>
          </p:nvSpPr>
          <p:spPr>
            <a:xfrm>
              <a:off x="3778" y="7153"/>
              <a:ext cx="776" cy="3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3" name="文本框 172"/>
                <p:cNvSpPr txBox="1"/>
                <p:nvPr/>
              </p:nvSpPr>
              <p:spPr>
                <a:xfrm>
                  <a:off x="3503" y="7152"/>
                  <a:ext cx="1323" cy="3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8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𝒌</m:t>
                            </m:r>
                          </m:e>
                        </m:d>
                      </m:oMath>
                    </m:oMathPara>
                  </a14:m>
                  <a:endParaRPr lang="en-US" altLang="zh-CN" sz="8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>
            <p:sp>
              <p:nvSpPr>
                <p:cNvPr id="173" name="文本框 1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3" y="7152"/>
                  <a:ext cx="1323" cy="341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文本框 173"/>
              <p:cNvSpPr txBox="1"/>
              <p:nvPr/>
            </p:nvSpPr>
            <p:spPr>
              <a:xfrm>
                <a:off x="4598670" y="5396865"/>
                <a:ext cx="1058545" cy="241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800">
                    <a:solidFill>
                      <a:srgbClr val="C00000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charset="0"/>
                  </a:rPr>
                  <a:t>等待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9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9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altLang="zh-CN" sz="9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9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sz="9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9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e>
                    </m:d>
                  </m:oMath>
                </a14:m>
                <a:endParaRPr lang="en-US" altLang="zh-CN" sz="900">
                  <a:solidFill>
                    <a:srgbClr val="C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74" name="文本框 1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670" y="5396865"/>
                <a:ext cx="1058545" cy="241300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接箭头连接符 31"/>
          <p:cNvCxnSpPr/>
          <p:nvPr/>
        </p:nvCxnSpPr>
        <p:spPr>
          <a:xfrm>
            <a:off x="10071100" y="4716780"/>
            <a:ext cx="172085" cy="3321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V="1">
            <a:off x="10071100" y="5292090"/>
            <a:ext cx="193675" cy="18669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189865" y="3551555"/>
            <a:ext cx="5549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时隙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/>
              <p:cNvSpPr txBox="1"/>
              <p:nvPr/>
            </p:nvSpPr>
            <p:spPr>
              <a:xfrm>
                <a:off x="209550" y="3898900"/>
                <a:ext cx="57975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  <a:cs typeface="Times New Roman" panose="02020603050405020304" charset="0"/>
                  </a:rPr>
                  <a:t>源</a:t>
                </a:r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𝑗</m:t>
                    </m:r>
                  </m:oMath>
                </a14:m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" y="3898900"/>
                <a:ext cx="579755" cy="3067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15875" y="5228590"/>
                <a:ext cx="76898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  <a:cs typeface="Times New Roman" panose="02020603050405020304" charset="0"/>
                  </a:rPr>
                  <a:t>卫星</a:t>
                </a:r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5" y="5228590"/>
                <a:ext cx="768985" cy="30670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-31750" y="4327525"/>
                <a:ext cx="84010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  <a:cs typeface="Times New Roman" panose="02020603050405020304" charset="0"/>
                  </a:rPr>
                  <a:t>中继</a:t>
                </a:r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750" y="4327525"/>
                <a:ext cx="840105" cy="3067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/>
              <p:cNvSpPr txBox="1"/>
              <p:nvPr/>
            </p:nvSpPr>
            <p:spPr>
              <a:xfrm>
                <a:off x="-37465" y="4630420"/>
                <a:ext cx="84010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  <a:cs typeface="Times New Roman" panose="02020603050405020304" charset="0"/>
                  </a:rPr>
                  <a:t>中继</a:t>
                </a:r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465" y="4630420"/>
                <a:ext cx="840105" cy="30670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/>
              <p:cNvSpPr txBox="1"/>
              <p:nvPr/>
            </p:nvSpPr>
            <p:spPr>
              <a:xfrm>
                <a:off x="584200" y="5679440"/>
                <a:ext cx="1027430" cy="467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>
                    <a:solidFill>
                      <a:schemeClr val="accent1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charset="0"/>
                  </a:rPr>
                  <a:t>源</a:t>
                </a:r>
                <a:r>
                  <a:rPr lang="en-US" altLang="zh-CN" sz="1200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solidFill>
                          <a:schemeClr val="accent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𝑗</m:t>
                    </m:r>
                    <m:r>
                      <a:rPr lang="en-US" altLang="zh-CN" sz="1200" i="1">
                        <a:solidFill>
                          <a:schemeClr val="accent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zh-CN" altLang="en-US" sz="1200" i="1">
                        <a:solidFill>
                          <a:schemeClr val="accent1"/>
                        </a:solidFill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产生</m:t>
                    </m:r>
                  </m:oMath>
                </a14:m>
                <a:endParaRPr lang="zh-CN" altLang="en-US" sz="1200" i="1">
                  <a:solidFill>
                    <a:schemeClr val="accent1"/>
                  </a:solidFill>
                  <a:latin typeface="黑体" panose="02010609060101010101" charset="-122"/>
                  <a:ea typeface="黑体" panose="02010609060101010101" charset="-122"/>
                  <a:cs typeface="Cambria Math" panose="02040503050406030204" charset="0"/>
                </a:endParaRPr>
              </a:p>
              <a:p>
                <a:pPr algn="ctr"/>
                <a:r>
                  <a:rPr lang="zh-CN" altLang="en-US" sz="1200">
                    <a:solidFill>
                      <a:schemeClr val="accent1"/>
                    </a:solidFill>
                    <a:latin typeface="黑体" panose="02010609060101010101" charset="-122"/>
                    <a:ea typeface="黑体" panose="02010609060101010101" charset="-122"/>
                    <a:cs typeface="Cambria Math" panose="02040503050406030204" charset="0"/>
                  </a:rPr>
                  <a:t>遥测数据包</a:t>
                </a:r>
                <a:endParaRPr lang="zh-CN" altLang="en-US" sz="1200">
                  <a:solidFill>
                    <a:schemeClr val="accent1"/>
                  </a:solidFill>
                  <a:latin typeface="黑体" panose="02010609060101010101" charset="-122"/>
                  <a:ea typeface="黑体" panose="0201060906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6" name="文本框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" y="5679440"/>
                <a:ext cx="1027430" cy="467995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本框 59"/>
          <p:cNvSpPr txBox="1"/>
          <p:nvPr/>
        </p:nvSpPr>
        <p:spPr>
          <a:xfrm>
            <a:off x="1374775" y="5691505"/>
            <a:ext cx="14738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卫</a:t>
            </a:r>
            <a:r>
              <a:rPr lang="zh-CN" altLang="en-US" sz="120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星中继传输</a:t>
            </a:r>
            <a:endParaRPr lang="zh-CN" altLang="en-US" sz="120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1470025" y="3529330"/>
                <a:ext cx="71120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025" y="3529330"/>
                <a:ext cx="711200" cy="30670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2167255" y="3524250"/>
                <a:ext cx="71120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</m:oMath>
                </a14:m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55" y="3524250"/>
                <a:ext cx="711200" cy="30670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本框 74"/>
              <p:cNvSpPr txBox="1"/>
              <p:nvPr/>
            </p:nvSpPr>
            <p:spPr>
              <a:xfrm>
                <a:off x="3868420" y="3539490"/>
                <a:ext cx="9785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𝑇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75" name="文本框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420" y="3539490"/>
                <a:ext cx="978535" cy="30670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/>
              <p:cNvSpPr txBox="1"/>
              <p:nvPr/>
            </p:nvSpPr>
            <p:spPr>
              <a:xfrm>
                <a:off x="4643755" y="3551555"/>
                <a:ext cx="94615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𝑇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</m:oMath>
                </a14:m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76" name="文本框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755" y="3551555"/>
                <a:ext cx="946150" cy="30670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" name="图片 76" descr="aoi_confidence_revised_c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75325" y="457200"/>
            <a:ext cx="5513705" cy="37966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13*149"/>
  <p:tag name="TABLE_ENDDRAG_RECT" val="28*37*413*149"/>
</p:tagLst>
</file>

<file path=ppt/tags/tag2.xml><?xml version="1.0" encoding="utf-8"?>
<p:tagLst xmlns:p="http://schemas.openxmlformats.org/presentationml/2006/main">
  <p:tag name="TABLE_ENDDRAG_ORIGIN_RECT" val="413*149"/>
  <p:tag name="TABLE_ENDDRAG_RECT" val="28*37*413*149"/>
</p:tagLst>
</file>

<file path=ppt/tags/tag3.xml><?xml version="1.0" encoding="utf-8"?>
<p:tagLst xmlns:p="http://schemas.openxmlformats.org/presentationml/2006/main">
  <p:tag name="KSO_DOCER_RESOURCE_TRACE_INFO" val="{&quot;id&quot;:&quot;50042638&quot;,&quot;origin&quot;:0,&quot;type&quot;:&quot;icons&quot;,&quot;user&quot;:&quot;245216284&quot;}"/>
</p:tagLst>
</file>

<file path=ppt/tags/tag4.xml><?xml version="1.0" encoding="utf-8"?>
<p:tagLst xmlns:p="http://schemas.openxmlformats.org/presentationml/2006/main">
  <p:tag name="KSO_DOCER_RESOURCE_TRACE_INFO" val="{&quot;id&quot;:&quot;50042638&quot;,&quot;origin&quot;:0,&quot;type&quot;:&quot;icons&quot;,&quot;user&quot;:&quot;245216284&quot;}"/>
</p:tagLst>
</file>

<file path=ppt/tags/tag5.xml><?xml version="1.0" encoding="utf-8"?>
<p:tagLst xmlns:p="http://schemas.openxmlformats.org/presentationml/2006/main">
  <p:tag name="resource_record_key" val="{&quot;10&quot;:[50042638],&quot;29&quot;:[50053246,50053008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WPS 演示</Application>
  <PresentationFormat>宽屏</PresentationFormat>
  <Paragraphs>128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Cambria Math</vt:lpstr>
      <vt:lpstr>Calibri</vt:lpstr>
      <vt:lpstr>微软雅黑</vt:lpstr>
      <vt:lpstr>Arial Unicode MS</vt:lpstr>
      <vt:lpstr>黑体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270</cp:revision>
  <dcterms:created xsi:type="dcterms:W3CDTF">2023-08-09T12:44:00Z</dcterms:created>
  <dcterms:modified xsi:type="dcterms:W3CDTF">2026-06-08T06:24:05Z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6F8C046D5F0A45D9922C22DE1DAB7EB9_12</vt:lpwstr>
  </property>
</Properties>
</file>