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52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8" Type="http://schemas.openxmlformats.org/officeDocument/2006/relationships/vmlDrawing" Target="../drawings/vmlDrawing1.v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10.xml"/><Relationship Id="rId25" Type="http://schemas.openxmlformats.org/officeDocument/2006/relationships/image" Target="../media/image15.svg"/><Relationship Id="rId24" Type="http://schemas.openxmlformats.org/officeDocument/2006/relationships/image" Target="../media/image14.png"/><Relationship Id="rId23" Type="http://schemas.openxmlformats.org/officeDocument/2006/relationships/tags" Target="../tags/tag9.xml"/><Relationship Id="rId22" Type="http://schemas.openxmlformats.org/officeDocument/2006/relationships/image" Target="../media/image13.svg"/><Relationship Id="rId21" Type="http://schemas.openxmlformats.org/officeDocument/2006/relationships/image" Target="../media/image12.png"/><Relationship Id="rId20" Type="http://schemas.openxmlformats.org/officeDocument/2006/relationships/tags" Target="../tags/tag8.xml"/><Relationship Id="rId2" Type="http://schemas.openxmlformats.org/officeDocument/2006/relationships/image" Target="../media/image1.emf"/><Relationship Id="rId19" Type="http://schemas.openxmlformats.org/officeDocument/2006/relationships/image" Target="../media/image11.svg"/><Relationship Id="rId18" Type="http://schemas.openxmlformats.org/officeDocument/2006/relationships/image" Target="../media/image10.png"/><Relationship Id="rId17" Type="http://schemas.openxmlformats.org/officeDocument/2006/relationships/tags" Target="../tags/tag7.xml"/><Relationship Id="rId16" Type="http://schemas.openxmlformats.org/officeDocument/2006/relationships/tags" Target="../tags/tag6.xml"/><Relationship Id="rId15" Type="http://schemas.openxmlformats.org/officeDocument/2006/relationships/image" Target="../media/image9.svg"/><Relationship Id="rId14" Type="http://schemas.openxmlformats.org/officeDocument/2006/relationships/image" Target="../media/image8.png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" name="对象 9"/>
          <p:cNvGraphicFramePr/>
          <p:nvPr/>
        </p:nvGraphicFramePr>
        <p:xfrm>
          <a:off x="987425" y="887730"/>
          <a:ext cx="10216515" cy="508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" imgW="9048750" imgH="4516120" progId="Visio.Drawing.15">
                  <p:embed/>
                </p:oleObj>
              </mc:Choice>
              <mc:Fallback>
                <p:oleObj name="" r:id="rId1" imgW="9048750" imgH="4516120" progId="Visio.Drawing.15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87425" y="887730"/>
                        <a:ext cx="10216515" cy="5081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 descr="AR眼镜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3950" y="4006850"/>
            <a:ext cx="247650" cy="247650"/>
          </a:xfrm>
          <a:prstGeom prst="rect">
            <a:avLst/>
          </a:prstGeom>
        </p:spPr>
      </p:pic>
      <p:pic>
        <p:nvPicPr>
          <p:cNvPr id="7" name="图片 6" descr="互联网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300" y="4768215"/>
            <a:ext cx="197485" cy="197485"/>
          </a:xfrm>
          <a:prstGeom prst="rect">
            <a:avLst/>
          </a:prstGeom>
        </p:spPr>
      </p:pic>
      <p:pic>
        <p:nvPicPr>
          <p:cNvPr id="8" name="图片 7" descr="文件下载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26615" y="5117465"/>
            <a:ext cx="267335" cy="267335"/>
          </a:xfrm>
          <a:prstGeom prst="rect">
            <a:avLst/>
          </a:prstGeom>
        </p:spPr>
      </p:pic>
      <p:pic>
        <p:nvPicPr>
          <p:cNvPr id="9" name="图片 8" descr="文件下载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93950" y="5511800"/>
            <a:ext cx="267335" cy="267335"/>
          </a:xfrm>
          <a:prstGeom prst="rect">
            <a:avLst/>
          </a:prstGeom>
        </p:spPr>
      </p:pic>
      <p:pic>
        <p:nvPicPr>
          <p:cNvPr id="11" name="图片 10" descr="视频播放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44850" y="4349750"/>
            <a:ext cx="197485" cy="197485"/>
          </a:xfrm>
          <a:prstGeom prst="rect">
            <a:avLst/>
          </a:prstGeom>
        </p:spPr>
      </p:pic>
      <p:pic>
        <p:nvPicPr>
          <p:cNvPr id="12" name="图片 11" descr="AR眼镜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5050" y="4324350"/>
            <a:ext cx="247650" cy="247650"/>
          </a:xfrm>
          <a:prstGeom prst="rect">
            <a:avLst/>
          </a:prstGeom>
        </p:spPr>
      </p:pic>
      <p:pic>
        <p:nvPicPr>
          <p:cNvPr id="14" name="图片 13" descr="车联网车辆识别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86100" y="4688840"/>
            <a:ext cx="356235" cy="356235"/>
          </a:xfrm>
          <a:prstGeom prst="rect">
            <a:avLst/>
          </a:prstGeom>
        </p:spPr>
      </p:pic>
      <p:pic>
        <p:nvPicPr>
          <p:cNvPr id="15" name="图片 14" descr="电话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727450" y="4761230"/>
            <a:ext cx="222885" cy="22288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6274435" y="1663065"/>
            <a:ext cx="4869180" cy="3582035"/>
          </a:xfrm>
          <a:prstGeom prst="roundRect">
            <a:avLst>
              <a:gd name="adj" fmla="val 589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6401435" y="1248410"/>
            <a:ext cx="1795780" cy="307340"/>
          </a:xfrm>
          <a:prstGeom prst="roundRect">
            <a:avLst>
              <a:gd name="adj" fmla="val 5891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AMF (Core Networks)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376920" y="1248410"/>
            <a:ext cx="2767330" cy="307340"/>
          </a:xfrm>
          <a:prstGeom prst="roundRect">
            <a:avLst>
              <a:gd name="adj" fmla="val 5891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其他卫星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传输层协议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488430" y="4260850"/>
            <a:ext cx="4514850" cy="781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761480" y="4377055"/>
            <a:ext cx="1689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媒体接入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控制层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685530" y="4400550"/>
            <a:ext cx="2171700" cy="527050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MAC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调度器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275070" y="5384800"/>
            <a:ext cx="4869180" cy="488950"/>
          </a:xfrm>
          <a:prstGeom prst="roundRect">
            <a:avLst>
              <a:gd name="adj" fmla="val 589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用户异构业务需求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507480" y="2408555"/>
            <a:ext cx="1079500" cy="1445260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376920" y="1843405"/>
            <a:ext cx="2673350" cy="2984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>
            <a:endCxn id="18" idx="2"/>
          </p:cNvCxnSpPr>
          <p:nvPr/>
        </p:nvCxnSpPr>
        <p:spPr>
          <a:xfrm flipH="1" flipV="1">
            <a:off x="9760585" y="1555750"/>
            <a:ext cx="4445" cy="285750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9904730" y="1536700"/>
            <a:ext cx="995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IP </a:t>
            </a:r>
            <a:r>
              <a:rPr lang="zh-CN" altLang="en-US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数据包</a:t>
            </a:r>
            <a:endParaRPr lang="zh-CN" altLang="en-US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044180" y="2413000"/>
            <a:ext cx="1079500" cy="1206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126730" y="2514600"/>
            <a:ext cx="1079500" cy="1206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237855" y="2647950"/>
            <a:ext cx="1079500" cy="1206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291830" y="2673350"/>
            <a:ext cx="1123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Radio Bearer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376920" y="2946400"/>
            <a:ext cx="829945" cy="25463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无线链路控制</a:t>
            </a:r>
            <a:endParaRPr lang="zh-CN" altLang="en-US" sz="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 rot="0">
            <a:off x="8343900" y="3387725"/>
            <a:ext cx="855980" cy="340995"/>
            <a:chOff x="13068" y="5341"/>
            <a:chExt cx="1348" cy="537"/>
          </a:xfrm>
        </p:grpSpPr>
        <p:sp>
          <p:nvSpPr>
            <p:cNvPr id="34" name="矩形 33"/>
            <p:cNvSpPr/>
            <p:nvPr/>
          </p:nvSpPr>
          <p:spPr>
            <a:xfrm>
              <a:off x="13068" y="5341"/>
              <a:ext cx="270" cy="5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13338" y="5341"/>
              <a:ext cx="270" cy="5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3606" y="5341"/>
              <a:ext cx="270" cy="5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3876" y="5341"/>
              <a:ext cx="270" cy="5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4146" y="5341"/>
              <a:ext cx="270" cy="5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4" name="矩形 43"/>
          <p:cNvSpPr/>
          <p:nvPr/>
        </p:nvSpPr>
        <p:spPr>
          <a:xfrm>
            <a:off x="9669780" y="2387600"/>
            <a:ext cx="1079500" cy="1206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9752330" y="2489200"/>
            <a:ext cx="1079500" cy="1206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9863455" y="2622550"/>
            <a:ext cx="1079500" cy="1206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9917430" y="2647950"/>
            <a:ext cx="1123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Radio Bearer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002520" y="2921000"/>
            <a:ext cx="829945" cy="25463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无线链路控制</a:t>
            </a:r>
            <a:endParaRPr lang="zh-CN" altLang="en-US" sz="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 rot="0">
            <a:off x="9961880" y="3369945"/>
            <a:ext cx="855980" cy="340995"/>
            <a:chOff x="13068" y="5341"/>
            <a:chExt cx="1348" cy="537"/>
          </a:xfrm>
        </p:grpSpPr>
        <p:sp>
          <p:nvSpPr>
            <p:cNvPr id="50" name="矩形 49"/>
            <p:cNvSpPr/>
            <p:nvPr/>
          </p:nvSpPr>
          <p:spPr>
            <a:xfrm>
              <a:off x="13068" y="5341"/>
              <a:ext cx="270" cy="5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13338" y="5341"/>
              <a:ext cx="270" cy="5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13606" y="5341"/>
              <a:ext cx="270" cy="53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13876" y="5341"/>
              <a:ext cx="270" cy="53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14146" y="5341"/>
              <a:ext cx="270" cy="5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55" name="直接箭头连接符 54"/>
          <p:cNvCxnSpPr/>
          <p:nvPr/>
        </p:nvCxnSpPr>
        <p:spPr>
          <a:xfrm flipH="1" flipV="1">
            <a:off x="10400665" y="3829050"/>
            <a:ext cx="3175" cy="241300"/>
          </a:xfrm>
          <a:prstGeom prst="straightConnector1">
            <a:avLst/>
          </a:prstGeom>
          <a:ln w="28575" cmpd="sng">
            <a:solidFill>
              <a:schemeClr val="accent4">
                <a:lumMod val="75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H="1" flipV="1">
            <a:off x="8744585" y="3854450"/>
            <a:ext cx="3175" cy="241300"/>
          </a:xfrm>
          <a:prstGeom prst="straightConnector1">
            <a:avLst/>
          </a:prstGeom>
          <a:ln w="28575" cmpd="sng">
            <a:solidFill>
              <a:schemeClr val="accent4">
                <a:lumMod val="75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>
            <a:off x="8729980" y="4077335"/>
            <a:ext cx="1686560" cy="5715"/>
          </a:xfrm>
          <a:prstGeom prst="straightConnector1">
            <a:avLst/>
          </a:prstGeom>
          <a:ln w="28575" cmpd="sng">
            <a:solidFill>
              <a:schemeClr val="accent4">
                <a:lumMod val="75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V="1">
            <a:off x="9631045" y="4083050"/>
            <a:ext cx="635" cy="316865"/>
          </a:xfrm>
          <a:prstGeom prst="straightConnector1">
            <a:avLst/>
          </a:prstGeom>
          <a:ln w="28575" cmpd="sng">
            <a:solidFill>
              <a:schemeClr val="accent4">
                <a:lumMod val="75000"/>
              </a:schemeClr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V="1">
            <a:off x="9629775" y="4927600"/>
            <a:ext cx="1905" cy="438150"/>
          </a:xfrm>
          <a:prstGeom prst="straightConnector1">
            <a:avLst/>
          </a:prstGeom>
          <a:ln w="28575" cmpd="sng">
            <a:solidFill>
              <a:schemeClr val="accent4">
                <a:lumMod val="75000"/>
              </a:schemeClr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4695190" y="3030220"/>
            <a:ext cx="9817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Calibri" panose="020F0502020204030204" charset="0"/>
              </a:rPr>
              <a:t>异步</a:t>
            </a:r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Calibri" panose="020F0502020204030204" charset="0"/>
              </a:rPr>
              <a:t>更新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Calibri" panose="020F05020202040302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752330" y="4960620"/>
            <a:ext cx="995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物理层</a:t>
            </a:r>
            <a:endParaRPr lang="zh-CN" altLang="en-US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数据流</a:t>
            </a:r>
            <a:endParaRPr lang="zh-CN" altLang="en-US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flipV="1">
            <a:off x="7211695" y="3853815"/>
            <a:ext cx="2540" cy="39878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 flipV="1">
            <a:off x="7044055" y="1595120"/>
            <a:ext cx="10160" cy="80772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6993890" y="1831340"/>
            <a:ext cx="995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非实时</a:t>
            </a:r>
            <a:endParaRPr lang="zh-CN" alt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切片</a:t>
            </a:r>
            <a:r>
              <a:rPr lang="zh-CN" alt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上下文</a:t>
            </a:r>
            <a:endParaRPr lang="zh-CN" alt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102475" y="3930650"/>
            <a:ext cx="1189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Scheduler Stat</a:t>
            </a:r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549390" y="2413000"/>
            <a:ext cx="9950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RRC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924925" y="1866265"/>
            <a:ext cx="1721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分组数据汇聚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协议层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602730" y="2707640"/>
            <a:ext cx="895350" cy="39179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9" name="图片 68" descr="程序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607810" y="2815590"/>
            <a:ext cx="214630" cy="214630"/>
          </a:xfrm>
          <a:prstGeom prst="rect">
            <a:avLst/>
          </a:prstGeom>
        </p:spPr>
      </p:pic>
      <p:sp>
        <p:nvSpPr>
          <p:cNvPr id="70" name="矩形 69"/>
          <p:cNvSpPr/>
          <p:nvPr/>
        </p:nvSpPr>
        <p:spPr>
          <a:xfrm>
            <a:off x="6602730" y="3184525"/>
            <a:ext cx="895350" cy="39179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1" name="图片 70" descr="程序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607810" y="3253740"/>
            <a:ext cx="214630" cy="214630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6661785" y="2727325"/>
            <a:ext cx="995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  <a:sym typeface="+mn-ea"/>
              </a:rPr>
              <a:t>切片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1</a:t>
            </a:r>
            <a:endParaRPr lang="en-US" altLang="zh-CN" sz="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时延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敏感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668770" y="3194685"/>
            <a:ext cx="995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切片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2</a:t>
            </a:r>
            <a:endParaRPr lang="en-US" altLang="zh-CN" sz="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带宽</a:t>
            </a:r>
            <a:r>
              <a:rPr lang="zh-CN" altLang="en-US" sz="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密集</a:t>
            </a:r>
            <a:endParaRPr lang="zh-CN" altLang="en-US" sz="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 flipV="1">
            <a:off x="9765030" y="2117090"/>
            <a:ext cx="3810" cy="15621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V="1">
            <a:off x="8926830" y="2277110"/>
            <a:ext cx="1561465" cy="4445"/>
          </a:xfrm>
          <a:prstGeom prst="straightConnector1">
            <a:avLst/>
          </a:prstGeom>
          <a:ln w="22225"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8926830" y="2277110"/>
            <a:ext cx="4445" cy="364490"/>
          </a:xfrm>
          <a:prstGeom prst="straightConnector1">
            <a:avLst/>
          </a:prstGeom>
          <a:ln w="22225"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10488295" y="2273300"/>
            <a:ext cx="4445" cy="364490"/>
          </a:xfrm>
          <a:prstGeom prst="straightConnector1">
            <a:avLst/>
          </a:prstGeom>
          <a:ln w="22225"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8343900" y="2171065"/>
            <a:ext cx="725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用户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1</a:t>
            </a:r>
            <a:endParaRPr lang="en-US" altLang="zh-CN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525125" y="2230120"/>
            <a:ext cx="725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用户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4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endParaRPr lang="en-US" altLang="zh-CN" sz="14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 flipV="1">
            <a:off x="7056755" y="3841750"/>
            <a:ext cx="4445" cy="419735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6372225" y="3874770"/>
            <a:ext cx="8039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Resource 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Configs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96120" y="4065905"/>
            <a:ext cx="982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即时</a:t>
            </a:r>
            <a:endParaRPr lang="zh-CN" alt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队列</a:t>
            </a:r>
            <a:r>
              <a:rPr lang="zh-CN" alt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状态</a:t>
            </a:r>
            <a:endParaRPr lang="zh-CN" altLang="en-US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22080" y="4714875"/>
            <a:ext cx="13677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快速</a:t>
            </a:r>
            <a:r>
              <a:rPr lang="en-US" altLang="zh-CN" sz="1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实时调度</a:t>
            </a:r>
            <a:endParaRPr lang="zh-CN" altLang="en-US" sz="10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72225" y="3576320"/>
            <a:ext cx="13677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慢速配置</a:t>
            </a:r>
            <a:endParaRPr lang="zh-CN" altLang="en-US" sz="10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11215" y="2117090"/>
            <a:ext cx="1132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切片层调度</a:t>
            </a:r>
            <a:endParaRPr lang="zh-CN" altLang="en-US" sz="14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960995" y="4204335"/>
            <a:ext cx="1356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MAC</a:t>
            </a:r>
            <a:r>
              <a:rPr lang="zh-CN" altLang="en-US" sz="14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层调度</a:t>
            </a:r>
            <a:endParaRPr lang="zh-CN" altLang="en-US" sz="14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57351&quot;,&quot;origin&quot;:0,&quot;type&quot;:&quot;icons&quot;,&quot;user&quot;:&quot;245216284&quot;}"/>
</p:tagLst>
</file>

<file path=ppt/tags/tag2.xml><?xml version="1.0" encoding="utf-8"?>
<p:tagLst xmlns:p="http://schemas.openxmlformats.org/presentationml/2006/main">
  <p:tag name="KSO_DOCER_RESOURCE_TRACE_INFO" val="{&quot;id&quot;:&quot;21596951&quot;,&quot;origin&quot;:0,&quot;type&quot;:&quot;icons&quot;,&quot;user&quot;:&quot;245216284&quot;}"/>
</p:tagLst>
</file>

<file path=ppt/tags/tag3.xml><?xml version="1.0" encoding="utf-8"?>
<p:tagLst xmlns:p="http://schemas.openxmlformats.org/presentationml/2006/main">
  <p:tag name="KSO_DOCER_RESOURCE_TRACE_INFO" val="{&quot;id&quot;:&quot;20178880&quot;,&quot;origin&quot;:0,&quot;type&quot;:&quot;icons&quot;,&quot;user&quot;:&quot;245216284&quot;}"/>
</p:tagLst>
</file>

<file path=ppt/tags/tag4.xml><?xml version="1.0" encoding="utf-8"?>
<p:tagLst xmlns:p="http://schemas.openxmlformats.org/presentationml/2006/main">
  <p:tag name="KSO_DOCER_RESOURCE_TRACE_INFO" val="{&quot;id&quot;:&quot;20178880&quot;,&quot;origin&quot;:0,&quot;type&quot;:&quot;icons&quot;,&quot;user&quot;:&quot;245216284&quot;}"/>
</p:tagLst>
</file>

<file path=ppt/tags/tag5.xml><?xml version="1.0" encoding="utf-8"?>
<p:tagLst xmlns:p="http://schemas.openxmlformats.org/presentationml/2006/main">
  <p:tag name="KSO_DOCER_RESOURCE_TRACE_INFO" val="{&quot;id&quot;:&quot;21549667&quot;,&quot;origin&quot;:0,&quot;type&quot;:&quot;icons&quot;,&quot;user&quot;:&quot;245216284&quot;}"/>
</p:tagLst>
</file>

<file path=ppt/tags/tag6.xml><?xml version="1.0" encoding="utf-8"?>
<p:tagLst xmlns:p="http://schemas.openxmlformats.org/presentationml/2006/main">
  <p:tag name="KSO_DOCER_RESOURCE_TRACE_INFO" val="{&quot;id&quot;:&quot;21557351&quot;,&quot;origin&quot;:0,&quot;type&quot;:&quot;icons&quot;,&quot;user&quot;:&quot;245216284&quot;}"/>
</p:tagLst>
</file>

<file path=ppt/tags/tag7.xml><?xml version="1.0" encoding="utf-8"?>
<p:tagLst xmlns:p="http://schemas.openxmlformats.org/presentationml/2006/main">
  <p:tag name="KSO_DOCER_RESOURCE_TRACE_INFO" val="{&quot;id&quot;:&quot;21557438&quot;,&quot;origin&quot;:0,&quot;type&quot;:&quot;icons&quot;,&quot;user&quot;:&quot;245216284&quot;}"/>
</p:tagLst>
</file>

<file path=ppt/tags/tag8.xml><?xml version="1.0" encoding="utf-8"?>
<p:tagLst xmlns:p="http://schemas.openxmlformats.org/presentationml/2006/main">
  <p:tag name="KSO_DOCER_RESOURCE_TRACE_INFO" val="{&quot;id&quot;:&quot;21561682&quot;,&quot;origin&quot;:0,&quot;type&quot;:&quot;icons&quot;,&quot;user&quot;:&quot;245216284&quot;}"/>
</p:tagLst>
</file>

<file path=ppt/tags/tag9.xml><?xml version="1.0" encoding="utf-8"?>
<p:tagLst xmlns:p="http://schemas.openxmlformats.org/presentationml/2006/main">
  <p:tag name="KSO_DOCER_RESOURCE_TRACE_INFO" val="{&quot;id&quot;:&quot;21561396&quot;,&quot;origin&quot;:0,&quot;type&quot;:&quot;icons&quot;,&quot;user&quot;:&quot;245216284&quot;}"/>
</p:tagLst>
</file>

<file path=ppt/tags/tag10.xml><?xml version="1.0" encoding="utf-8"?>
<p:tagLst xmlns:p="http://schemas.openxmlformats.org/presentationml/2006/main">
  <p:tag name="KSO_DOCER_RESOURCE_TRACE_INFO" val="{&quot;id&quot;:&quot;21561396&quot;,&quot;origin&quot;:0,&quot;type&quot;:&quot;icons&quot;,&quot;user&quot;:&quot;245216284&quot;}"/>
</p:tagLst>
</file>

<file path=ppt/tags/tag11.xml><?xml version="1.0" encoding="utf-8"?>
<p:tagLst xmlns:p="http://schemas.openxmlformats.org/presentationml/2006/main">
  <p:tag name="resource_record_key" val="{&quot;10&quot;:[21557351,21596951,20178880,21557439,21549667,21570931,21557438,21561682,21561396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WPS 演示</Application>
  <PresentationFormat>宽屏</PresentationFormat>
  <Paragraphs>59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黑体</vt:lpstr>
      <vt:lpstr>WPS</vt:lpstr>
      <vt:lpstr>Visio.Drawing.15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195</cp:revision>
  <dcterms:created xsi:type="dcterms:W3CDTF">2023-08-09T12:44:00Z</dcterms:created>
  <dcterms:modified xsi:type="dcterms:W3CDTF">2026-06-08T14:57:32Z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2BC3323488144DFDAC18DD7B00F12C38_12</vt:lpwstr>
  </property>
</Properties>
</file>