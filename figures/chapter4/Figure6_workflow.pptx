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7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3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1.svg"/><Relationship Id="rId15" Type="http://schemas.openxmlformats.org/officeDocument/2006/relationships/image" Target="../media/image10.png"/><Relationship Id="rId14" Type="http://schemas.openxmlformats.org/officeDocument/2006/relationships/tags" Target="../tags/tag5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4.xml"/><Relationship Id="rId10" Type="http://schemas.openxmlformats.org/officeDocument/2006/relationships/image" Target="../media/image7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3月20日 10_06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5700" y="2420620"/>
            <a:ext cx="2125345" cy="14166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154795" y="3759835"/>
            <a:ext cx="1794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低轨卫星接入网</a:t>
            </a:r>
            <a:r>
              <a:rPr lang="en-US" altLang="zh-CN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endParaRPr lang="en-US" altLang="zh-CN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zh-CN" altLang="en-US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环境</a:t>
            </a:r>
            <a:endParaRPr lang="zh-CN" altLang="en-US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32740" y="2771140"/>
            <a:ext cx="2776220" cy="15862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H="1" flipV="1">
            <a:off x="9934575" y="1537970"/>
            <a:ext cx="0" cy="8870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1621790" y="1544320"/>
            <a:ext cx="8319770" cy="0"/>
          </a:xfrm>
          <a:prstGeom prst="line">
            <a:avLst/>
          </a:prstGeom>
          <a:ln w="190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042910" y="1165225"/>
            <a:ext cx="1842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业务需求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59420" y="1544320"/>
            <a:ext cx="1842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无线信道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0370" y="2771140"/>
            <a:ext cx="1576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记忆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81660" y="3201670"/>
            <a:ext cx="2278380" cy="4470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概括状态</a:t>
            </a:r>
            <a:r>
              <a:rPr lang="en-US" altLang="zh-CN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动作轨迹的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隐向量</a:t>
            </a:r>
            <a:endParaRPr lang="zh-CN" altLang="en-US"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04875" y="3810000"/>
            <a:ext cx="1433830" cy="4470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转移先验概率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753485" y="2847340"/>
            <a:ext cx="4131310" cy="1369060"/>
          </a:xfrm>
          <a:prstGeom prst="round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846955" y="2802255"/>
            <a:ext cx="2404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切片级资源</a:t>
            </a:r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预留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4678045" y="1895475"/>
            <a:ext cx="1890395" cy="685165"/>
            <a:chOff x="1948" y="4193"/>
            <a:chExt cx="2977" cy="1828"/>
          </a:xfrm>
        </p:grpSpPr>
        <p:sp>
          <p:nvSpPr>
            <p:cNvPr id="17" name="圆角矩形 16"/>
            <p:cNvSpPr/>
            <p:nvPr/>
          </p:nvSpPr>
          <p:spPr>
            <a:xfrm>
              <a:off x="1948" y="4193"/>
              <a:ext cx="2930" cy="182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948" y="4215"/>
              <a:ext cx="2977" cy="1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黑体" panose="02010609060101010101" charset="-122"/>
                  <a:ea typeface="黑体" panose="02010609060101010101" charset="-122"/>
                </a:rPr>
                <a:t>动态性模型</a:t>
              </a:r>
              <a:r>
                <a:rPr lang="en-US" altLang="zh-CN" b="1"/>
                <a:t> </a:t>
              </a:r>
              <a:endParaRPr lang="en-US" altLang="zh-CN" b="1"/>
            </a:p>
            <a:p>
              <a:pPr algn="ctr"/>
              <a:r>
                <a:rPr lang="en-US" altLang="zh-CN" b="1"/>
                <a:t>model</a:t>
              </a:r>
              <a:endParaRPr lang="en-US" altLang="zh-CN" b="1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2299" y="5162"/>
              <a:ext cx="2258" cy="704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转移后验</a:t>
              </a:r>
              <a:r>
                <a:rPr lang="zh-CN" altLang="en-US" sz="1200"/>
                <a:t>概率</a:t>
              </a:r>
              <a:endParaRPr lang="zh-CN" altLang="en-US" sz="1200"/>
            </a:p>
          </p:txBody>
        </p:sp>
      </p:grpSp>
      <p:pic>
        <p:nvPicPr>
          <p:cNvPr id="26" name="图片 25" descr="循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7960" y="4350385"/>
            <a:ext cx="424815" cy="424815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>
          <a:xfrm>
            <a:off x="3763010" y="4573905"/>
            <a:ext cx="4131310" cy="1160780"/>
          </a:xfrm>
          <a:prstGeom prst="round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900930" y="4570730"/>
            <a:ext cx="2404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时隙级</a:t>
            </a:r>
            <a:r>
              <a:rPr lang="en-US" altLang="zh-CN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MAC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层调度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 flipV="1">
            <a:off x="1621790" y="1533525"/>
            <a:ext cx="0" cy="123825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 flipV="1">
            <a:off x="5670550" y="1544320"/>
            <a:ext cx="3175" cy="333375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圆角矩形 30"/>
          <p:cNvSpPr/>
          <p:nvPr/>
        </p:nvSpPr>
        <p:spPr>
          <a:xfrm>
            <a:off x="5064760" y="3201463"/>
            <a:ext cx="1433830" cy="263871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PPO-based Slicing</a:t>
            </a:r>
            <a:endParaRPr lang="en-US" altLang="zh-CN" sz="1200"/>
          </a:p>
        </p:txBody>
      </p:sp>
      <p:sp>
        <p:nvSpPr>
          <p:cNvPr id="32" name="文本框 31"/>
          <p:cNvSpPr txBox="1"/>
          <p:nvPr/>
        </p:nvSpPr>
        <p:spPr>
          <a:xfrm>
            <a:off x="1732280" y="4429125"/>
            <a:ext cx="1127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多步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想象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319270" y="3764915"/>
            <a:ext cx="871220" cy="3841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功率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预算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367655" y="3764915"/>
            <a:ext cx="871220" cy="3841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带宽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预算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433820" y="3743960"/>
            <a:ext cx="1000760" cy="38417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用户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接入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4678045" y="3601085"/>
            <a:ext cx="2279015" cy="0"/>
          </a:xfrm>
          <a:prstGeom prst="line">
            <a:avLst/>
          </a:prstGeom>
          <a:ln w="31750">
            <a:solidFill>
              <a:schemeClr val="accent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 flipV="1">
            <a:off x="5801995" y="3470910"/>
            <a:ext cx="0" cy="118800"/>
          </a:xfrm>
          <a:prstGeom prst="line">
            <a:avLst/>
          </a:prstGeom>
          <a:ln w="31750">
            <a:solidFill>
              <a:schemeClr val="accent1"/>
            </a:solidFill>
            <a:head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4675505" y="3590345"/>
            <a:ext cx="0" cy="165100"/>
          </a:xfrm>
          <a:prstGeom prst="line">
            <a:avLst/>
          </a:prstGeom>
          <a:ln w="31750">
            <a:solidFill>
              <a:schemeClr val="accent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5801995" y="3590345"/>
            <a:ext cx="0" cy="165100"/>
          </a:xfrm>
          <a:prstGeom prst="line">
            <a:avLst/>
          </a:prstGeom>
          <a:ln w="31750">
            <a:solidFill>
              <a:schemeClr val="accent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959600" y="3589710"/>
            <a:ext cx="0" cy="165100"/>
          </a:xfrm>
          <a:prstGeom prst="line">
            <a:avLst/>
          </a:prstGeom>
          <a:ln w="31750">
            <a:solidFill>
              <a:schemeClr val="accent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4670425" y="4146605"/>
            <a:ext cx="0" cy="4318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 flipV="1">
            <a:off x="5801995" y="4137080"/>
            <a:ext cx="0" cy="43180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圆角矩形 48"/>
          <p:cNvSpPr/>
          <p:nvPr/>
        </p:nvSpPr>
        <p:spPr>
          <a:xfrm>
            <a:off x="4150360" y="5036820"/>
            <a:ext cx="1433830" cy="5353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MAC</a:t>
            </a:r>
            <a:r>
              <a:rPr lang="en-US" altLang="zh-CN" sz="1200"/>
              <a:t> </a:t>
            </a:r>
            <a:endParaRPr lang="en-US" altLang="zh-CN" sz="1200"/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调度器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1" name="图片 50" descr="循环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0550" y="5122545"/>
            <a:ext cx="381635" cy="381635"/>
          </a:xfrm>
          <a:prstGeom prst="rect">
            <a:avLst/>
          </a:prstGeom>
        </p:spPr>
      </p:pic>
      <p:cxnSp>
        <p:nvCxnSpPr>
          <p:cNvPr id="52" name="直接连接符 51"/>
          <p:cNvCxnSpPr/>
          <p:nvPr/>
        </p:nvCxnSpPr>
        <p:spPr>
          <a:xfrm flipH="1">
            <a:off x="7909560" y="5035550"/>
            <a:ext cx="20459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 flipV="1">
            <a:off x="9936480" y="4375150"/>
            <a:ext cx="1270" cy="65024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7939405" y="5313045"/>
            <a:ext cx="2630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用户级功率分配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5" name="文本框 54"/>
          <p:cNvSpPr txBox="1"/>
          <p:nvPr/>
        </p:nvSpPr>
        <p:spPr>
          <a:xfrm>
            <a:off x="7939405" y="5036820"/>
            <a:ext cx="2703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App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级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RBG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分配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137910" y="5389880"/>
            <a:ext cx="1746885" cy="2635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QCI-Priority </a:t>
            </a: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背包算法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6137910" y="4982210"/>
            <a:ext cx="1746885" cy="2635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最小</a:t>
            </a:r>
            <a:r>
              <a:rPr lang="zh-CN" altLang="en-US" sz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业务功率预测</a:t>
            </a:r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 flipV="1">
            <a:off x="6957060" y="5245790"/>
            <a:ext cx="0" cy="144145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 flipV="1">
            <a:off x="5801995" y="2580640"/>
            <a:ext cx="0" cy="25908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任意多边形 71"/>
          <p:cNvSpPr/>
          <p:nvPr/>
        </p:nvSpPr>
        <p:spPr>
          <a:xfrm flipH="1">
            <a:off x="3287395" y="3589655"/>
            <a:ext cx="475615" cy="1182370"/>
          </a:xfrm>
          <a:custGeom>
            <a:avLst/>
            <a:gdLst>
              <a:gd name="connisteX0" fmla="*/ 6985 w 475618"/>
              <a:gd name="connsiteY0" fmla="*/ 1182370 h 1182370"/>
              <a:gd name="connisteX1" fmla="*/ 475615 w 475618"/>
              <a:gd name="connsiteY1" fmla="*/ 432435 h 1182370"/>
              <a:gd name="connisteX2" fmla="*/ 0 w 475618"/>
              <a:gd name="connsiteY2" fmla="*/ 0 h 11823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75618" h="1182370">
                <a:moveTo>
                  <a:pt x="6985" y="1182370"/>
                </a:moveTo>
                <a:cubicBezTo>
                  <a:pt x="110490" y="1040765"/>
                  <a:pt x="476885" y="668655"/>
                  <a:pt x="475615" y="432435"/>
                </a:cubicBezTo>
                <a:cubicBezTo>
                  <a:pt x="474345" y="196215"/>
                  <a:pt x="104775" y="71755"/>
                  <a:pt x="0" y="0"/>
                </a:cubicBezTo>
              </a:path>
            </a:pathLst>
          </a:custGeom>
          <a:noFill/>
          <a:ln w="22225" cmpd="sng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3065780" y="4030345"/>
            <a:ext cx="1322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传输速率</a:t>
            </a:r>
            <a:endParaRPr lang="en-US" altLang="zh-CN" sz="1200"/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时延</a:t>
            </a:r>
            <a:endParaRPr lang="en-US" altLang="zh-CN" sz="12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QoS</a:t>
            </a:r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满足率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3114040" y="3810000"/>
            <a:ext cx="194945" cy="302895"/>
          </a:xfrm>
          <a:custGeom>
            <a:avLst/>
            <a:gdLst>
              <a:gd name="connisteX0" fmla="*/ 194945 w 194945"/>
              <a:gd name="connsiteY0" fmla="*/ 302895 h 302895"/>
              <a:gd name="connisteX1" fmla="*/ 0 w 194945"/>
              <a:gd name="connsiteY1" fmla="*/ 0 h 3028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194945" h="302895">
                <a:moveTo>
                  <a:pt x="194945" y="302895"/>
                </a:moveTo>
                <a:cubicBezTo>
                  <a:pt x="130175" y="201930"/>
                  <a:pt x="64770" y="100965"/>
                  <a:pt x="0" y="0"/>
                </a:cubicBezTo>
              </a:path>
            </a:pathLst>
          </a:custGeom>
          <a:noFill/>
          <a:ln w="22225" cmpd="sng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连接符 1"/>
          <p:cNvCxnSpPr>
            <a:stCxn id="12" idx="3"/>
          </p:cNvCxnSpPr>
          <p:nvPr/>
        </p:nvCxnSpPr>
        <p:spPr>
          <a:xfrm flipV="1">
            <a:off x="2860040" y="3392170"/>
            <a:ext cx="492125" cy="0"/>
          </a:xfrm>
          <a:prstGeom prst="line">
            <a:avLst/>
          </a:prstGeom>
          <a:ln w="190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3344545" y="2122805"/>
            <a:ext cx="0" cy="1276350"/>
          </a:xfrm>
          <a:prstGeom prst="line">
            <a:avLst/>
          </a:prstGeom>
          <a:ln w="19050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349625" y="2130425"/>
            <a:ext cx="1343025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273050" y="1733550"/>
            <a:ext cx="7729220" cy="274002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208280" y="1733550"/>
            <a:ext cx="1842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基于世界模型的切片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0" name="图片 39" descr="1圆形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68440" y="3170555"/>
            <a:ext cx="294640" cy="294640"/>
          </a:xfrm>
          <a:prstGeom prst="rect">
            <a:avLst/>
          </a:prstGeom>
        </p:spPr>
      </p:pic>
      <p:pic>
        <p:nvPicPr>
          <p:cNvPr id="48" name="图片 47" descr="2圆形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18005" y="4473575"/>
            <a:ext cx="309880" cy="309880"/>
          </a:xfrm>
          <a:prstGeom prst="rect">
            <a:avLst/>
          </a:prstGeom>
        </p:spPr>
      </p:pic>
      <p:pic>
        <p:nvPicPr>
          <p:cNvPr id="50" name="图片 49" descr="3-圆形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22620" y="5504180"/>
            <a:ext cx="294640" cy="294640"/>
          </a:xfrm>
          <a:prstGeom prst="rect">
            <a:avLst/>
          </a:prstGeom>
        </p:spPr>
      </p:pic>
      <p:cxnSp>
        <p:nvCxnSpPr>
          <p:cNvPr id="60" name="直接连接符 59"/>
          <p:cNvCxnSpPr/>
          <p:nvPr/>
        </p:nvCxnSpPr>
        <p:spPr>
          <a:xfrm flipH="1">
            <a:off x="7434580" y="3936420"/>
            <a:ext cx="493395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7289800" y="3698875"/>
            <a:ext cx="821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其他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200">
                <a:latin typeface="黑体" panose="02010609060101010101" charset="-122"/>
                <a:ea typeface="黑体" panose="02010609060101010101" charset="-122"/>
              </a:rPr>
              <a:t>卫星</a:t>
            </a:r>
            <a:endParaRPr lang="zh-CN" altLang="en-US" sz="12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65875&quot;,&quot;origin&quot;:0,&quot;type&quot;:&quot;icons&quot;,&quot;user&quot;:&quot;245216284&quot;}"/>
</p:tagLst>
</file>

<file path=ppt/tags/tag2.xml><?xml version="1.0" encoding="utf-8"?>
<p:tagLst xmlns:p="http://schemas.openxmlformats.org/presentationml/2006/main">
  <p:tag name="KSO_DOCER_RESOURCE_TRACE_INFO" val="{&quot;id&quot;:&quot;21565875&quot;,&quot;origin&quot;:0,&quot;type&quot;:&quot;icons&quot;,&quot;user&quot;:&quot;245216284&quot;}"/>
</p:tagLst>
</file>

<file path=ppt/tags/tag3.xml><?xml version="1.0" encoding="utf-8"?>
<p:tagLst xmlns:p="http://schemas.openxmlformats.org/presentationml/2006/main">
  <p:tag name="KSO_DOCER_RESOURCE_TRACE_INFO" val="{&quot;id&quot;:&quot;50059495&quot;,&quot;origin&quot;:0,&quot;type&quot;:&quot;icons&quot;,&quot;user&quot;:&quot;245216284&quot;}"/>
</p:tagLst>
</file>

<file path=ppt/tags/tag4.xml><?xml version="1.0" encoding="utf-8"?>
<p:tagLst xmlns:p="http://schemas.openxmlformats.org/presentationml/2006/main">
  <p:tag name="KSO_DOCER_RESOURCE_TRACE_INFO" val="{&quot;id&quot;:&quot;50059472&quot;,&quot;origin&quot;:0,&quot;type&quot;:&quot;icons&quot;,&quot;user&quot;:&quot;245216284&quot;}"/>
</p:tagLst>
</file>

<file path=ppt/tags/tag5.xml><?xml version="1.0" encoding="utf-8"?>
<p:tagLst xmlns:p="http://schemas.openxmlformats.org/presentationml/2006/main">
  <p:tag name="KSO_DOCER_RESOURCE_TRACE_INFO" val="{&quot;id&quot;:&quot;50062265&quot;,&quot;origin&quot;:0,&quot;type&quot;:&quot;icons&quot;,&quot;user&quot;:&quot;245216284&quot;}"/>
</p:tagLst>
</file>

<file path=ppt/tags/tag6.xml><?xml version="1.0" encoding="utf-8"?>
<p:tagLst xmlns:p="http://schemas.openxmlformats.org/presentationml/2006/main">
  <p:tag name="resource_record_key" val="{&quot;10&quot;:[21565875,50059364,50059495,50059472,50062265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WPS 演示</Application>
  <PresentationFormat>宽屏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黑体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259</cp:revision>
  <dcterms:created xsi:type="dcterms:W3CDTF">2023-08-09T12:44:00Z</dcterms:created>
  <dcterms:modified xsi:type="dcterms:W3CDTF">2026-06-08T15:26:41Z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E9B9935F9172484D88E62EAB7CC834DC_12</vt:lpwstr>
  </property>
</Properties>
</file>