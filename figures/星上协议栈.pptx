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2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4" name="矩形 13"/>
          <p:cNvSpPr/>
          <p:nvPr/>
        </p:nvSpPr>
        <p:spPr>
          <a:xfrm>
            <a:off x="3606800" y="3099435"/>
            <a:ext cx="1226185" cy="327469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 cmpd="sng">
            <a:solidFill>
              <a:schemeClr val="tx2">
                <a:lumMod val="40000"/>
                <a:lumOff val="60000"/>
              </a:schemeClr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1109345" y="2007870"/>
            <a:ext cx="1226185" cy="454215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1262380" y="2008505"/>
            <a:ext cx="93599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用户</a:t>
            </a:r>
            <a:r>
              <a:rPr lang="en-US" altLang="zh-CN" b="1"/>
              <a:t>/</a:t>
            </a:r>
            <a:r>
              <a:rPr lang="zh-CN" altLang="en-US" b="1"/>
              <a:t>任务</a:t>
            </a:r>
            <a:r>
              <a:rPr lang="zh-CN" altLang="en-US" b="1"/>
              <a:t>星</a:t>
            </a:r>
            <a:endParaRPr lang="zh-CN" altLang="en-US" b="1"/>
          </a:p>
        </p:txBody>
      </p:sp>
      <p:sp>
        <p:nvSpPr>
          <p:cNvPr id="6" name="矩形 5"/>
          <p:cNvSpPr/>
          <p:nvPr/>
        </p:nvSpPr>
        <p:spPr>
          <a:xfrm>
            <a:off x="3355975" y="3316605"/>
            <a:ext cx="1226185" cy="32334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5602605" y="3317240"/>
            <a:ext cx="1226185" cy="323278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3429635" y="3367405"/>
            <a:ext cx="12223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接入卫星</a:t>
            </a:r>
            <a:endParaRPr lang="zh-CN" altLang="en-US" b="1"/>
          </a:p>
        </p:txBody>
      </p:sp>
      <p:sp>
        <p:nvSpPr>
          <p:cNvPr id="9" name="文本框 8"/>
          <p:cNvSpPr txBox="1"/>
          <p:nvPr/>
        </p:nvSpPr>
        <p:spPr>
          <a:xfrm>
            <a:off x="5602605" y="3317240"/>
            <a:ext cx="12223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中继卫星</a:t>
            </a:r>
            <a:endParaRPr lang="zh-CN" altLang="en-US" b="1"/>
          </a:p>
        </p:txBody>
      </p:sp>
      <p:sp>
        <p:nvSpPr>
          <p:cNvPr id="10" name="矩形 9"/>
          <p:cNvSpPr/>
          <p:nvPr/>
        </p:nvSpPr>
        <p:spPr>
          <a:xfrm>
            <a:off x="7654290" y="2008505"/>
            <a:ext cx="1226185" cy="45415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7554595" y="2008505"/>
            <a:ext cx="139001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b="1"/>
              <a:t>地面网关</a:t>
            </a:r>
            <a:r>
              <a:rPr lang="en-US" altLang="zh-CN" b="1"/>
              <a:t>/</a:t>
            </a:r>
            <a:r>
              <a:rPr lang="zh-CN" altLang="en-US" b="1"/>
              <a:t>互联网端点</a:t>
            </a:r>
            <a:endParaRPr lang="zh-CN" altLang="en-US" b="1"/>
          </a:p>
        </p:txBody>
      </p:sp>
      <p:sp>
        <p:nvSpPr>
          <p:cNvPr id="15" name="文本框 14"/>
          <p:cNvSpPr txBox="1"/>
          <p:nvPr/>
        </p:nvSpPr>
        <p:spPr>
          <a:xfrm>
            <a:off x="3638550" y="3071495"/>
            <a:ext cx="101346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 b="1"/>
              <a:t>候选卫星集合</a:t>
            </a:r>
            <a:endParaRPr lang="zh-CN" altLang="en-US" sz="1000" b="1"/>
          </a:p>
        </p:txBody>
      </p:sp>
      <p:sp>
        <p:nvSpPr>
          <p:cNvPr id="18" name="圆角矩形 17"/>
          <p:cNvSpPr/>
          <p:nvPr/>
        </p:nvSpPr>
        <p:spPr>
          <a:xfrm>
            <a:off x="1245870" y="2653665"/>
            <a:ext cx="952500" cy="7137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500"/>
              <a:t>应用层</a:t>
            </a:r>
            <a:br>
              <a:rPr lang="zh-CN" altLang="en-US" sz="1500"/>
            </a:br>
            <a:r>
              <a:rPr lang="zh-CN" altLang="en-US" sz="1500"/>
              <a:t>任务</a:t>
            </a:r>
            <a:endParaRPr lang="zh-CN" altLang="en-US" sz="1500"/>
          </a:p>
          <a:p>
            <a:pPr algn="ctr"/>
            <a:r>
              <a:rPr lang="zh-CN" altLang="en-US" sz="1500"/>
              <a:t>编码</a:t>
            </a:r>
            <a:endParaRPr lang="zh-CN" altLang="en-US" sz="1500"/>
          </a:p>
        </p:txBody>
      </p:sp>
      <p:sp>
        <p:nvSpPr>
          <p:cNvPr id="19" name="矩形 18"/>
          <p:cNvSpPr/>
          <p:nvPr/>
        </p:nvSpPr>
        <p:spPr>
          <a:xfrm>
            <a:off x="857250" y="1762760"/>
            <a:ext cx="8298815" cy="5017135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圆角矩形 19"/>
          <p:cNvSpPr/>
          <p:nvPr/>
        </p:nvSpPr>
        <p:spPr>
          <a:xfrm>
            <a:off x="857250" y="226695"/>
            <a:ext cx="8299450" cy="121856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3900805" y="226695"/>
            <a:ext cx="23622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核心网卫星</a:t>
            </a:r>
            <a:r>
              <a:rPr lang="zh-CN" altLang="en-US" b="1"/>
              <a:t>运维功能</a:t>
            </a:r>
            <a:endParaRPr lang="zh-CN" altLang="en-US" b="1"/>
          </a:p>
        </p:txBody>
      </p:sp>
      <p:sp>
        <p:nvSpPr>
          <p:cNvPr id="22" name="下箭头 21"/>
          <p:cNvSpPr/>
          <p:nvPr/>
        </p:nvSpPr>
        <p:spPr>
          <a:xfrm>
            <a:off x="4440555" y="1481455"/>
            <a:ext cx="756920" cy="245110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文本框 22"/>
          <p:cNvSpPr txBox="1"/>
          <p:nvPr/>
        </p:nvSpPr>
        <p:spPr>
          <a:xfrm>
            <a:off x="3383915" y="1394460"/>
            <a:ext cx="12223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远程监控</a:t>
            </a:r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5246370" y="1390015"/>
            <a:ext cx="12223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配置</a:t>
            </a:r>
            <a:endParaRPr lang="zh-CN" altLang="en-US"/>
          </a:p>
        </p:txBody>
      </p:sp>
      <p:sp>
        <p:nvSpPr>
          <p:cNvPr id="25" name="矩形 24"/>
          <p:cNvSpPr/>
          <p:nvPr/>
        </p:nvSpPr>
        <p:spPr>
          <a:xfrm>
            <a:off x="1109345" y="685165"/>
            <a:ext cx="1684655" cy="4470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用户注册</a:t>
            </a:r>
            <a:r>
              <a:rPr lang="en-US" altLang="zh-CN">
                <a:solidFill>
                  <a:schemeClr val="tx1"/>
                </a:solidFill>
              </a:rPr>
              <a:t>/</a:t>
            </a:r>
            <a:r>
              <a:rPr lang="zh-CN" altLang="en-US">
                <a:solidFill>
                  <a:schemeClr val="tx1"/>
                </a:solidFill>
              </a:rPr>
              <a:t>鉴权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3067685" y="685165"/>
            <a:ext cx="1684655" cy="4470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会话</a:t>
            </a:r>
            <a:r>
              <a:rPr lang="zh-CN" altLang="en-US">
                <a:solidFill>
                  <a:schemeClr val="tx1"/>
                </a:solidFill>
              </a:rPr>
              <a:t>保持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5144135" y="685165"/>
            <a:ext cx="1684655" cy="4470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星历</a:t>
            </a:r>
            <a:r>
              <a:rPr lang="en-US" altLang="zh-CN">
                <a:solidFill>
                  <a:schemeClr val="tx1"/>
                </a:solidFill>
              </a:rPr>
              <a:t>/</a:t>
            </a:r>
            <a:r>
              <a:rPr lang="zh-CN" altLang="en-US">
                <a:solidFill>
                  <a:schemeClr val="tx1"/>
                </a:solidFill>
              </a:rPr>
              <a:t>拓扑管理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7220585" y="685165"/>
            <a:ext cx="1684655" cy="4470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遥测</a:t>
            </a:r>
            <a:r>
              <a:rPr lang="en-US" altLang="zh-CN">
                <a:solidFill>
                  <a:schemeClr val="tx1"/>
                </a:solidFill>
              </a:rPr>
              <a:t>/</a:t>
            </a:r>
            <a:r>
              <a:rPr lang="zh-CN" altLang="en-US">
                <a:solidFill>
                  <a:schemeClr val="tx1"/>
                </a:solidFill>
              </a:rPr>
              <a:t>遥控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9" name="圆角矩形 28"/>
          <p:cNvSpPr/>
          <p:nvPr/>
        </p:nvSpPr>
        <p:spPr>
          <a:xfrm>
            <a:off x="7791450" y="2653665"/>
            <a:ext cx="952500" cy="7137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500"/>
              <a:t>应用层</a:t>
            </a:r>
            <a:br>
              <a:rPr lang="zh-CN" altLang="en-US" sz="1500"/>
            </a:br>
            <a:r>
              <a:rPr lang="zh-CN" altLang="en-US" sz="1500"/>
              <a:t>任务</a:t>
            </a:r>
            <a:endParaRPr lang="zh-CN" altLang="en-US" sz="1500"/>
          </a:p>
          <a:p>
            <a:pPr algn="ctr"/>
            <a:r>
              <a:rPr lang="zh-CN" altLang="en-US" sz="1500"/>
              <a:t>解码</a:t>
            </a:r>
            <a:endParaRPr lang="zh-CN" altLang="en-US" sz="1500"/>
          </a:p>
        </p:txBody>
      </p:sp>
      <p:cxnSp>
        <p:nvCxnSpPr>
          <p:cNvPr id="30" name="直接箭头连接符 29"/>
          <p:cNvCxnSpPr/>
          <p:nvPr/>
        </p:nvCxnSpPr>
        <p:spPr>
          <a:xfrm>
            <a:off x="2198370" y="3010535"/>
            <a:ext cx="5593080" cy="0"/>
          </a:xfrm>
          <a:prstGeom prst="straightConnector1">
            <a:avLst/>
          </a:prstGeom>
          <a:ln w="25400">
            <a:solidFill>
              <a:srgbClr val="C00000"/>
            </a:solidFill>
            <a:prstDash val="dashDot"/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" name="圆角矩形 30"/>
          <p:cNvSpPr/>
          <p:nvPr/>
        </p:nvSpPr>
        <p:spPr>
          <a:xfrm>
            <a:off x="1255395" y="4725670"/>
            <a:ext cx="952500" cy="7137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500"/>
              <a:t>IP</a:t>
            </a:r>
            <a:r>
              <a:rPr lang="zh-CN" altLang="en-US" sz="1500"/>
              <a:t>传输</a:t>
            </a:r>
            <a:endParaRPr lang="zh-CN" altLang="en-US" sz="1500"/>
          </a:p>
        </p:txBody>
      </p:sp>
      <p:sp>
        <p:nvSpPr>
          <p:cNvPr id="32" name="圆角矩形 31"/>
          <p:cNvSpPr/>
          <p:nvPr/>
        </p:nvSpPr>
        <p:spPr>
          <a:xfrm>
            <a:off x="3497580" y="4725670"/>
            <a:ext cx="952500" cy="7137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500"/>
              <a:t>IP</a:t>
            </a:r>
            <a:r>
              <a:rPr lang="zh-CN" altLang="en-US" sz="1500"/>
              <a:t>路由</a:t>
            </a:r>
            <a:endParaRPr lang="zh-CN" altLang="en-US" sz="1500"/>
          </a:p>
          <a:p>
            <a:pPr algn="ctr"/>
            <a:r>
              <a:rPr lang="zh-CN" altLang="en-US" sz="1500"/>
              <a:t>转发</a:t>
            </a:r>
            <a:endParaRPr lang="zh-CN" altLang="en-US" sz="1500"/>
          </a:p>
        </p:txBody>
      </p:sp>
      <p:sp>
        <p:nvSpPr>
          <p:cNvPr id="34" name="圆角矩形 33"/>
          <p:cNvSpPr/>
          <p:nvPr/>
        </p:nvSpPr>
        <p:spPr>
          <a:xfrm>
            <a:off x="5730240" y="4725670"/>
            <a:ext cx="952500" cy="7137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500"/>
              <a:t>IP</a:t>
            </a:r>
            <a:r>
              <a:rPr lang="zh-CN" altLang="en-US" sz="1500"/>
              <a:t>路由</a:t>
            </a:r>
            <a:endParaRPr lang="zh-CN" altLang="en-US" sz="1500"/>
          </a:p>
          <a:p>
            <a:pPr algn="ctr"/>
            <a:r>
              <a:rPr lang="zh-CN" altLang="en-US" sz="1500"/>
              <a:t>转发</a:t>
            </a:r>
            <a:endParaRPr lang="zh-CN" altLang="en-US" sz="1500"/>
          </a:p>
        </p:txBody>
      </p:sp>
      <p:sp>
        <p:nvSpPr>
          <p:cNvPr id="35" name="圆角矩形 34"/>
          <p:cNvSpPr/>
          <p:nvPr/>
        </p:nvSpPr>
        <p:spPr>
          <a:xfrm>
            <a:off x="1255395" y="5660390"/>
            <a:ext cx="952500" cy="7137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500"/>
              <a:t>接入</a:t>
            </a:r>
            <a:r>
              <a:rPr lang="en-US" altLang="zh-CN" sz="1500"/>
              <a:t>MAC</a:t>
            </a:r>
            <a:endParaRPr lang="en-US" altLang="zh-CN" sz="1500"/>
          </a:p>
          <a:p>
            <a:pPr algn="ctr"/>
            <a:r>
              <a:rPr lang="en-US" altLang="zh-CN" sz="1500"/>
              <a:t>/PHY</a:t>
            </a:r>
            <a:endParaRPr lang="en-US" altLang="zh-CN" sz="1500"/>
          </a:p>
        </p:txBody>
      </p:sp>
      <p:sp>
        <p:nvSpPr>
          <p:cNvPr id="36" name="圆角矩形 35"/>
          <p:cNvSpPr/>
          <p:nvPr/>
        </p:nvSpPr>
        <p:spPr>
          <a:xfrm>
            <a:off x="3497580" y="3807460"/>
            <a:ext cx="952500" cy="7137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500"/>
              <a:t>邻域</a:t>
            </a:r>
            <a:endParaRPr lang="zh-CN" altLang="en-US" sz="1500"/>
          </a:p>
          <a:p>
            <a:pPr algn="ctr"/>
            <a:r>
              <a:rPr lang="zh-CN" altLang="en-US" sz="1500"/>
              <a:t>感知</a:t>
            </a:r>
            <a:endParaRPr lang="zh-CN" altLang="en-US" sz="1500"/>
          </a:p>
        </p:txBody>
      </p:sp>
      <p:sp>
        <p:nvSpPr>
          <p:cNvPr id="37" name="圆角矩形 36"/>
          <p:cNvSpPr/>
          <p:nvPr/>
        </p:nvSpPr>
        <p:spPr>
          <a:xfrm>
            <a:off x="5730240" y="3807460"/>
            <a:ext cx="952500" cy="7137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500"/>
              <a:t>邻域</a:t>
            </a:r>
            <a:endParaRPr lang="zh-CN" altLang="en-US" sz="1500"/>
          </a:p>
          <a:p>
            <a:pPr algn="ctr"/>
            <a:r>
              <a:rPr lang="zh-CN" altLang="en-US" sz="1500"/>
              <a:t>感知</a:t>
            </a:r>
            <a:endParaRPr lang="zh-CN" altLang="en-US" sz="1500"/>
          </a:p>
        </p:txBody>
      </p:sp>
      <p:cxnSp>
        <p:nvCxnSpPr>
          <p:cNvPr id="38" name="直接箭头连接符 37"/>
          <p:cNvCxnSpPr/>
          <p:nvPr/>
        </p:nvCxnSpPr>
        <p:spPr>
          <a:xfrm>
            <a:off x="4440555" y="4168775"/>
            <a:ext cx="1283335" cy="0"/>
          </a:xfrm>
          <a:prstGeom prst="straightConnector1">
            <a:avLst/>
          </a:prstGeom>
          <a:ln w="25400">
            <a:solidFill>
              <a:schemeClr val="accent5">
                <a:lumMod val="50000"/>
              </a:schemeClr>
            </a:solidFill>
            <a:prstDash val="dashDot"/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9" name="直接连接符 38"/>
          <p:cNvCxnSpPr>
            <a:stCxn id="4" idx="2"/>
          </p:cNvCxnSpPr>
          <p:nvPr/>
        </p:nvCxnSpPr>
        <p:spPr>
          <a:xfrm>
            <a:off x="1722755" y="6550025"/>
            <a:ext cx="0" cy="158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直接连接符 39"/>
          <p:cNvCxnSpPr/>
          <p:nvPr/>
        </p:nvCxnSpPr>
        <p:spPr>
          <a:xfrm>
            <a:off x="1729740" y="6701155"/>
            <a:ext cx="229298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1" name="直接连接符 40"/>
          <p:cNvCxnSpPr/>
          <p:nvPr/>
        </p:nvCxnSpPr>
        <p:spPr>
          <a:xfrm>
            <a:off x="4022725" y="6546215"/>
            <a:ext cx="0" cy="158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2" name="文本框 41"/>
          <p:cNvSpPr txBox="1"/>
          <p:nvPr/>
        </p:nvSpPr>
        <p:spPr>
          <a:xfrm>
            <a:off x="2411095" y="6332855"/>
            <a:ext cx="8686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服务</a:t>
            </a:r>
            <a:r>
              <a:rPr lang="zh-CN" altLang="en-US"/>
              <a:t>链</a:t>
            </a:r>
            <a:endParaRPr lang="zh-CN" altLang="en-US"/>
          </a:p>
        </p:txBody>
      </p:sp>
      <p:cxnSp>
        <p:nvCxnSpPr>
          <p:cNvPr id="43" name="直接连接符 42"/>
          <p:cNvCxnSpPr/>
          <p:nvPr/>
        </p:nvCxnSpPr>
        <p:spPr>
          <a:xfrm>
            <a:off x="4440555" y="6555740"/>
            <a:ext cx="0" cy="158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/>
        </p:nvCxnSpPr>
        <p:spPr>
          <a:xfrm>
            <a:off x="4440555" y="6720205"/>
            <a:ext cx="1908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5" name="直接连接符 44"/>
          <p:cNvCxnSpPr/>
          <p:nvPr/>
        </p:nvCxnSpPr>
        <p:spPr>
          <a:xfrm>
            <a:off x="6357620" y="6562725"/>
            <a:ext cx="0" cy="158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6" name="文本框 45"/>
          <p:cNvSpPr txBox="1"/>
          <p:nvPr/>
        </p:nvSpPr>
        <p:spPr>
          <a:xfrm>
            <a:off x="4755515" y="6374130"/>
            <a:ext cx="8686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星间链</a:t>
            </a:r>
            <a:endParaRPr lang="zh-CN" altLang="en-US"/>
          </a:p>
        </p:txBody>
      </p:sp>
      <p:cxnSp>
        <p:nvCxnSpPr>
          <p:cNvPr id="47" name="直接连接符 46"/>
          <p:cNvCxnSpPr/>
          <p:nvPr/>
        </p:nvCxnSpPr>
        <p:spPr>
          <a:xfrm>
            <a:off x="6682740" y="6555740"/>
            <a:ext cx="0" cy="158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" name="直接连接符 47"/>
          <p:cNvCxnSpPr/>
          <p:nvPr/>
        </p:nvCxnSpPr>
        <p:spPr>
          <a:xfrm flipV="1">
            <a:off x="6668770" y="6722745"/>
            <a:ext cx="168021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9" name="直接连接符 48"/>
          <p:cNvCxnSpPr/>
          <p:nvPr/>
        </p:nvCxnSpPr>
        <p:spPr>
          <a:xfrm>
            <a:off x="8345805" y="6555740"/>
            <a:ext cx="0" cy="158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0" name="文本框 49"/>
          <p:cNvSpPr txBox="1"/>
          <p:nvPr/>
        </p:nvSpPr>
        <p:spPr>
          <a:xfrm>
            <a:off x="6828790" y="6332855"/>
            <a:ext cx="8686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馈电链</a:t>
            </a:r>
            <a:endParaRPr lang="zh-CN" altLang="en-US"/>
          </a:p>
        </p:txBody>
      </p:sp>
      <p:sp>
        <p:nvSpPr>
          <p:cNvPr id="51" name="圆角矩形 50"/>
          <p:cNvSpPr/>
          <p:nvPr/>
        </p:nvSpPr>
        <p:spPr>
          <a:xfrm>
            <a:off x="3497580" y="5660390"/>
            <a:ext cx="952500" cy="7137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500"/>
              <a:t>QoS</a:t>
            </a:r>
            <a:r>
              <a:rPr lang="zh-CN" altLang="en-US" sz="1500"/>
              <a:t>映射</a:t>
            </a:r>
            <a:endParaRPr lang="zh-CN" altLang="en-US" sz="1500"/>
          </a:p>
          <a:p>
            <a:pPr algn="ctr"/>
            <a:r>
              <a:rPr lang="en-US" altLang="zh-CN" sz="1500"/>
              <a:t>MAC</a:t>
            </a:r>
            <a:r>
              <a:rPr lang="zh-CN" altLang="en-US" sz="1500"/>
              <a:t>资源</a:t>
            </a:r>
            <a:r>
              <a:rPr lang="zh-CN" altLang="en-US" sz="1500"/>
              <a:t>调度</a:t>
            </a:r>
            <a:endParaRPr lang="zh-CN" altLang="en-US" sz="1500"/>
          </a:p>
        </p:txBody>
      </p:sp>
      <p:sp>
        <p:nvSpPr>
          <p:cNvPr id="53" name="圆角矩形 52"/>
          <p:cNvSpPr/>
          <p:nvPr/>
        </p:nvSpPr>
        <p:spPr>
          <a:xfrm>
            <a:off x="7791450" y="4725670"/>
            <a:ext cx="952500" cy="7137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500"/>
              <a:t>IP</a:t>
            </a:r>
            <a:r>
              <a:rPr lang="zh-CN" altLang="en-US" sz="1500"/>
              <a:t>传输</a:t>
            </a:r>
            <a:r>
              <a:rPr lang="en-US" altLang="zh-CN" sz="1500"/>
              <a:t>/UPF</a:t>
            </a:r>
            <a:endParaRPr lang="en-US" altLang="zh-CN" sz="1500"/>
          </a:p>
        </p:txBody>
      </p:sp>
      <p:cxnSp>
        <p:nvCxnSpPr>
          <p:cNvPr id="54" name="直接箭头连接符 53"/>
          <p:cNvCxnSpPr/>
          <p:nvPr/>
        </p:nvCxnSpPr>
        <p:spPr>
          <a:xfrm>
            <a:off x="4440555" y="5082540"/>
            <a:ext cx="1283335" cy="0"/>
          </a:xfrm>
          <a:prstGeom prst="straightConnector1">
            <a:avLst/>
          </a:prstGeom>
          <a:ln w="25400">
            <a:solidFill>
              <a:schemeClr val="accent5">
                <a:lumMod val="75000"/>
              </a:schemeClr>
            </a:solidFill>
            <a:prstDash val="dashDot"/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" name="直接箭头连接符 54"/>
          <p:cNvCxnSpPr/>
          <p:nvPr/>
        </p:nvCxnSpPr>
        <p:spPr>
          <a:xfrm>
            <a:off x="2214245" y="5082540"/>
            <a:ext cx="1283335" cy="0"/>
          </a:xfrm>
          <a:prstGeom prst="straightConnector1">
            <a:avLst/>
          </a:prstGeom>
          <a:ln w="25400">
            <a:solidFill>
              <a:schemeClr val="accent5">
                <a:lumMod val="75000"/>
              </a:schemeClr>
            </a:solidFill>
            <a:prstDash val="dashDot"/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" name="直接箭头连接符 55"/>
          <p:cNvCxnSpPr/>
          <p:nvPr/>
        </p:nvCxnSpPr>
        <p:spPr>
          <a:xfrm flipV="1">
            <a:off x="6668770" y="5079365"/>
            <a:ext cx="1124585" cy="0"/>
          </a:xfrm>
          <a:prstGeom prst="straightConnector1">
            <a:avLst/>
          </a:prstGeom>
          <a:ln w="25400">
            <a:solidFill>
              <a:schemeClr val="accent5">
                <a:lumMod val="75000"/>
              </a:schemeClr>
            </a:solidFill>
            <a:prstDash val="dashDot"/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直接箭头连接符 56"/>
          <p:cNvCxnSpPr/>
          <p:nvPr/>
        </p:nvCxnSpPr>
        <p:spPr>
          <a:xfrm>
            <a:off x="2214245" y="6017260"/>
            <a:ext cx="1283335" cy="0"/>
          </a:xfrm>
          <a:prstGeom prst="straightConnector1">
            <a:avLst/>
          </a:prstGeom>
          <a:ln w="25400">
            <a:solidFill>
              <a:schemeClr val="accent2">
                <a:lumMod val="75000"/>
              </a:schemeClr>
            </a:solidFill>
            <a:prstDash val="dashDot"/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" name="圆角矩形 1"/>
          <p:cNvSpPr/>
          <p:nvPr/>
        </p:nvSpPr>
        <p:spPr>
          <a:xfrm>
            <a:off x="5730240" y="5660390"/>
            <a:ext cx="952500" cy="7137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500"/>
              <a:t>QoS</a:t>
            </a:r>
            <a:r>
              <a:rPr lang="zh-CN" altLang="en-US" sz="1500"/>
              <a:t>映射</a:t>
            </a:r>
            <a:endParaRPr lang="zh-CN" altLang="en-US" sz="1500"/>
          </a:p>
          <a:p>
            <a:pPr algn="ctr"/>
            <a:r>
              <a:rPr lang="en-US" altLang="zh-CN" sz="1500"/>
              <a:t>MAC</a:t>
            </a:r>
            <a:r>
              <a:rPr lang="zh-CN" altLang="en-US" sz="1500"/>
              <a:t>资源</a:t>
            </a:r>
            <a:r>
              <a:rPr lang="zh-CN" altLang="en-US" sz="1500"/>
              <a:t>调度</a:t>
            </a:r>
            <a:endParaRPr lang="zh-CN" altLang="en-US" sz="1500"/>
          </a:p>
        </p:txBody>
      </p:sp>
      <p:sp>
        <p:nvSpPr>
          <p:cNvPr id="3" name="圆角矩形 2"/>
          <p:cNvSpPr/>
          <p:nvPr/>
        </p:nvSpPr>
        <p:spPr>
          <a:xfrm>
            <a:off x="1245870" y="3807460"/>
            <a:ext cx="952500" cy="7137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500"/>
              <a:t>邻域</a:t>
            </a:r>
            <a:endParaRPr lang="zh-CN" altLang="en-US" sz="1500"/>
          </a:p>
          <a:p>
            <a:pPr algn="ctr"/>
            <a:r>
              <a:rPr lang="zh-CN" altLang="en-US" sz="1500"/>
              <a:t>感知</a:t>
            </a:r>
            <a:endParaRPr lang="zh-CN" altLang="en-US" sz="1500"/>
          </a:p>
        </p:txBody>
      </p:sp>
      <p:cxnSp>
        <p:nvCxnSpPr>
          <p:cNvPr id="11" name="直接连接符 10"/>
          <p:cNvCxnSpPr/>
          <p:nvPr/>
        </p:nvCxnSpPr>
        <p:spPr>
          <a:xfrm>
            <a:off x="1722755" y="4521200"/>
            <a:ext cx="0" cy="21600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3973830" y="4521200"/>
            <a:ext cx="0" cy="21600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6214110" y="4521200"/>
            <a:ext cx="0" cy="21600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</Words>
  <Application>WPS 演示</Application>
  <PresentationFormat>宽屏</PresentationFormat>
  <Paragraphs>64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郎修璞</dc:creator>
  <cp:lastModifiedBy>Lawyer He</cp:lastModifiedBy>
  <cp:revision>93</cp:revision>
  <dcterms:created xsi:type="dcterms:W3CDTF">2023-08-09T12:44:00Z</dcterms:created>
  <dcterms:modified xsi:type="dcterms:W3CDTF">2026-07-11T03:03:02Z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3360588FA6E44AE29E4384D87E7FDB3E_12</vt:lpwstr>
  </property>
</Properties>
</file>