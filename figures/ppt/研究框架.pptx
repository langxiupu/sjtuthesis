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1" userDrawn="1">
          <p15:clr>
            <a:srgbClr val="A4A3A4"/>
          </p15:clr>
        </p15:guide>
        <p15:guide id="2" pos="38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700D"/>
    <a:srgbClr val="31859B"/>
    <a:srgbClr val="9DBB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1"/>
        <p:guide pos="387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86360" y="184150"/>
            <a:ext cx="1802130" cy="553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绪论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（</a:t>
            </a:r>
            <a:r>
              <a:rPr lang="zh-CN" altLang="en-US" b="1">
                <a:solidFill>
                  <a:schemeClr val="tx1"/>
                </a:solidFill>
              </a:rPr>
              <a:t>第一章）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2019935" y="184150"/>
            <a:ext cx="7641590" cy="553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27300" y="300355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研究背景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86360" y="807720"/>
            <a:ext cx="1823720" cy="536384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107950" y="6239510"/>
            <a:ext cx="1802130" cy="57213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总结</a:t>
            </a:r>
            <a:r>
              <a:rPr lang="zh-CN" altLang="en-US" b="1">
                <a:solidFill>
                  <a:schemeClr val="tx1"/>
                </a:solidFill>
              </a:rPr>
              <a:t>展望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（</a:t>
            </a:r>
            <a:r>
              <a:rPr lang="zh-CN" altLang="en-US" b="1">
                <a:solidFill>
                  <a:schemeClr val="tx1"/>
                </a:solidFill>
              </a:rPr>
              <a:t>第六章）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2042160" y="6239510"/>
            <a:ext cx="7641590" cy="52768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739775" y="2397125"/>
            <a:ext cx="51752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问</a:t>
            </a:r>
            <a:endParaRPr lang="zh-CN" altLang="en-US" b="1"/>
          </a:p>
          <a:p>
            <a:r>
              <a:rPr lang="zh-CN" altLang="en-US" b="1"/>
              <a:t>题</a:t>
            </a:r>
            <a:endParaRPr lang="zh-CN" altLang="en-US" b="1"/>
          </a:p>
          <a:p>
            <a:r>
              <a:rPr lang="zh-CN" altLang="en-US" b="1"/>
              <a:t>与</a:t>
            </a:r>
            <a:endParaRPr lang="zh-CN" altLang="en-US" b="1"/>
          </a:p>
          <a:p>
            <a:r>
              <a:rPr lang="zh-CN" altLang="en-US" b="1"/>
              <a:t>解</a:t>
            </a:r>
            <a:endParaRPr lang="zh-CN" altLang="en-US" b="1"/>
          </a:p>
          <a:p>
            <a:r>
              <a:rPr lang="zh-CN" altLang="en-US" b="1"/>
              <a:t>决</a:t>
            </a:r>
            <a:endParaRPr lang="zh-CN" altLang="en-US" b="1"/>
          </a:p>
          <a:p>
            <a:r>
              <a:rPr lang="zh-CN" altLang="en-US" b="1"/>
              <a:t>方</a:t>
            </a:r>
            <a:endParaRPr lang="zh-CN" altLang="en-US" b="1"/>
          </a:p>
          <a:p>
            <a:r>
              <a:rPr lang="zh-CN" altLang="en-US" b="1"/>
              <a:t>案</a:t>
            </a:r>
            <a:endParaRPr lang="zh-CN" altLang="en-US" b="1"/>
          </a:p>
        </p:txBody>
      </p:sp>
      <p:sp>
        <p:nvSpPr>
          <p:cNvPr id="42" name="矩形 41"/>
          <p:cNvSpPr/>
          <p:nvPr/>
        </p:nvSpPr>
        <p:spPr>
          <a:xfrm>
            <a:off x="2275205" y="6360795"/>
            <a:ext cx="3318510" cy="35179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全文总结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6226810" y="6354445"/>
            <a:ext cx="3318510" cy="3581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未来展望</a:t>
            </a:r>
            <a:endParaRPr lang="zh-CN" altLang="en-US" sz="1200">
              <a:solidFill>
                <a:schemeClr val="tx1"/>
              </a:solidFill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2042160" y="756920"/>
            <a:ext cx="7641590" cy="2230120"/>
            <a:chOff x="4961" y="1100"/>
            <a:chExt cx="12034" cy="3512"/>
          </a:xfrm>
        </p:grpSpPr>
        <p:sp>
          <p:nvSpPr>
            <p:cNvPr id="16" name="圆角矩形 15"/>
            <p:cNvSpPr/>
            <p:nvPr/>
          </p:nvSpPr>
          <p:spPr>
            <a:xfrm>
              <a:off x="4961" y="1159"/>
              <a:ext cx="12034" cy="2047"/>
            </a:xfrm>
            <a:prstGeom prst="roundRect">
              <a:avLst>
                <a:gd name="adj" fmla="val 7642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2" name="组合 31"/>
            <p:cNvGrpSpPr/>
            <p:nvPr/>
          </p:nvGrpSpPr>
          <p:grpSpPr>
            <a:xfrm>
              <a:off x="5057" y="1100"/>
              <a:ext cx="1116" cy="386"/>
              <a:chOff x="7321" y="4988"/>
              <a:chExt cx="1116" cy="386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7485" y="4988"/>
                <a:ext cx="952" cy="3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000" b="1"/>
                  <a:t>目标</a:t>
                </a:r>
                <a:endParaRPr lang="zh-CN" altLang="en-US" sz="1000" b="1"/>
              </a:p>
            </p:txBody>
          </p:sp>
          <p:sp>
            <p:nvSpPr>
              <p:cNvPr id="20" name="流程图: 延期 19"/>
              <p:cNvSpPr/>
              <p:nvPr/>
            </p:nvSpPr>
            <p:spPr>
              <a:xfrm rot="5400000">
                <a:off x="7706" y="4684"/>
                <a:ext cx="250" cy="1020"/>
              </a:xfrm>
              <a:prstGeom prst="flowChartDelay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22" name="矩形 21"/>
            <p:cNvSpPr/>
            <p:nvPr/>
          </p:nvSpPr>
          <p:spPr>
            <a:xfrm>
              <a:off x="9609" y="2220"/>
              <a:ext cx="2752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跨层无线资源调度</a:t>
              </a:r>
              <a:r>
                <a:rPr lang="zh-CN" altLang="en-US" sz="1200">
                  <a:solidFill>
                    <a:schemeClr val="tx1"/>
                  </a:solidFill>
                </a:rPr>
                <a:t>效率</a:t>
              </a:r>
              <a:endParaRPr lang="zh-CN" altLang="en-US" sz="120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b="1">
                  <a:solidFill>
                    <a:schemeClr val="tx1"/>
                  </a:solidFill>
                </a:rPr>
                <a:t>用户级</a:t>
              </a:r>
              <a:r>
                <a:rPr lang="en-US" altLang="zh-CN" sz="1200" b="1">
                  <a:solidFill>
                    <a:schemeClr val="tx1"/>
                  </a:solidFill>
                </a:rPr>
                <a:t>QoS</a:t>
              </a:r>
              <a:r>
                <a:rPr lang="zh-CN" altLang="en-US" sz="1200" b="1">
                  <a:solidFill>
                    <a:schemeClr val="tx1"/>
                  </a:solidFill>
                </a:rPr>
                <a:t>保障</a:t>
              </a:r>
              <a:endParaRPr lang="zh-CN" alt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5796" y="2220"/>
              <a:ext cx="2752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接入</a:t>
              </a:r>
              <a:r>
                <a:rPr lang="zh-CN" altLang="en-US" sz="1200">
                  <a:solidFill>
                    <a:schemeClr val="tx1"/>
                  </a:solidFill>
                </a:rPr>
                <a:t>可靠性</a:t>
              </a:r>
              <a:br>
                <a:rPr lang="zh-CN" altLang="en-US" sz="1200">
                  <a:solidFill>
                    <a:schemeClr val="tx1"/>
                  </a:solidFill>
                </a:rPr>
              </a:br>
              <a:r>
                <a:rPr lang="zh-CN" altLang="en-US" sz="1200" b="1">
                  <a:solidFill>
                    <a:schemeClr val="tx1"/>
                  </a:solidFill>
                </a:rPr>
                <a:t>公平连续接入</a:t>
              </a:r>
              <a:endParaRPr lang="zh-CN" alt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25" name="矩形 24"/>
            <p:cNvSpPr/>
            <p:nvPr/>
          </p:nvSpPr>
          <p:spPr>
            <a:xfrm>
              <a:off x="13573" y="2220"/>
              <a:ext cx="2752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语义编码</a:t>
              </a:r>
              <a:r>
                <a:rPr lang="en-US" altLang="zh-CN" sz="1200">
                  <a:solidFill>
                    <a:schemeClr val="tx1"/>
                  </a:solidFill>
                </a:rPr>
                <a:t>/</a:t>
              </a:r>
              <a:r>
                <a:rPr lang="zh-CN" altLang="en-US" sz="1200">
                  <a:solidFill>
                    <a:schemeClr val="tx1"/>
                  </a:solidFill>
                </a:rPr>
                <a:t>路由</a:t>
              </a:r>
              <a:r>
                <a:rPr lang="zh-CN" altLang="en-US" sz="1200">
                  <a:solidFill>
                    <a:schemeClr val="tx1"/>
                  </a:solidFill>
                </a:rPr>
                <a:t>可靠性</a:t>
              </a:r>
              <a:endParaRPr lang="zh-CN" altLang="en-US" sz="120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b="1">
                  <a:solidFill>
                    <a:schemeClr val="tx1"/>
                  </a:solidFill>
                </a:rPr>
                <a:t>低开销、高可靠传输</a:t>
              </a:r>
              <a:endParaRPr lang="zh-CN" alt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26" name="圆角矩形 25"/>
            <p:cNvSpPr/>
            <p:nvPr/>
          </p:nvSpPr>
          <p:spPr>
            <a:xfrm>
              <a:off x="5432" y="2117"/>
              <a:ext cx="7140" cy="1019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548" y="2720"/>
              <a:ext cx="149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接入层</a:t>
              </a:r>
              <a:endParaRPr lang="zh-CN" altLang="en-US" sz="1400"/>
            </a:p>
          </p:txBody>
        </p:sp>
        <p:sp>
          <p:nvSpPr>
            <p:cNvPr id="29" name="圆角矩形 28"/>
            <p:cNvSpPr/>
            <p:nvPr/>
          </p:nvSpPr>
          <p:spPr>
            <a:xfrm>
              <a:off x="4961" y="3394"/>
              <a:ext cx="12034" cy="1218"/>
            </a:xfrm>
            <a:prstGeom prst="roundRect">
              <a:avLst>
                <a:gd name="adj" fmla="val 7642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5153" y="3367"/>
              <a:ext cx="952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000"/>
                <a:t>  </a:t>
              </a:r>
              <a:r>
                <a:rPr lang="zh-CN" altLang="en-US" sz="1000" b="1"/>
                <a:t>挑战</a:t>
              </a:r>
              <a:endParaRPr lang="zh-CN" altLang="en-US" sz="1000" b="1"/>
            </a:p>
          </p:txBody>
        </p:sp>
        <p:sp>
          <p:nvSpPr>
            <p:cNvPr id="31" name="流程图: 延期 30"/>
            <p:cNvSpPr/>
            <p:nvPr/>
          </p:nvSpPr>
          <p:spPr>
            <a:xfrm rot="5400000">
              <a:off x="5498" y="3048"/>
              <a:ext cx="250" cy="1020"/>
            </a:xfrm>
            <a:prstGeom prst="flowChartDelay">
              <a:avLst/>
            </a:prstGeom>
            <a:noFill/>
            <a:ln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3" name="矩形 32"/>
            <p:cNvSpPr/>
            <p:nvPr/>
          </p:nvSpPr>
          <p:spPr>
            <a:xfrm>
              <a:off x="5615" y="3801"/>
              <a:ext cx="3403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去中心</a:t>
              </a:r>
              <a:r>
                <a:rPr lang="zh-CN" altLang="en-US" sz="1200">
                  <a:solidFill>
                    <a:schemeClr val="tx1"/>
                  </a:solidFill>
                </a:rPr>
                <a:t>管控下</a:t>
              </a:r>
              <a:endParaRPr lang="zh-CN" altLang="en-US" sz="120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b="1">
                  <a:solidFill>
                    <a:srgbClr val="C00000"/>
                  </a:solidFill>
                </a:rPr>
                <a:t>系统公平性</a:t>
              </a:r>
              <a:r>
                <a:rPr lang="zh-CN" altLang="en-US" sz="1200">
                  <a:solidFill>
                    <a:schemeClr val="tx1"/>
                  </a:solidFill>
                </a:rPr>
                <a:t>失效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4" name="圆角矩形 33"/>
            <p:cNvSpPr/>
            <p:nvPr/>
          </p:nvSpPr>
          <p:spPr>
            <a:xfrm>
              <a:off x="12707" y="2105"/>
              <a:ext cx="3920" cy="1019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2589" y="2203"/>
              <a:ext cx="1193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网络</a:t>
              </a:r>
              <a:r>
                <a:rPr lang="en-US" altLang="zh-CN" sz="1400"/>
                <a:t>/</a:t>
              </a:r>
              <a:endParaRPr lang="en-US" altLang="zh-CN" sz="1400"/>
            </a:p>
            <a:p>
              <a:r>
                <a:rPr lang="zh-CN" altLang="en-US" sz="1400"/>
                <a:t>应用层</a:t>
              </a:r>
              <a:endParaRPr lang="zh-CN" altLang="en-US" sz="1400"/>
            </a:p>
          </p:txBody>
        </p:sp>
        <p:sp>
          <p:nvSpPr>
            <p:cNvPr id="36" name="矩形 35"/>
            <p:cNvSpPr/>
            <p:nvPr/>
          </p:nvSpPr>
          <p:spPr>
            <a:xfrm>
              <a:off x="9367" y="3801"/>
              <a:ext cx="3403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非平稳与部分可观测系统下</a:t>
              </a:r>
              <a:r>
                <a:rPr lang="zh-CN" altLang="en-US" sz="1200" b="1">
                  <a:solidFill>
                    <a:srgbClr val="C00000"/>
                  </a:solidFill>
                </a:rPr>
                <a:t>用户级</a:t>
              </a:r>
              <a:r>
                <a:rPr lang="en-US" altLang="zh-CN" sz="1200" b="1">
                  <a:solidFill>
                    <a:srgbClr val="C00000"/>
                  </a:solidFill>
                </a:rPr>
                <a:t>QoS</a:t>
              </a:r>
              <a:r>
                <a:rPr lang="zh-CN" altLang="en-US" sz="1200">
                  <a:solidFill>
                    <a:schemeClr val="tx1"/>
                  </a:solidFill>
                </a:rPr>
                <a:t>难以</a:t>
              </a:r>
              <a:r>
                <a:rPr lang="zh-CN" altLang="en-US" sz="1200">
                  <a:solidFill>
                    <a:schemeClr val="tx1"/>
                  </a:solidFill>
                </a:rPr>
                <a:t>保障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13119" y="3801"/>
              <a:ext cx="3477" cy="70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200">
                  <a:solidFill>
                    <a:schemeClr val="tx1"/>
                  </a:solidFill>
                </a:rPr>
                <a:t>无效重传与时延累积</a:t>
              </a:r>
              <a:r>
                <a:rPr lang="zh-CN" altLang="en-US" sz="1200">
                  <a:solidFill>
                    <a:schemeClr val="tx1"/>
                  </a:solidFill>
                </a:rPr>
                <a:t>下</a:t>
              </a:r>
              <a:endParaRPr lang="zh-CN" altLang="en-US" sz="120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b="1">
                  <a:solidFill>
                    <a:srgbClr val="C00000"/>
                  </a:solidFill>
                </a:rPr>
                <a:t>信息完整度</a:t>
              </a:r>
              <a:r>
                <a:rPr lang="zh-CN" altLang="en-US" sz="1200">
                  <a:solidFill>
                    <a:schemeClr val="tx1"/>
                  </a:solidFill>
                </a:rPr>
                <a:t>难以</a:t>
              </a:r>
              <a:r>
                <a:rPr lang="zh-CN" altLang="en-US" sz="1200">
                  <a:solidFill>
                    <a:schemeClr val="tx1"/>
                  </a:solidFill>
                </a:rPr>
                <a:t>保障</a:t>
              </a:r>
              <a:endParaRPr lang="zh-CN" altLang="en-US" sz="1200">
                <a:solidFill>
                  <a:schemeClr val="tx1"/>
                </a:solidFill>
              </a:endParaRPr>
            </a:p>
          </p:txBody>
        </p:sp>
        <p:cxnSp>
          <p:nvCxnSpPr>
            <p:cNvPr id="44" name="直接箭头连接符 43"/>
            <p:cNvCxnSpPr/>
            <p:nvPr/>
          </p:nvCxnSpPr>
          <p:spPr>
            <a:xfrm>
              <a:off x="7327" y="2928"/>
              <a:ext cx="0" cy="847"/>
            </a:xfrm>
            <a:prstGeom prst="straightConnector1">
              <a:avLst/>
            </a:prstGeom>
            <a:ln w="19050">
              <a:solidFill>
                <a:schemeClr val="tx2">
                  <a:lumMod val="60000"/>
                  <a:lumOff val="40000"/>
                </a:schemeClr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5" name="圆角矩形 44"/>
          <p:cNvSpPr/>
          <p:nvPr/>
        </p:nvSpPr>
        <p:spPr>
          <a:xfrm>
            <a:off x="2042160" y="3108325"/>
            <a:ext cx="7641590" cy="3063240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6" name="流程图: 延期 45"/>
          <p:cNvSpPr/>
          <p:nvPr/>
        </p:nvSpPr>
        <p:spPr>
          <a:xfrm rot="5400000">
            <a:off x="2383155" y="2901950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2132330" y="3090545"/>
            <a:ext cx="69405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 b="1"/>
              <a:t>技术</a:t>
            </a:r>
            <a:r>
              <a:rPr lang="zh-CN" altLang="en-US" sz="1000" b="1"/>
              <a:t>方案</a:t>
            </a:r>
            <a:endParaRPr lang="zh-CN" altLang="en-US" sz="1000" b="1"/>
          </a:p>
        </p:txBody>
      </p:sp>
      <p:sp>
        <p:nvSpPr>
          <p:cNvPr id="49" name="圆角矩形 48"/>
          <p:cNvSpPr/>
          <p:nvPr/>
        </p:nvSpPr>
        <p:spPr>
          <a:xfrm>
            <a:off x="2164715" y="3350260"/>
            <a:ext cx="2375535" cy="2769870"/>
          </a:xfrm>
          <a:prstGeom prst="roundRect">
            <a:avLst>
              <a:gd name="adj" fmla="val 6084"/>
            </a:avLst>
          </a:prstGeom>
          <a:solidFill>
            <a:srgbClr val="9DBB61">
              <a:alpha val="77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2191385" y="3377565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/>
              <a:t>面向公平性保障的分布式用户协作切换机制（第三章）</a:t>
            </a:r>
            <a:endParaRPr lang="zh-CN" altLang="en-US" sz="1200" b="1"/>
          </a:p>
        </p:txBody>
      </p:sp>
      <p:sp>
        <p:nvSpPr>
          <p:cNvPr id="51" name="矩形 50"/>
          <p:cNvSpPr/>
          <p:nvPr/>
        </p:nvSpPr>
        <p:spPr>
          <a:xfrm>
            <a:off x="4262120" y="281305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</a:t>
            </a:r>
            <a:r>
              <a:rPr lang="zh-CN" altLang="en-US" sz="1200">
                <a:solidFill>
                  <a:schemeClr val="tx1"/>
                </a:solidFill>
              </a:rPr>
              <a:t>现状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5996940" y="281305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核心</a:t>
            </a:r>
            <a:r>
              <a:rPr lang="zh-CN" altLang="en-US" sz="1200">
                <a:solidFill>
                  <a:schemeClr val="tx1"/>
                </a:solidFill>
              </a:rPr>
              <a:t>挑战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731760" y="299085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</a:t>
            </a:r>
            <a:r>
              <a:rPr lang="zh-CN" altLang="en-US" sz="1200">
                <a:solidFill>
                  <a:schemeClr val="tx1"/>
                </a:solidFill>
              </a:rPr>
              <a:t>贡献</a:t>
            </a:r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915660" y="1924685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/>
          <p:nvPr/>
        </p:nvCxnSpPr>
        <p:spPr>
          <a:xfrm>
            <a:off x="8385175" y="1924685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3544570" y="2919095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圆角矩形 59"/>
          <p:cNvSpPr/>
          <p:nvPr/>
        </p:nvSpPr>
        <p:spPr>
          <a:xfrm>
            <a:off x="4667250" y="3354070"/>
            <a:ext cx="2375535" cy="2769870"/>
          </a:xfrm>
          <a:prstGeom prst="roundRect">
            <a:avLst>
              <a:gd name="adj" fmla="val 6084"/>
            </a:avLst>
          </a:prstGeom>
          <a:solidFill>
            <a:srgbClr val="31859B">
              <a:alpha val="61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圆角矩形 60"/>
          <p:cNvSpPr/>
          <p:nvPr/>
        </p:nvSpPr>
        <p:spPr>
          <a:xfrm>
            <a:off x="7169785" y="3331845"/>
            <a:ext cx="2375535" cy="2769870"/>
          </a:xfrm>
          <a:prstGeom prst="roundRect">
            <a:avLst>
              <a:gd name="adj" fmla="val 6084"/>
            </a:avLst>
          </a:prstGeom>
          <a:solidFill>
            <a:srgbClr val="EA700D">
              <a:alpha val="61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4733290" y="3377565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/>
              <a:t>用户级</a:t>
            </a:r>
            <a:r>
              <a:rPr lang="en-US" altLang="zh-CN" sz="1200" b="1"/>
              <a:t>QoS</a:t>
            </a:r>
            <a:r>
              <a:rPr lang="zh-CN" altLang="en-US" sz="1200" b="1"/>
              <a:t>保障的网络切片与无线资源优化</a:t>
            </a:r>
            <a:r>
              <a:rPr lang="zh-CN" altLang="en-US" sz="1200" b="1"/>
              <a:t>机制（第</a:t>
            </a:r>
            <a:r>
              <a:rPr lang="zh-CN" altLang="en-US" sz="1200" b="1"/>
              <a:t>四章）</a:t>
            </a:r>
            <a:endParaRPr lang="zh-CN" altLang="en-US" sz="1200" b="1"/>
          </a:p>
        </p:txBody>
      </p:sp>
      <p:sp>
        <p:nvSpPr>
          <p:cNvPr id="3" name="文本框 2"/>
          <p:cNvSpPr txBox="1"/>
          <p:nvPr/>
        </p:nvSpPr>
        <p:spPr>
          <a:xfrm>
            <a:off x="7180580" y="3377565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/>
              <a:t>任务驱动的语义</a:t>
            </a:r>
            <a:r>
              <a:rPr lang="en-US" altLang="zh-CN" sz="1200" b="1"/>
              <a:t>HARQ</a:t>
            </a:r>
            <a:r>
              <a:rPr lang="zh-CN" altLang="en-US" sz="1200" b="1"/>
              <a:t>与路由协同优化机制（第</a:t>
            </a:r>
            <a:r>
              <a:rPr lang="zh-CN" altLang="en-US" sz="1200" b="1"/>
              <a:t>五章）</a:t>
            </a:r>
            <a:endParaRPr lang="zh-CN" altLang="en-US" sz="1200" b="1"/>
          </a:p>
        </p:txBody>
      </p:sp>
      <p:sp>
        <p:nvSpPr>
          <p:cNvPr id="8" name="圆角矩形 7"/>
          <p:cNvSpPr/>
          <p:nvPr/>
        </p:nvSpPr>
        <p:spPr>
          <a:xfrm>
            <a:off x="4857115" y="3866515"/>
            <a:ext cx="1969770" cy="42799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914900" y="3869055"/>
            <a:ext cx="187515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业务</a:t>
            </a:r>
            <a:r>
              <a:rPr lang="en-US" altLang="zh-CN" sz="1000"/>
              <a:t>QoS</a:t>
            </a:r>
            <a:r>
              <a:rPr lang="zh-CN" altLang="en-US" sz="1000"/>
              <a:t>约束下</a:t>
            </a:r>
            <a:r>
              <a:rPr lang="zh-CN" altLang="en-US" sz="1000"/>
              <a:t>的</a:t>
            </a:r>
            <a:endParaRPr lang="zh-CN" altLang="en-US" sz="1000"/>
          </a:p>
          <a:p>
            <a:pPr algn="ctr"/>
            <a:r>
              <a:rPr lang="zh-CN" altLang="en-US" sz="1000"/>
              <a:t>粗细粒度</a:t>
            </a:r>
            <a:r>
              <a:rPr lang="zh-CN" altLang="en-US" sz="1000"/>
              <a:t>跨层资源调度</a:t>
            </a:r>
            <a:r>
              <a:rPr lang="zh-CN" altLang="en-US" sz="1000"/>
              <a:t>模型</a:t>
            </a:r>
            <a:endParaRPr lang="zh-CN" altLang="en-US" sz="1000"/>
          </a:p>
        </p:txBody>
      </p:sp>
      <p:sp>
        <p:nvSpPr>
          <p:cNvPr id="17" name="圆角矩形 16"/>
          <p:cNvSpPr/>
          <p:nvPr/>
        </p:nvSpPr>
        <p:spPr>
          <a:xfrm>
            <a:off x="4857115" y="4561205"/>
            <a:ext cx="1969770" cy="1540510"/>
          </a:xfrm>
          <a:prstGeom prst="roundRect">
            <a:avLst>
              <a:gd name="adj" fmla="val 8389"/>
            </a:avLst>
          </a:prstGeom>
          <a:solidFill>
            <a:schemeClr val="accent5">
              <a:lumMod val="20000"/>
              <a:lumOff val="80000"/>
              <a:alpha val="59000"/>
            </a:schemeClr>
          </a:solidFill>
          <a:ln w="158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4944110" y="4666615"/>
            <a:ext cx="1796415" cy="42799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1" name="直接箭头连接符 20"/>
          <p:cNvCxnSpPr/>
          <p:nvPr/>
        </p:nvCxnSpPr>
        <p:spPr>
          <a:xfrm>
            <a:off x="5854700" y="4294505"/>
            <a:ext cx="0" cy="248920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5488305" y="4265295"/>
            <a:ext cx="86296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分层</a:t>
            </a:r>
            <a:r>
              <a:rPr lang="en-US" altLang="zh-CN" sz="1000">
                <a:solidFill>
                  <a:schemeClr val="bg1"/>
                </a:solidFill>
              </a:rPr>
              <a:t>  </a:t>
            </a:r>
            <a:r>
              <a:rPr lang="zh-CN" altLang="en-US" sz="1000">
                <a:solidFill>
                  <a:schemeClr val="bg1"/>
                </a:solidFill>
              </a:rPr>
              <a:t>解耦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4993640" y="4694555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基于世界模型</a:t>
            </a:r>
            <a:r>
              <a:rPr lang="zh-CN" altLang="en-US" sz="1000"/>
              <a:t>的</a:t>
            </a:r>
            <a:endParaRPr lang="zh-CN" altLang="en-US" sz="1000"/>
          </a:p>
          <a:p>
            <a:pPr algn="ctr"/>
            <a:r>
              <a:rPr lang="zh-CN" altLang="en-US" sz="1000"/>
              <a:t>带宽</a:t>
            </a:r>
            <a:r>
              <a:rPr lang="en-US" altLang="zh-CN" sz="1000"/>
              <a:t>-</a:t>
            </a:r>
            <a:r>
              <a:rPr lang="zh-CN" altLang="en-US" sz="1000"/>
              <a:t>功率联合分配</a:t>
            </a:r>
            <a:r>
              <a:rPr lang="zh-CN" altLang="en-US" sz="1000"/>
              <a:t>算法</a:t>
            </a:r>
            <a:endParaRPr lang="zh-CN" altLang="en-US" sz="1000"/>
          </a:p>
        </p:txBody>
      </p:sp>
      <p:sp>
        <p:nvSpPr>
          <p:cNvPr id="40" name="圆角矩形 39"/>
          <p:cNvSpPr/>
          <p:nvPr/>
        </p:nvSpPr>
        <p:spPr>
          <a:xfrm>
            <a:off x="4993640" y="5521960"/>
            <a:ext cx="1796415" cy="42799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任意多边形 61"/>
          <p:cNvSpPr/>
          <p:nvPr/>
        </p:nvSpPr>
        <p:spPr>
          <a:xfrm>
            <a:off x="5593715" y="5093335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任意多边形 62"/>
          <p:cNvSpPr/>
          <p:nvPr/>
        </p:nvSpPr>
        <p:spPr>
          <a:xfrm flipH="1" flipV="1">
            <a:off x="5859780" y="5094605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5634355" y="5108575"/>
            <a:ext cx="459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共识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一致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5200650" y="5153660"/>
            <a:ext cx="45910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预测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097270" y="5153660"/>
            <a:ext cx="45910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反馈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5046345" y="5551170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面向业务</a:t>
            </a:r>
            <a:r>
              <a:rPr lang="en-US" altLang="zh-CN" sz="1000"/>
              <a:t>QoS</a:t>
            </a:r>
            <a:r>
              <a:rPr lang="zh-CN" altLang="en-US" sz="1000"/>
              <a:t>长期保证</a:t>
            </a:r>
            <a:r>
              <a:rPr lang="zh-CN" altLang="en-US" sz="1000"/>
              <a:t>的</a:t>
            </a:r>
            <a:endParaRPr lang="zh-CN" altLang="en-US" sz="1000"/>
          </a:p>
          <a:p>
            <a:pPr algn="ctr"/>
            <a:r>
              <a:rPr lang="zh-CN" altLang="en-US" sz="1000"/>
              <a:t>无线资源</a:t>
            </a:r>
            <a:r>
              <a:rPr lang="en-US" altLang="zh-CN" sz="1000"/>
              <a:t>-</a:t>
            </a:r>
            <a:r>
              <a:rPr lang="zh-CN" altLang="en-US" sz="1000"/>
              <a:t>用户匹配</a:t>
            </a:r>
            <a:r>
              <a:rPr lang="zh-CN" altLang="en-US" sz="1000"/>
              <a:t>算法</a:t>
            </a:r>
            <a:endParaRPr lang="zh-CN" altLang="en-US" sz="1000"/>
          </a:p>
        </p:txBody>
      </p:sp>
      <p:sp>
        <p:nvSpPr>
          <p:cNvPr id="69" name="圆角矩形 68"/>
          <p:cNvSpPr/>
          <p:nvPr/>
        </p:nvSpPr>
        <p:spPr>
          <a:xfrm>
            <a:off x="7378065" y="3866515"/>
            <a:ext cx="1969770" cy="427990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7510780" y="3866515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反馈驱动的非对称任务感知</a:t>
            </a:r>
            <a:r>
              <a:rPr lang="zh-CN" altLang="en-US" sz="1000"/>
              <a:t>多跳语义传输模型</a:t>
            </a:r>
            <a:endParaRPr lang="zh-CN" altLang="en-US" sz="1000"/>
          </a:p>
        </p:txBody>
      </p:sp>
      <p:sp>
        <p:nvSpPr>
          <p:cNvPr id="70" name="圆角矩形 69"/>
          <p:cNvSpPr/>
          <p:nvPr/>
        </p:nvSpPr>
        <p:spPr>
          <a:xfrm>
            <a:off x="7378065" y="4671060"/>
            <a:ext cx="1673860" cy="427990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1" name="圆角矩形 70"/>
          <p:cNvSpPr/>
          <p:nvPr/>
        </p:nvSpPr>
        <p:spPr>
          <a:xfrm>
            <a:off x="7643495" y="5497830"/>
            <a:ext cx="1673860" cy="427990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72" name="直接箭头连接符 71"/>
          <p:cNvCxnSpPr/>
          <p:nvPr/>
        </p:nvCxnSpPr>
        <p:spPr>
          <a:xfrm>
            <a:off x="7753985" y="4312285"/>
            <a:ext cx="0" cy="36004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3" name="文本框 72"/>
          <p:cNvSpPr txBox="1"/>
          <p:nvPr/>
        </p:nvSpPr>
        <p:spPr>
          <a:xfrm>
            <a:off x="7809230" y="4311015"/>
            <a:ext cx="8077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端到端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可靠性</a:t>
            </a:r>
            <a:endParaRPr lang="zh-CN" altLang="en-US" sz="1000">
              <a:solidFill>
                <a:schemeClr val="bg1"/>
              </a:solidFill>
            </a:endParaRPr>
          </a:p>
        </p:txBody>
      </p:sp>
      <p:cxnSp>
        <p:nvCxnSpPr>
          <p:cNvPr id="74" name="直接箭头连接符 73"/>
          <p:cNvCxnSpPr/>
          <p:nvPr/>
        </p:nvCxnSpPr>
        <p:spPr>
          <a:xfrm>
            <a:off x="9205595" y="4312285"/>
            <a:ext cx="0" cy="116268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5" name="文本框 74"/>
          <p:cNvSpPr txBox="1"/>
          <p:nvPr/>
        </p:nvSpPr>
        <p:spPr>
          <a:xfrm>
            <a:off x="8667750" y="4298950"/>
            <a:ext cx="64579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>
                <a:solidFill>
                  <a:schemeClr val="bg1"/>
                </a:solidFill>
              </a:rPr>
              <a:t>星间</a:t>
            </a:r>
            <a:endParaRPr lang="zh-CN" altLang="en-US" sz="1000">
              <a:solidFill>
                <a:schemeClr val="bg1"/>
              </a:solidFill>
            </a:endParaRPr>
          </a:p>
          <a:p>
            <a:pPr algn="ctr"/>
            <a:r>
              <a:rPr lang="zh-CN" altLang="en-US" sz="1000">
                <a:solidFill>
                  <a:schemeClr val="bg1"/>
                </a:solidFill>
              </a:rPr>
              <a:t>可靠性</a:t>
            </a:r>
            <a:endParaRPr lang="zh-CN" altLang="en-US" sz="1000">
              <a:solidFill>
                <a:schemeClr val="bg1"/>
              </a:solidFill>
            </a:endParaRPr>
          </a:p>
        </p:txBody>
      </p:sp>
      <p:cxnSp>
        <p:nvCxnSpPr>
          <p:cNvPr id="78" name="直接箭头连接符 77"/>
          <p:cNvCxnSpPr/>
          <p:nvPr/>
        </p:nvCxnSpPr>
        <p:spPr>
          <a:xfrm>
            <a:off x="5913120" y="2922905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/>
          <p:nvPr/>
        </p:nvCxnSpPr>
        <p:spPr>
          <a:xfrm>
            <a:off x="8385175" y="2919095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0" name="文本框 79"/>
          <p:cNvSpPr txBox="1"/>
          <p:nvPr/>
        </p:nvSpPr>
        <p:spPr>
          <a:xfrm>
            <a:off x="7439660" y="4709795"/>
            <a:ext cx="15754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任务感知的语义</a:t>
            </a:r>
            <a:r>
              <a:rPr lang="en-US" altLang="zh-CN" sz="1000"/>
              <a:t>HARQ</a:t>
            </a:r>
            <a:r>
              <a:rPr lang="zh-CN" altLang="en-US" sz="1000"/>
              <a:t>与块级语义价值评估</a:t>
            </a:r>
            <a:r>
              <a:rPr lang="zh-CN" altLang="en-US" sz="1000"/>
              <a:t>机制</a:t>
            </a:r>
            <a:endParaRPr lang="zh-CN" altLang="en-US" sz="1000"/>
          </a:p>
        </p:txBody>
      </p:sp>
      <p:sp>
        <p:nvSpPr>
          <p:cNvPr id="81" name="文本框 80"/>
          <p:cNvSpPr txBox="1"/>
          <p:nvPr/>
        </p:nvSpPr>
        <p:spPr>
          <a:xfrm>
            <a:off x="7738110" y="5527040"/>
            <a:ext cx="15754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语义价值驱动</a:t>
            </a:r>
            <a:r>
              <a:rPr lang="zh-CN" altLang="en-US" sz="1000"/>
              <a:t>的</a:t>
            </a:r>
            <a:endParaRPr lang="zh-CN" altLang="en-US" sz="1000"/>
          </a:p>
          <a:p>
            <a:pPr algn="ctr"/>
            <a:r>
              <a:rPr lang="zh-CN" altLang="en-US" sz="1000"/>
              <a:t>优先级路由</a:t>
            </a:r>
            <a:r>
              <a:rPr lang="zh-CN" altLang="en-US" sz="1000"/>
              <a:t>算法</a:t>
            </a:r>
            <a:endParaRPr lang="zh-CN" altLang="en-US" sz="1000"/>
          </a:p>
        </p:txBody>
      </p:sp>
      <p:sp>
        <p:nvSpPr>
          <p:cNvPr id="83" name="任意多边形 82"/>
          <p:cNvSpPr/>
          <p:nvPr/>
        </p:nvSpPr>
        <p:spPr>
          <a:xfrm flipH="1" flipV="1">
            <a:off x="8200390" y="5080635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4" name="任意多边形 83"/>
          <p:cNvSpPr/>
          <p:nvPr/>
        </p:nvSpPr>
        <p:spPr>
          <a:xfrm>
            <a:off x="7948295" y="5103495"/>
            <a:ext cx="252095" cy="417195"/>
          </a:xfrm>
          <a:custGeom>
            <a:avLst/>
            <a:gdLst>
              <a:gd name="connisteX0" fmla="*/ 237529 w 252134"/>
              <a:gd name="connsiteY0" fmla="*/ 0 h 417195"/>
              <a:gd name="connisteX1" fmla="*/ 39 w 252134"/>
              <a:gd name="connsiteY1" fmla="*/ 199390 h 417195"/>
              <a:gd name="connisteX2" fmla="*/ 252134 w 252134"/>
              <a:gd name="connsiteY2" fmla="*/ 417195 h 417195"/>
              <a:gd name="connisteX3" fmla="*/ 326429 w 252134"/>
              <a:gd name="connsiteY3" fmla="*/ 408940 h 4171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52135" h="417195">
                <a:moveTo>
                  <a:pt x="237530" y="0"/>
                </a:moveTo>
                <a:cubicBezTo>
                  <a:pt x="184825" y="35560"/>
                  <a:pt x="-3135" y="116205"/>
                  <a:pt x="40" y="199390"/>
                </a:cubicBezTo>
                <a:cubicBezTo>
                  <a:pt x="3215" y="282575"/>
                  <a:pt x="186730" y="375285"/>
                  <a:pt x="252135" y="417195"/>
                </a:cubicBezTo>
              </a:path>
            </a:pathLst>
          </a:custGeom>
          <a:noFill/>
          <a:ln>
            <a:solidFill>
              <a:schemeClr val="bg1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7240270" y="5103495"/>
            <a:ext cx="8077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>
                <a:solidFill>
                  <a:schemeClr val="bg1"/>
                </a:solidFill>
              </a:rPr>
              <a:t>信息价值</a:t>
            </a:r>
            <a:r>
              <a:rPr lang="zh-CN" altLang="en-US" sz="1000">
                <a:solidFill>
                  <a:schemeClr val="bg1"/>
                </a:solidFill>
              </a:rPr>
              <a:t>量化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8341995" y="5118100"/>
            <a:ext cx="8077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>
                <a:solidFill>
                  <a:schemeClr val="bg1"/>
                </a:solidFill>
              </a:rPr>
              <a:t>星间可靠性</a:t>
            </a:r>
            <a:r>
              <a:rPr lang="zh-CN" altLang="en-US" sz="1000">
                <a:solidFill>
                  <a:schemeClr val="bg1"/>
                </a:solidFill>
              </a:rPr>
              <a:t>保障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7993380" y="5103495"/>
            <a:ext cx="459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多跳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扩展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88" name="圆角矩形 87"/>
          <p:cNvSpPr/>
          <p:nvPr/>
        </p:nvSpPr>
        <p:spPr>
          <a:xfrm>
            <a:off x="2350135" y="3839845"/>
            <a:ext cx="1969770" cy="42799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9" name="文本框 88"/>
          <p:cNvSpPr txBox="1"/>
          <p:nvPr/>
        </p:nvSpPr>
        <p:spPr>
          <a:xfrm>
            <a:off x="2457450" y="3866515"/>
            <a:ext cx="16948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低轨卫星动态多重覆盖下的用户分布式切换</a:t>
            </a:r>
            <a:r>
              <a:rPr lang="zh-CN" altLang="en-US" sz="1000"/>
              <a:t>模型</a:t>
            </a:r>
            <a:endParaRPr lang="zh-CN" altLang="en-US" sz="1000"/>
          </a:p>
        </p:txBody>
      </p:sp>
      <p:sp>
        <p:nvSpPr>
          <p:cNvPr id="90" name="圆角矩形 89"/>
          <p:cNvSpPr/>
          <p:nvPr/>
        </p:nvSpPr>
        <p:spPr>
          <a:xfrm>
            <a:off x="2350135" y="4510405"/>
            <a:ext cx="1969770" cy="42799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91" name="直接箭头连接符 90"/>
          <p:cNvCxnSpPr/>
          <p:nvPr/>
        </p:nvCxnSpPr>
        <p:spPr>
          <a:xfrm>
            <a:off x="3304540" y="4265295"/>
            <a:ext cx="0" cy="21399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2" name="文本框 91"/>
          <p:cNvSpPr txBox="1"/>
          <p:nvPr/>
        </p:nvSpPr>
        <p:spPr>
          <a:xfrm>
            <a:off x="3288665" y="4260215"/>
            <a:ext cx="86296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公平性</a:t>
            </a:r>
            <a:r>
              <a:rPr lang="zh-CN" altLang="en-US" sz="1000">
                <a:solidFill>
                  <a:schemeClr val="bg1"/>
                </a:solidFill>
              </a:rPr>
              <a:t>编码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2505075" y="4601845"/>
            <a:ext cx="169481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多目标马尔科夫决策</a:t>
            </a:r>
            <a:r>
              <a:rPr lang="zh-CN" altLang="en-US" sz="1000"/>
              <a:t>过程</a:t>
            </a:r>
            <a:endParaRPr lang="zh-CN" altLang="en-US" sz="1000"/>
          </a:p>
        </p:txBody>
      </p:sp>
      <p:sp>
        <p:nvSpPr>
          <p:cNvPr id="99" name="圆角矩形 98"/>
          <p:cNvSpPr/>
          <p:nvPr/>
        </p:nvSpPr>
        <p:spPr>
          <a:xfrm>
            <a:off x="2237105" y="5118100"/>
            <a:ext cx="2284095" cy="942975"/>
          </a:xfrm>
          <a:prstGeom prst="roundRect">
            <a:avLst>
              <a:gd name="adj" fmla="val 8389"/>
            </a:avLst>
          </a:prstGeom>
          <a:solidFill>
            <a:schemeClr val="accent4">
              <a:lumMod val="20000"/>
              <a:lumOff val="80000"/>
              <a:alpha val="59000"/>
            </a:schemeClr>
          </a:solidFill>
          <a:ln w="158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6" name="圆角矩形 95"/>
          <p:cNvSpPr/>
          <p:nvPr/>
        </p:nvSpPr>
        <p:spPr>
          <a:xfrm>
            <a:off x="3046095" y="5377815"/>
            <a:ext cx="655955" cy="601345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7" name="圆角矩形 96"/>
          <p:cNvSpPr/>
          <p:nvPr/>
        </p:nvSpPr>
        <p:spPr>
          <a:xfrm>
            <a:off x="3766185" y="5377815"/>
            <a:ext cx="655955" cy="601345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4" name="圆角矩形 93"/>
          <p:cNvSpPr/>
          <p:nvPr/>
        </p:nvSpPr>
        <p:spPr>
          <a:xfrm>
            <a:off x="2314575" y="5377815"/>
            <a:ext cx="655955" cy="601345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0" name="直接箭头连接符 99"/>
          <p:cNvCxnSpPr/>
          <p:nvPr/>
        </p:nvCxnSpPr>
        <p:spPr>
          <a:xfrm flipV="1">
            <a:off x="3304540" y="4904105"/>
            <a:ext cx="0" cy="213995"/>
          </a:xfrm>
          <a:prstGeom prst="straightConnector1">
            <a:avLst/>
          </a:prstGeom>
          <a:ln w="19050">
            <a:solidFill>
              <a:schemeClr val="bg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1" name="文本框 100"/>
          <p:cNvSpPr txBox="1"/>
          <p:nvPr/>
        </p:nvSpPr>
        <p:spPr>
          <a:xfrm>
            <a:off x="3296285" y="4908550"/>
            <a:ext cx="5156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求解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2341245" y="5156835"/>
            <a:ext cx="7200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用户协作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3038475" y="5153660"/>
            <a:ext cx="74358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目标优化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3671570" y="5139690"/>
            <a:ext cx="88709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大规模训练</a:t>
            </a:r>
            <a:endParaRPr lang="zh-CN" altLang="en-US" sz="1000">
              <a:solidFill>
                <a:schemeClr val="bg1"/>
              </a:solidFill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3735705" y="5398135"/>
            <a:ext cx="719455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分布式</a:t>
            </a:r>
            <a:endParaRPr lang="zh-CN" altLang="en-US" sz="1000"/>
          </a:p>
          <a:p>
            <a:pPr algn="ctr"/>
            <a:r>
              <a:rPr lang="zh-CN" altLang="en-US" sz="1000"/>
              <a:t>异步</a:t>
            </a:r>
            <a:r>
              <a:rPr lang="zh-CN" altLang="en-US" sz="1000"/>
              <a:t>训练</a:t>
            </a:r>
            <a:endParaRPr lang="zh-CN" altLang="en-US" sz="1000"/>
          </a:p>
          <a:p>
            <a:pPr algn="ctr"/>
            <a:r>
              <a:rPr lang="zh-CN" altLang="en-US" sz="1000"/>
              <a:t>平台</a:t>
            </a:r>
            <a:endParaRPr lang="zh-CN" altLang="en-US" sz="1000"/>
          </a:p>
        </p:txBody>
      </p:sp>
      <p:sp>
        <p:nvSpPr>
          <p:cNvPr id="106" name="文本框 105"/>
          <p:cNvSpPr txBox="1"/>
          <p:nvPr/>
        </p:nvSpPr>
        <p:spPr>
          <a:xfrm>
            <a:off x="3007995" y="5464810"/>
            <a:ext cx="71945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混合</a:t>
            </a:r>
            <a:endParaRPr lang="zh-CN" altLang="en-US" sz="1000"/>
          </a:p>
          <a:p>
            <a:pPr algn="ctr"/>
            <a:r>
              <a:rPr lang="zh-CN" altLang="en-US" sz="1000"/>
              <a:t>网络</a:t>
            </a:r>
            <a:r>
              <a:rPr lang="zh-CN" altLang="en-US" sz="1000"/>
              <a:t>结构</a:t>
            </a:r>
            <a:endParaRPr lang="zh-CN" altLang="en-US" sz="1000"/>
          </a:p>
        </p:txBody>
      </p:sp>
      <p:sp>
        <p:nvSpPr>
          <p:cNvPr id="107" name="文本框 106"/>
          <p:cNvSpPr txBox="1"/>
          <p:nvPr/>
        </p:nvSpPr>
        <p:spPr>
          <a:xfrm>
            <a:off x="2251075" y="5398770"/>
            <a:ext cx="719455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/>
              <a:t>优势值修正与邻居</a:t>
            </a:r>
            <a:r>
              <a:rPr lang="zh-CN" altLang="en-US" sz="1000"/>
              <a:t>广播</a:t>
            </a:r>
            <a:endParaRPr lang="zh-CN" altLang="en-US" sz="1000"/>
          </a:p>
        </p:txBody>
      </p:sp>
      <p:sp>
        <p:nvSpPr>
          <p:cNvPr id="39" name="圆角矩形 38"/>
          <p:cNvSpPr/>
          <p:nvPr/>
        </p:nvSpPr>
        <p:spPr>
          <a:xfrm>
            <a:off x="3197225" y="852805"/>
            <a:ext cx="5298440" cy="33147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65000"/>
            </a:schemeClr>
          </a:solidFill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3198495" y="815975"/>
            <a:ext cx="55746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solidFill>
                  <a:srgbClr val="FF0000"/>
                </a:solidFill>
              </a:rPr>
              <a:t>任务驱动</a:t>
            </a:r>
            <a:r>
              <a:rPr lang="zh-CN" altLang="en-US" b="1">
                <a:solidFill>
                  <a:srgbClr val="FF0000"/>
                </a:solidFill>
              </a:rPr>
              <a:t>的高效、高可靠</a:t>
            </a:r>
            <a:r>
              <a:rPr lang="zh-CN" altLang="en-US" b="1"/>
              <a:t>的</a:t>
            </a:r>
            <a:r>
              <a:rPr lang="en-US" altLang="zh-CN" b="1"/>
              <a:t>LEO</a:t>
            </a:r>
            <a:r>
              <a:rPr lang="zh-CN" altLang="en-US" b="1"/>
              <a:t>卫星网络端到端传输</a:t>
            </a:r>
            <a:endParaRPr lang="zh-CN" altLang="en-US" b="1"/>
          </a:p>
        </p:txBody>
      </p:sp>
      <p:sp>
        <p:nvSpPr>
          <p:cNvPr id="41" name="文本框 40"/>
          <p:cNvSpPr txBox="1"/>
          <p:nvPr/>
        </p:nvSpPr>
        <p:spPr>
          <a:xfrm>
            <a:off x="11563985" y="64516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47" name="右箭头 46"/>
          <p:cNvSpPr/>
          <p:nvPr/>
        </p:nvSpPr>
        <p:spPr>
          <a:xfrm rot="5400000">
            <a:off x="5821680" y="1208405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8" name="右箭头 57"/>
          <p:cNvSpPr/>
          <p:nvPr/>
        </p:nvSpPr>
        <p:spPr>
          <a:xfrm rot="5400000">
            <a:off x="7785100" y="1208405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右箭头 58"/>
          <p:cNvSpPr/>
          <p:nvPr/>
        </p:nvSpPr>
        <p:spPr>
          <a:xfrm rot="5400000">
            <a:off x="3613785" y="1208405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506</Words>
  <Application>WPS 演示</Application>
  <PresentationFormat>宽屏</PresentationFormat>
  <Paragraphs>122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325</cp:revision>
  <dcterms:created xsi:type="dcterms:W3CDTF">2023-08-09T12:44:00Z</dcterms:created>
  <dcterms:modified xsi:type="dcterms:W3CDTF">2026-01-21T07:14:01Z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62735A0042EF4AEEA24D51B7AFDBD72A_12</vt:lpwstr>
  </property>
</Properties>
</file>