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7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00D"/>
    <a:srgbClr val="31859B"/>
    <a:srgbClr val="9DBB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42"/>
        <p:guide pos="37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-21590" y="3175"/>
            <a:ext cx="1802130" cy="5530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绪论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（</a:t>
            </a:r>
            <a:r>
              <a:rPr lang="zh-CN" altLang="en-US" b="1">
                <a:solidFill>
                  <a:schemeClr val="tx1"/>
                </a:solidFill>
              </a:rPr>
              <a:t>第一章）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911985" y="3175"/>
            <a:ext cx="7641590" cy="5530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19350" y="119380"/>
            <a:ext cx="1261745" cy="3397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研究背景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-21590" y="626745"/>
            <a:ext cx="1823720" cy="61747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-21590" y="6894195"/>
            <a:ext cx="1802130" cy="57213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总结</a:t>
            </a:r>
            <a:r>
              <a:rPr lang="zh-CN" altLang="en-US" b="1">
                <a:solidFill>
                  <a:schemeClr val="tx1"/>
                </a:solidFill>
              </a:rPr>
              <a:t>展望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（</a:t>
            </a:r>
            <a:r>
              <a:rPr lang="zh-CN" altLang="en-US" b="1">
                <a:solidFill>
                  <a:schemeClr val="tx1"/>
                </a:solidFill>
              </a:rPr>
              <a:t>第六章）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1934210" y="6938645"/>
            <a:ext cx="7641590" cy="52768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1825" y="2216150"/>
            <a:ext cx="517525" cy="2461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/>
              <a:t>问</a:t>
            </a:r>
            <a:endParaRPr lang="zh-CN" altLang="en-US" sz="2200" b="1"/>
          </a:p>
          <a:p>
            <a:r>
              <a:rPr lang="zh-CN" altLang="en-US" sz="2200" b="1"/>
              <a:t>题</a:t>
            </a:r>
            <a:endParaRPr lang="zh-CN" altLang="en-US" sz="2200" b="1"/>
          </a:p>
          <a:p>
            <a:r>
              <a:rPr lang="zh-CN" altLang="en-US" sz="2200" b="1"/>
              <a:t>与</a:t>
            </a:r>
            <a:endParaRPr lang="zh-CN" altLang="en-US" sz="2200" b="1"/>
          </a:p>
          <a:p>
            <a:r>
              <a:rPr lang="zh-CN" altLang="en-US" sz="2200" b="1"/>
              <a:t>技术路线</a:t>
            </a:r>
            <a:endParaRPr lang="zh-CN" altLang="en-US" sz="2200" b="1"/>
          </a:p>
        </p:txBody>
      </p:sp>
      <p:sp>
        <p:nvSpPr>
          <p:cNvPr id="42" name="矩形 41"/>
          <p:cNvSpPr/>
          <p:nvPr/>
        </p:nvSpPr>
        <p:spPr>
          <a:xfrm>
            <a:off x="2167255" y="7059930"/>
            <a:ext cx="3318510" cy="3517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全文总结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118860" y="7053580"/>
            <a:ext cx="3318510" cy="3581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未来展望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934210" y="613410"/>
            <a:ext cx="7641590" cy="1299845"/>
          </a:xfrm>
          <a:prstGeom prst="roundRect">
            <a:avLst>
              <a:gd name="adj" fmla="val 7642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 rot="0">
            <a:off x="1995170" y="575945"/>
            <a:ext cx="708660" cy="245110"/>
            <a:chOff x="7321" y="4988"/>
            <a:chExt cx="1116" cy="386"/>
          </a:xfrm>
        </p:grpSpPr>
        <p:sp>
          <p:nvSpPr>
            <p:cNvPr id="19" name="文本框 18"/>
            <p:cNvSpPr txBox="1"/>
            <p:nvPr/>
          </p:nvSpPr>
          <p:spPr>
            <a:xfrm>
              <a:off x="7485" y="4988"/>
              <a:ext cx="95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/>
                <a:t>目标</a:t>
              </a:r>
              <a:endParaRPr lang="zh-CN" altLang="en-US" sz="1000" b="1"/>
            </a:p>
          </p:txBody>
        </p:sp>
        <p:sp>
          <p:nvSpPr>
            <p:cNvPr id="20" name="流程图: 延期 19"/>
            <p:cNvSpPr/>
            <p:nvPr/>
          </p:nvSpPr>
          <p:spPr>
            <a:xfrm rot="5400000">
              <a:off x="7706" y="4684"/>
              <a:ext cx="250" cy="1020"/>
            </a:xfrm>
            <a:prstGeom prst="flowChartDelay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4885690" y="1287145"/>
            <a:ext cx="1747520" cy="447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无线资源</a:t>
            </a:r>
            <a:r>
              <a:rPr lang="zh-CN" altLang="en-US" sz="1200">
                <a:solidFill>
                  <a:schemeClr val="tx1"/>
                </a:solidFill>
              </a:rPr>
              <a:t>使用效率</a:t>
            </a:r>
            <a:endParaRPr lang="zh-CN" altLang="en-US" sz="1200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用户级</a:t>
            </a:r>
            <a:r>
              <a:rPr lang="en-US" altLang="zh-CN" sz="1200" b="1">
                <a:solidFill>
                  <a:schemeClr val="tx1"/>
                </a:solidFill>
              </a:rPr>
              <a:t>QoS</a:t>
            </a:r>
            <a:r>
              <a:rPr lang="zh-CN" altLang="en-US" sz="1200" b="1">
                <a:solidFill>
                  <a:schemeClr val="tx1"/>
                </a:solidFill>
              </a:rPr>
              <a:t>满足率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464435" y="1287145"/>
            <a:ext cx="1747520" cy="447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接入连续性与可靠性</a:t>
            </a:r>
            <a:br>
              <a:rPr lang="zh-CN" altLang="en-US" sz="1200">
                <a:solidFill>
                  <a:schemeClr val="tx1"/>
                </a:solidFill>
              </a:rPr>
            </a:br>
            <a:r>
              <a:rPr lang="zh-CN" altLang="en-US" sz="1200" b="1">
                <a:solidFill>
                  <a:schemeClr val="tx1"/>
                </a:solidFill>
              </a:rPr>
              <a:t>长期公平</a:t>
            </a:r>
            <a:r>
              <a:rPr lang="zh-CN" altLang="en-US" sz="1200" b="1">
                <a:solidFill>
                  <a:schemeClr val="tx1"/>
                </a:solidFill>
              </a:rPr>
              <a:t>接入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402830" y="1287145"/>
            <a:ext cx="1747520" cy="447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端到端传输可靠性</a:t>
            </a:r>
            <a:endParaRPr lang="zh-CN" altLang="en-US" sz="1200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任务相关语义恢复</a:t>
            </a:r>
            <a:r>
              <a:rPr lang="zh-CN" altLang="en-US" sz="1200" b="1">
                <a:solidFill>
                  <a:schemeClr val="tx1"/>
                </a:solidFill>
              </a:rPr>
              <a:t>性能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2233295" y="1221740"/>
            <a:ext cx="4533900" cy="647065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4211955" y="1604645"/>
            <a:ext cx="9474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接入层</a:t>
            </a:r>
            <a:endParaRPr lang="zh-CN" altLang="en-US" sz="1400"/>
          </a:p>
        </p:txBody>
      </p:sp>
      <p:sp>
        <p:nvSpPr>
          <p:cNvPr id="29" name="圆角矩形 28"/>
          <p:cNvSpPr/>
          <p:nvPr/>
        </p:nvSpPr>
        <p:spPr>
          <a:xfrm>
            <a:off x="1934210" y="2032635"/>
            <a:ext cx="7641590" cy="773430"/>
          </a:xfrm>
          <a:prstGeom prst="roundRect">
            <a:avLst>
              <a:gd name="adj" fmla="val 7642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056130" y="2015490"/>
            <a:ext cx="6045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  </a:t>
            </a:r>
            <a:r>
              <a:rPr lang="zh-CN" altLang="en-US" sz="1000" b="1"/>
              <a:t>挑战</a:t>
            </a:r>
            <a:endParaRPr lang="zh-CN" altLang="en-US" sz="1000" b="1"/>
          </a:p>
        </p:txBody>
      </p:sp>
      <p:sp>
        <p:nvSpPr>
          <p:cNvPr id="31" name="流程图: 延期 30"/>
          <p:cNvSpPr/>
          <p:nvPr/>
        </p:nvSpPr>
        <p:spPr>
          <a:xfrm rot="5400000">
            <a:off x="2275205" y="1812925"/>
            <a:ext cx="158750" cy="647700"/>
          </a:xfrm>
          <a:prstGeom prst="flowChartDelay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2349500" y="2291080"/>
            <a:ext cx="2160905" cy="447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全局信息缺失</a:t>
            </a:r>
            <a:r>
              <a:rPr lang="zh-CN" altLang="en-US" sz="1200">
                <a:solidFill>
                  <a:schemeClr val="tx1"/>
                </a:solidFill>
              </a:rPr>
              <a:t>下</a:t>
            </a:r>
            <a:endParaRPr lang="zh-CN" altLang="en-US" sz="1200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rgbClr val="C00000"/>
                </a:solidFill>
              </a:rPr>
              <a:t>系统公平性</a:t>
            </a:r>
            <a:r>
              <a:rPr lang="zh-CN" altLang="en-US" sz="1200">
                <a:solidFill>
                  <a:schemeClr val="tx1"/>
                </a:solidFill>
              </a:rPr>
              <a:t>受损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852920" y="1214120"/>
            <a:ext cx="2489200" cy="647065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6777990" y="1276350"/>
            <a:ext cx="7575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网络</a:t>
            </a:r>
            <a:r>
              <a:rPr lang="en-US" altLang="zh-CN" sz="1400"/>
              <a:t>/</a:t>
            </a:r>
            <a:endParaRPr lang="en-US" altLang="zh-CN" sz="1400"/>
          </a:p>
          <a:p>
            <a:r>
              <a:rPr lang="zh-CN" altLang="en-US" sz="1400"/>
              <a:t>应用层</a:t>
            </a:r>
            <a:endParaRPr lang="zh-CN" altLang="en-US" sz="1400"/>
          </a:p>
        </p:txBody>
      </p:sp>
      <p:sp>
        <p:nvSpPr>
          <p:cNvPr id="36" name="矩形 35"/>
          <p:cNvSpPr/>
          <p:nvPr/>
        </p:nvSpPr>
        <p:spPr>
          <a:xfrm>
            <a:off x="4732020" y="2291080"/>
            <a:ext cx="2258060" cy="447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网络随机波动</a:t>
            </a:r>
            <a:r>
              <a:rPr lang="zh-CN" altLang="en-US" sz="1200">
                <a:solidFill>
                  <a:schemeClr val="tx1"/>
                </a:solidFill>
              </a:rPr>
              <a:t>使得</a:t>
            </a:r>
            <a:endParaRPr lang="zh-CN" altLang="en-US" sz="1200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rgbClr val="C00000"/>
                </a:solidFill>
              </a:rPr>
              <a:t>QoS</a:t>
            </a:r>
            <a:r>
              <a:rPr lang="zh-CN" altLang="en-US" sz="1200">
                <a:solidFill>
                  <a:schemeClr val="tx1"/>
                </a:solidFill>
              </a:rPr>
              <a:t>无法长期</a:t>
            </a:r>
            <a:r>
              <a:rPr lang="zh-CN" altLang="en-US" sz="1200">
                <a:solidFill>
                  <a:schemeClr val="tx1"/>
                </a:solidFill>
              </a:rPr>
              <a:t>保证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114540" y="2291080"/>
            <a:ext cx="2207895" cy="447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</a:rPr>
              <a:t>LEO</a:t>
            </a:r>
            <a:r>
              <a:rPr lang="zh-CN" altLang="en-US" sz="1200">
                <a:solidFill>
                  <a:schemeClr val="tx1"/>
                </a:solidFill>
              </a:rPr>
              <a:t>卫星计算资源受限</a:t>
            </a:r>
            <a:r>
              <a:rPr lang="zh-CN" altLang="en-US" sz="1200">
                <a:solidFill>
                  <a:schemeClr val="tx1"/>
                </a:solidFill>
              </a:rPr>
              <a:t>下</a:t>
            </a:r>
            <a:endParaRPr lang="zh-CN" altLang="en-US" sz="1200">
              <a:solidFill>
                <a:schemeClr val="tx1"/>
              </a:solidFill>
            </a:endParaRPr>
          </a:p>
          <a:p>
            <a:pPr algn="ctr"/>
            <a:r>
              <a:rPr lang="zh-CN" altLang="en-US" sz="1200">
                <a:solidFill>
                  <a:schemeClr val="tx1"/>
                </a:solidFill>
              </a:rPr>
              <a:t>语义模型</a:t>
            </a:r>
            <a:r>
              <a:rPr lang="zh-CN" altLang="en-US" sz="1200" b="1">
                <a:solidFill>
                  <a:srgbClr val="C00000"/>
                </a:solidFill>
              </a:rPr>
              <a:t>单次</a:t>
            </a:r>
            <a:r>
              <a:rPr lang="zh-CN" altLang="en-US" sz="1200">
                <a:solidFill>
                  <a:schemeClr val="tx1"/>
                </a:solidFill>
              </a:rPr>
              <a:t>传输能力不足</a:t>
            </a:r>
            <a:endParaRPr lang="zh-CN" altLang="en-US" sz="1200">
              <a:solidFill>
                <a:schemeClr val="tx1"/>
              </a:solidFill>
            </a:endParaRPr>
          </a:p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3436620" y="1736725"/>
            <a:ext cx="0" cy="537845"/>
          </a:xfrm>
          <a:prstGeom prst="straightConnector1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圆角矩形 44"/>
          <p:cNvSpPr/>
          <p:nvPr/>
        </p:nvSpPr>
        <p:spPr>
          <a:xfrm>
            <a:off x="1934210" y="3807460"/>
            <a:ext cx="7641590" cy="3063240"/>
          </a:xfrm>
          <a:prstGeom prst="roundRect">
            <a:avLst>
              <a:gd name="adj" fmla="val 7642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流程图: 延期 45"/>
          <p:cNvSpPr/>
          <p:nvPr/>
        </p:nvSpPr>
        <p:spPr>
          <a:xfrm rot="5400000">
            <a:off x="2275205" y="3601085"/>
            <a:ext cx="158750" cy="647700"/>
          </a:xfrm>
          <a:prstGeom prst="flowChartDelay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2024380" y="3789680"/>
            <a:ext cx="6940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技术</a:t>
            </a:r>
            <a:r>
              <a:rPr lang="zh-CN" altLang="en-US" sz="1000" b="1"/>
              <a:t>方案</a:t>
            </a:r>
            <a:endParaRPr lang="zh-CN" altLang="en-US" sz="1000" b="1"/>
          </a:p>
        </p:txBody>
      </p:sp>
      <p:sp>
        <p:nvSpPr>
          <p:cNvPr id="49" name="圆角矩形 48"/>
          <p:cNvSpPr/>
          <p:nvPr/>
        </p:nvSpPr>
        <p:spPr>
          <a:xfrm>
            <a:off x="2056765" y="4049395"/>
            <a:ext cx="2375535" cy="2769870"/>
          </a:xfrm>
          <a:prstGeom prst="roundRect">
            <a:avLst>
              <a:gd name="adj" fmla="val 6084"/>
            </a:avLst>
          </a:prstGeom>
          <a:solidFill>
            <a:srgbClr val="9DBB61">
              <a:alpha val="77000"/>
            </a:srgb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2083435" y="4076700"/>
            <a:ext cx="2364740" cy="530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/>
              <a:t>基于局部公平性估计的分布式协作接入切换机制（第三章）</a:t>
            </a:r>
            <a:endParaRPr lang="zh-CN" altLang="en-US" sz="1200" b="1"/>
          </a:p>
        </p:txBody>
      </p:sp>
      <p:sp>
        <p:nvSpPr>
          <p:cNvPr id="51" name="矩形 50"/>
          <p:cNvSpPr/>
          <p:nvPr/>
        </p:nvSpPr>
        <p:spPr>
          <a:xfrm>
            <a:off x="4154170" y="100330"/>
            <a:ext cx="1261745" cy="3397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研究</a:t>
            </a:r>
            <a:r>
              <a:rPr lang="zh-CN" altLang="en-US" sz="1200">
                <a:solidFill>
                  <a:schemeClr val="tx1"/>
                </a:solidFill>
              </a:rPr>
              <a:t>现状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888990" y="100330"/>
            <a:ext cx="1261745" cy="3397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核心</a:t>
            </a:r>
            <a:r>
              <a:rPr lang="zh-CN" altLang="en-US" sz="1200">
                <a:solidFill>
                  <a:schemeClr val="tx1"/>
                </a:solidFill>
              </a:rPr>
              <a:t>挑战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623810" y="118110"/>
            <a:ext cx="1261745" cy="3397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研究</a:t>
            </a:r>
            <a:r>
              <a:rPr lang="zh-CN" altLang="en-US" sz="1200">
                <a:solidFill>
                  <a:schemeClr val="tx1"/>
                </a:solidFill>
              </a:rPr>
              <a:t>贡献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55" name="直接箭头连接符 54"/>
          <p:cNvCxnSpPr/>
          <p:nvPr/>
        </p:nvCxnSpPr>
        <p:spPr>
          <a:xfrm>
            <a:off x="5807710" y="1743710"/>
            <a:ext cx="0" cy="537845"/>
          </a:xfrm>
          <a:prstGeom prst="straightConnector1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8277225" y="1743710"/>
            <a:ext cx="0" cy="537845"/>
          </a:xfrm>
          <a:prstGeom prst="straightConnector1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>
            <a:off x="3439160" y="3663950"/>
            <a:ext cx="2540" cy="412750"/>
          </a:xfrm>
          <a:prstGeom prst="straightConnector1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圆角矩形 59"/>
          <p:cNvSpPr/>
          <p:nvPr/>
        </p:nvSpPr>
        <p:spPr>
          <a:xfrm>
            <a:off x="4559300" y="4053205"/>
            <a:ext cx="2375535" cy="2769870"/>
          </a:xfrm>
          <a:prstGeom prst="roundRect">
            <a:avLst>
              <a:gd name="adj" fmla="val 6084"/>
            </a:avLst>
          </a:prstGeom>
          <a:solidFill>
            <a:srgbClr val="31859B">
              <a:alpha val="61000"/>
            </a:srgb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圆角矩形 60"/>
          <p:cNvSpPr/>
          <p:nvPr/>
        </p:nvSpPr>
        <p:spPr>
          <a:xfrm>
            <a:off x="7061835" y="4030980"/>
            <a:ext cx="2375535" cy="2769870"/>
          </a:xfrm>
          <a:prstGeom prst="roundRect">
            <a:avLst>
              <a:gd name="adj" fmla="val 6084"/>
            </a:avLst>
          </a:prstGeom>
          <a:solidFill>
            <a:srgbClr val="EA700D">
              <a:alpha val="61000"/>
            </a:srgb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25340" y="4076700"/>
            <a:ext cx="2364740" cy="530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/>
              <a:t>生成式网络态势感知的切片</a:t>
            </a:r>
            <a:r>
              <a:rPr lang="en-US" altLang="zh-CN" sz="1200" b="1"/>
              <a:t>-MAC</a:t>
            </a:r>
            <a:r>
              <a:rPr lang="zh-CN" altLang="en-US" sz="1200" b="1"/>
              <a:t>分层协作优化</a:t>
            </a:r>
            <a:r>
              <a:rPr lang="zh-CN" altLang="en-US" sz="1200" b="1"/>
              <a:t>框架（第</a:t>
            </a:r>
            <a:r>
              <a:rPr lang="zh-CN" altLang="en-US" sz="1200" b="1"/>
              <a:t>四章）</a:t>
            </a:r>
            <a:endParaRPr lang="zh-CN" altLang="en-US" sz="1200" b="1"/>
          </a:p>
        </p:txBody>
      </p:sp>
      <p:sp>
        <p:nvSpPr>
          <p:cNvPr id="3" name="文本框 2"/>
          <p:cNvSpPr txBox="1"/>
          <p:nvPr/>
        </p:nvSpPr>
        <p:spPr>
          <a:xfrm>
            <a:off x="7072630" y="4076700"/>
            <a:ext cx="2364740" cy="530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/>
              <a:t>基于任务反馈</a:t>
            </a:r>
            <a:r>
              <a:rPr lang="zh-CN" altLang="en-US" sz="1200" b="1"/>
              <a:t>与协同增量重传的轻量化语义传输机制（第</a:t>
            </a:r>
            <a:r>
              <a:rPr lang="zh-CN" altLang="en-US" sz="1200" b="1"/>
              <a:t>五章）</a:t>
            </a:r>
            <a:endParaRPr lang="zh-CN" altLang="en-US" sz="1200" b="1"/>
          </a:p>
        </p:txBody>
      </p:sp>
      <p:sp>
        <p:nvSpPr>
          <p:cNvPr id="8" name="圆角矩形 7"/>
          <p:cNvSpPr/>
          <p:nvPr/>
        </p:nvSpPr>
        <p:spPr>
          <a:xfrm>
            <a:off x="4749165" y="4565650"/>
            <a:ext cx="1969770" cy="427990"/>
          </a:xfrm>
          <a:prstGeom prst="roundRect">
            <a:avLst/>
          </a:prstGeom>
          <a:solidFill>
            <a:schemeClr val="accent5">
              <a:lumMod val="20000"/>
              <a:lumOff val="80000"/>
              <a:alpha val="7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806950" y="4568190"/>
            <a:ext cx="1875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业务</a:t>
            </a:r>
            <a:r>
              <a:rPr lang="en-US" altLang="zh-CN" sz="1000"/>
              <a:t>QoS</a:t>
            </a:r>
            <a:r>
              <a:rPr lang="zh-CN" altLang="en-US" sz="1000"/>
              <a:t>约束下</a:t>
            </a:r>
            <a:r>
              <a:rPr lang="zh-CN" altLang="en-US" sz="1000"/>
              <a:t>的</a:t>
            </a:r>
            <a:endParaRPr lang="zh-CN" altLang="en-US" sz="1000"/>
          </a:p>
          <a:p>
            <a:pPr algn="ctr"/>
            <a:r>
              <a:rPr lang="zh-CN" altLang="en-US" sz="1000"/>
              <a:t>切片预算与 </a:t>
            </a:r>
            <a:r>
              <a:rPr lang="en-US" altLang="zh-CN" sz="1000"/>
              <a:t>MAC </a:t>
            </a:r>
            <a:r>
              <a:rPr lang="zh-CN" altLang="en-US" sz="1000"/>
              <a:t>协同模型</a:t>
            </a:r>
            <a:endParaRPr lang="zh-CN" altLang="en-US" sz="1000"/>
          </a:p>
        </p:txBody>
      </p:sp>
      <p:sp>
        <p:nvSpPr>
          <p:cNvPr id="17" name="圆角矩形 16"/>
          <p:cNvSpPr/>
          <p:nvPr/>
        </p:nvSpPr>
        <p:spPr>
          <a:xfrm>
            <a:off x="4749165" y="5260340"/>
            <a:ext cx="1969770" cy="1540510"/>
          </a:xfrm>
          <a:prstGeom prst="roundRect">
            <a:avLst>
              <a:gd name="adj" fmla="val 8389"/>
            </a:avLst>
          </a:prstGeom>
          <a:solidFill>
            <a:schemeClr val="accent5">
              <a:lumMod val="20000"/>
              <a:lumOff val="80000"/>
              <a:alpha val="59000"/>
            </a:schemeClr>
          </a:solidFill>
          <a:ln w="15875"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4836160" y="5365750"/>
            <a:ext cx="1796415" cy="427990"/>
          </a:xfrm>
          <a:prstGeom prst="roundRect">
            <a:avLst/>
          </a:prstGeom>
          <a:solidFill>
            <a:schemeClr val="accent5">
              <a:lumMod val="20000"/>
              <a:lumOff val="80000"/>
              <a:alpha val="7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5746750" y="4993640"/>
            <a:ext cx="0" cy="248920"/>
          </a:xfrm>
          <a:prstGeom prst="straightConnector1">
            <a:avLst/>
          </a:prstGeom>
          <a:ln w="19050">
            <a:solidFill>
              <a:schemeClr val="bg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5289550" y="4964430"/>
            <a:ext cx="11277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双时间尺度</a:t>
            </a:r>
            <a:r>
              <a:rPr lang="zh-CN" altLang="en-US" sz="1000">
                <a:solidFill>
                  <a:schemeClr val="bg1"/>
                </a:solidFill>
              </a:rPr>
              <a:t>协同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85690" y="5393690"/>
            <a:ext cx="16948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面向 </a:t>
            </a:r>
            <a:r>
              <a:rPr lang="en-US" altLang="zh-CN" sz="1000"/>
              <a:t>QoS </a:t>
            </a:r>
            <a:r>
              <a:rPr lang="zh-CN" altLang="en-US" sz="1000"/>
              <a:t>可行域预测的切片预算决策</a:t>
            </a:r>
            <a:endParaRPr lang="zh-CN" altLang="en-US" sz="1000"/>
          </a:p>
        </p:txBody>
      </p:sp>
      <p:sp>
        <p:nvSpPr>
          <p:cNvPr id="40" name="圆角矩形 39"/>
          <p:cNvSpPr/>
          <p:nvPr/>
        </p:nvSpPr>
        <p:spPr>
          <a:xfrm>
            <a:off x="4885690" y="6221095"/>
            <a:ext cx="1796415" cy="427990"/>
          </a:xfrm>
          <a:prstGeom prst="roundRect">
            <a:avLst/>
          </a:prstGeom>
          <a:solidFill>
            <a:schemeClr val="accent5">
              <a:lumMod val="20000"/>
              <a:lumOff val="80000"/>
              <a:alpha val="7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/>
        </p:nvSpPr>
        <p:spPr>
          <a:xfrm>
            <a:off x="5485765" y="5792470"/>
            <a:ext cx="252095" cy="417195"/>
          </a:xfrm>
          <a:custGeom>
            <a:avLst/>
            <a:gdLst>
              <a:gd name="connisteX0" fmla="*/ 237529 w 252134"/>
              <a:gd name="connsiteY0" fmla="*/ 0 h 417195"/>
              <a:gd name="connisteX1" fmla="*/ 39 w 252134"/>
              <a:gd name="connsiteY1" fmla="*/ 199390 h 417195"/>
              <a:gd name="connisteX2" fmla="*/ 252134 w 252134"/>
              <a:gd name="connsiteY2" fmla="*/ 417195 h 417195"/>
              <a:gd name="connisteX3" fmla="*/ 326429 w 252134"/>
              <a:gd name="connsiteY3" fmla="*/ 408940 h 4171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52135" h="417195">
                <a:moveTo>
                  <a:pt x="237530" y="0"/>
                </a:moveTo>
                <a:cubicBezTo>
                  <a:pt x="184825" y="35560"/>
                  <a:pt x="-3135" y="116205"/>
                  <a:pt x="40" y="199390"/>
                </a:cubicBezTo>
                <a:cubicBezTo>
                  <a:pt x="3215" y="282575"/>
                  <a:pt x="186730" y="375285"/>
                  <a:pt x="252135" y="417195"/>
                </a:cubicBezTo>
              </a:path>
            </a:pathLst>
          </a:custGeom>
          <a:noFill/>
          <a:ln>
            <a:solidFill>
              <a:schemeClr val="bg1"/>
            </a:solidFill>
            <a:prstDash val="dash"/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/>
        </p:nvSpPr>
        <p:spPr>
          <a:xfrm flipH="1" flipV="1">
            <a:off x="5751830" y="5793740"/>
            <a:ext cx="252095" cy="417195"/>
          </a:xfrm>
          <a:custGeom>
            <a:avLst/>
            <a:gdLst>
              <a:gd name="connisteX0" fmla="*/ 237529 w 252134"/>
              <a:gd name="connsiteY0" fmla="*/ 0 h 417195"/>
              <a:gd name="connisteX1" fmla="*/ 39 w 252134"/>
              <a:gd name="connsiteY1" fmla="*/ 199390 h 417195"/>
              <a:gd name="connisteX2" fmla="*/ 252134 w 252134"/>
              <a:gd name="connsiteY2" fmla="*/ 417195 h 417195"/>
              <a:gd name="connisteX3" fmla="*/ 326429 w 252134"/>
              <a:gd name="connsiteY3" fmla="*/ 408940 h 4171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52135" h="417195">
                <a:moveTo>
                  <a:pt x="237530" y="0"/>
                </a:moveTo>
                <a:cubicBezTo>
                  <a:pt x="184825" y="35560"/>
                  <a:pt x="-3135" y="116205"/>
                  <a:pt x="40" y="199390"/>
                </a:cubicBezTo>
                <a:cubicBezTo>
                  <a:pt x="3215" y="282575"/>
                  <a:pt x="186730" y="375285"/>
                  <a:pt x="252135" y="417195"/>
                </a:cubicBezTo>
              </a:path>
            </a:pathLst>
          </a:custGeom>
          <a:noFill/>
          <a:ln>
            <a:solidFill>
              <a:schemeClr val="bg1"/>
            </a:solidFill>
            <a:prstDash val="dash"/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5533390" y="5842635"/>
            <a:ext cx="4591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执行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5092700" y="5852795"/>
            <a:ext cx="4591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预测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89320" y="5852795"/>
            <a:ext cx="459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反馈</a:t>
            </a:r>
            <a:r>
              <a:rPr lang="zh-CN" altLang="en-US" sz="1000">
                <a:solidFill>
                  <a:schemeClr val="bg1"/>
                </a:solidFill>
              </a:rPr>
              <a:t>校正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938395" y="6250305"/>
            <a:ext cx="16948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基于</a:t>
            </a:r>
            <a:r>
              <a:rPr lang="en-US" altLang="zh-CN" sz="1000"/>
              <a:t>QoS</a:t>
            </a:r>
            <a:r>
              <a:rPr lang="zh-CN" altLang="en-US" sz="1000"/>
              <a:t>可行</a:t>
            </a:r>
            <a:r>
              <a:rPr lang="zh-CN" altLang="en-US" sz="1000"/>
              <a:t>性的</a:t>
            </a:r>
            <a:endParaRPr lang="zh-CN" altLang="en-US" sz="1000"/>
          </a:p>
          <a:p>
            <a:pPr algn="ctr"/>
            <a:r>
              <a:rPr lang="en-US" altLang="zh-CN" sz="1000"/>
              <a:t>RBG-</a:t>
            </a:r>
            <a:r>
              <a:rPr lang="zh-CN" altLang="en-US" sz="1000"/>
              <a:t>功率联合</a:t>
            </a:r>
            <a:r>
              <a:rPr lang="zh-CN" altLang="en-US" sz="1000"/>
              <a:t>分配</a:t>
            </a:r>
            <a:endParaRPr lang="zh-CN" altLang="en-US" sz="1000"/>
          </a:p>
        </p:txBody>
      </p:sp>
      <p:sp>
        <p:nvSpPr>
          <p:cNvPr id="69" name="圆角矩形 68"/>
          <p:cNvSpPr/>
          <p:nvPr/>
        </p:nvSpPr>
        <p:spPr>
          <a:xfrm>
            <a:off x="7270115" y="4565650"/>
            <a:ext cx="1969770" cy="427990"/>
          </a:xfrm>
          <a:prstGeom prst="roundRect">
            <a:avLst/>
          </a:prstGeom>
          <a:solidFill>
            <a:schemeClr val="accent3">
              <a:lumMod val="20000"/>
              <a:lumOff val="80000"/>
              <a:alpha val="7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7402830" y="4565650"/>
            <a:ext cx="16948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基于</a:t>
            </a:r>
            <a:r>
              <a:rPr lang="en-US" altLang="zh-CN" sz="1000"/>
              <a:t>HARQ</a:t>
            </a:r>
            <a:r>
              <a:rPr lang="zh-CN" altLang="en-US" sz="1000"/>
              <a:t>的分层语义</a:t>
            </a:r>
            <a:r>
              <a:rPr lang="zh-CN" altLang="en-US" sz="1000"/>
              <a:t>可靠性传输模型</a:t>
            </a:r>
            <a:endParaRPr lang="zh-CN" altLang="en-US" sz="1000"/>
          </a:p>
        </p:txBody>
      </p:sp>
      <p:sp>
        <p:nvSpPr>
          <p:cNvPr id="70" name="圆角矩形 69"/>
          <p:cNvSpPr/>
          <p:nvPr/>
        </p:nvSpPr>
        <p:spPr>
          <a:xfrm>
            <a:off x="7270115" y="5370195"/>
            <a:ext cx="1673860" cy="427990"/>
          </a:xfrm>
          <a:prstGeom prst="roundRect">
            <a:avLst/>
          </a:prstGeom>
          <a:solidFill>
            <a:schemeClr val="accent3">
              <a:lumMod val="20000"/>
              <a:lumOff val="80000"/>
              <a:alpha val="7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圆角矩形 70"/>
          <p:cNvSpPr/>
          <p:nvPr/>
        </p:nvSpPr>
        <p:spPr>
          <a:xfrm>
            <a:off x="7535545" y="6196965"/>
            <a:ext cx="1673860" cy="427990"/>
          </a:xfrm>
          <a:prstGeom prst="roundRect">
            <a:avLst/>
          </a:prstGeom>
          <a:solidFill>
            <a:schemeClr val="accent3">
              <a:lumMod val="20000"/>
              <a:lumOff val="80000"/>
              <a:alpha val="7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2" name="直接箭头连接符 71"/>
          <p:cNvCxnSpPr/>
          <p:nvPr/>
        </p:nvCxnSpPr>
        <p:spPr>
          <a:xfrm>
            <a:off x="7646035" y="5011420"/>
            <a:ext cx="0" cy="360045"/>
          </a:xfrm>
          <a:prstGeom prst="straightConnector1">
            <a:avLst/>
          </a:prstGeom>
          <a:ln w="19050">
            <a:solidFill>
              <a:schemeClr val="bg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/>
        </p:nvSpPr>
        <p:spPr>
          <a:xfrm>
            <a:off x="7701280" y="5010150"/>
            <a:ext cx="8077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信道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鲁棒性</a:t>
            </a:r>
            <a:endParaRPr lang="zh-CN" altLang="en-US" sz="1000">
              <a:solidFill>
                <a:schemeClr val="bg1"/>
              </a:solidFill>
            </a:endParaRPr>
          </a:p>
        </p:txBody>
      </p:sp>
      <p:cxnSp>
        <p:nvCxnSpPr>
          <p:cNvPr id="74" name="直接箭头连接符 73"/>
          <p:cNvCxnSpPr/>
          <p:nvPr/>
        </p:nvCxnSpPr>
        <p:spPr>
          <a:xfrm>
            <a:off x="9097645" y="5011420"/>
            <a:ext cx="0" cy="1162685"/>
          </a:xfrm>
          <a:prstGeom prst="straightConnector1">
            <a:avLst/>
          </a:prstGeom>
          <a:ln w="19050">
            <a:solidFill>
              <a:schemeClr val="bg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8559800" y="4998085"/>
            <a:ext cx="6457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olidFill>
                  <a:schemeClr val="bg1"/>
                </a:solidFill>
              </a:rPr>
              <a:t>信息</a:t>
            </a:r>
            <a:endParaRPr lang="zh-CN" altLang="en-US" sz="1000">
              <a:solidFill>
                <a:schemeClr val="bg1"/>
              </a:solidFill>
            </a:endParaRPr>
          </a:p>
          <a:p>
            <a:pPr algn="ctr"/>
            <a:r>
              <a:rPr lang="zh-CN" altLang="en-US" sz="1000">
                <a:solidFill>
                  <a:schemeClr val="bg1"/>
                </a:solidFill>
              </a:rPr>
              <a:t>完备性</a:t>
            </a:r>
            <a:endParaRPr lang="zh-CN" altLang="en-US" sz="1000">
              <a:solidFill>
                <a:schemeClr val="bg1"/>
              </a:solidFill>
            </a:endParaRPr>
          </a:p>
        </p:txBody>
      </p:sp>
      <p:cxnSp>
        <p:nvCxnSpPr>
          <p:cNvPr id="78" name="直接箭头连接符 77"/>
          <p:cNvCxnSpPr/>
          <p:nvPr/>
        </p:nvCxnSpPr>
        <p:spPr>
          <a:xfrm>
            <a:off x="5805170" y="3622040"/>
            <a:ext cx="2540" cy="412750"/>
          </a:xfrm>
          <a:prstGeom prst="straightConnector1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>
          <a:xfrm>
            <a:off x="8279765" y="3591560"/>
            <a:ext cx="2540" cy="412750"/>
          </a:xfrm>
          <a:prstGeom prst="straightConnector1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/>
        </p:nvSpPr>
        <p:spPr>
          <a:xfrm>
            <a:off x="7368540" y="5457190"/>
            <a:ext cx="15754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增量编码与轻量化 </a:t>
            </a:r>
            <a:r>
              <a:rPr lang="en-US" altLang="zh-CN" sz="1000"/>
              <a:t>JSCC</a:t>
            </a:r>
            <a:endParaRPr lang="en-US" altLang="zh-CN" sz="1000"/>
          </a:p>
        </p:txBody>
      </p:sp>
      <p:sp>
        <p:nvSpPr>
          <p:cNvPr id="81" name="文本框 80"/>
          <p:cNvSpPr txBox="1"/>
          <p:nvPr/>
        </p:nvSpPr>
        <p:spPr>
          <a:xfrm>
            <a:off x="7630160" y="6226175"/>
            <a:ext cx="15754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基于任务反馈的选择性</a:t>
            </a:r>
            <a:r>
              <a:rPr lang="zh-CN" altLang="en-US" sz="1000"/>
              <a:t>增量重传机制</a:t>
            </a:r>
            <a:endParaRPr lang="zh-CN" altLang="en-US" sz="1000"/>
          </a:p>
        </p:txBody>
      </p:sp>
      <p:sp>
        <p:nvSpPr>
          <p:cNvPr id="83" name="任意多边形 82"/>
          <p:cNvSpPr/>
          <p:nvPr/>
        </p:nvSpPr>
        <p:spPr>
          <a:xfrm flipH="1" flipV="1">
            <a:off x="8092440" y="5779770"/>
            <a:ext cx="252095" cy="417195"/>
          </a:xfrm>
          <a:custGeom>
            <a:avLst/>
            <a:gdLst>
              <a:gd name="connisteX0" fmla="*/ 237529 w 252134"/>
              <a:gd name="connsiteY0" fmla="*/ 0 h 417195"/>
              <a:gd name="connisteX1" fmla="*/ 39 w 252134"/>
              <a:gd name="connsiteY1" fmla="*/ 199390 h 417195"/>
              <a:gd name="connisteX2" fmla="*/ 252134 w 252134"/>
              <a:gd name="connsiteY2" fmla="*/ 417195 h 417195"/>
              <a:gd name="connisteX3" fmla="*/ 326429 w 252134"/>
              <a:gd name="connsiteY3" fmla="*/ 408940 h 4171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52135" h="417195">
                <a:moveTo>
                  <a:pt x="237530" y="0"/>
                </a:moveTo>
                <a:cubicBezTo>
                  <a:pt x="184825" y="35560"/>
                  <a:pt x="-3135" y="116205"/>
                  <a:pt x="40" y="199390"/>
                </a:cubicBezTo>
                <a:cubicBezTo>
                  <a:pt x="3215" y="282575"/>
                  <a:pt x="186730" y="375285"/>
                  <a:pt x="252135" y="417195"/>
                </a:cubicBezTo>
              </a:path>
            </a:pathLst>
          </a:custGeom>
          <a:noFill/>
          <a:ln>
            <a:solidFill>
              <a:schemeClr val="bg1"/>
            </a:solidFill>
            <a:prstDash val="dash"/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任意多边形 83"/>
          <p:cNvSpPr/>
          <p:nvPr/>
        </p:nvSpPr>
        <p:spPr>
          <a:xfrm>
            <a:off x="7840345" y="5802630"/>
            <a:ext cx="252095" cy="417195"/>
          </a:xfrm>
          <a:custGeom>
            <a:avLst/>
            <a:gdLst>
              <a:gd name="connisteX0" fmla="*/ 237529 w 252134"/>
              <a:gd name="connsiteY0" fmla="*/ 0 h 417195"/>
              <a:gd name="connisteX1" fmla="*/ 39 w 252134"/>
              <a:gd name="connsiteY1" fmla="*/ 199390 h 417195"/>
              <a:gd name="connisteX2" fmla="*/ 252134 w 252134"/>
              <a:gd name="connsiteY2" fmla="*/ 417195 h 417195"/>
              <a:gd name="connisteX3" fmla="*/ 326429 w 252134"/>
              <a:gd name="connsiteY3" fmla="*/ 408940 h 4171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52135" h="417195">
                <a:moveTo>
                  <a:pt x="237530" y="0"/>
                </a:moveTo>
                <a:cubicBezTo>
                  <a:pt x="184825" y="35560"/>
                  <a:pt x="-3135" y="116205"/>
                  <a:pt x="40" y="199390"/>
                </a:cubicBezTo>
                <a:cubicBezTo>
                  <a:pt x="3215" y="282575"/>
                  <a:pt x="186730" y="375285"/>
                  <a:pt x="252135" y="417195"/>
                </a:cubicBezTo>
              </a:path>
            </a:pathLst>
          </a:custGeom>
          <a:noFill/>
          <a:ln>
            <a:solidFill>
              <a:schemeClr val="bg1"/>
            </a:solidFill>
            <a:prstDash val="dash"/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/>
        </p:nvSpPr>
        <p:spPr>
          <a:xfrm>
            <a:off x="7132320" y="5802630"/>
            <a:ext cx="8077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olidFill>
                  <a:schemeClr val="bg1"/>
                </a:solidFill>
              </a:rPr>
              <a:t>语义</a:t>
            </a:r>
            <a:r>
              <a:rPr lang="zh-CN" altLang="en-US" sz="1000">
                <a:solidFill>
                  <a:schemeClr val="bg1"/>
                </a:solidFill>
              </a:rPr>
              <a:t>缺失</a:t>
            </a:r>
            <a:endParaRPr lang="zh-CN" altLang="en-US" sz="1000">
              <a:solidFill>
                <a:schemeClr val="bg1"/>
              </a:solidFill>
            </a:endParaRPr>
          </a:p>
          <a:p>
            <a:pPr algn="ctr"/>
            <a:r>
              <a:rPr lang="zh-CN" altLang="en-US" sz="1000">
                <a:solidFill>
                  <a:schemeClr val="bg1"/>
                </a:solidFill>
              </a:rPr>
              <a:t>补充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8234045" y="5817235"/>
            <a:ext cx="8077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olidFill>
                  <a:schemeClr val="bg1"/>
                </a:solidFill>
              </a:rPr>
              <a:t>语义重要性</a:t>
            </a:r>
            <a:r>
              <a:rPr lang="zh-CN" altLang="en-US" sz="1000">
                <a:solidFill>
                  <a:schemeClr val="bg1"/>
                </a:solidFill>
              </a:rPr>
              <a:t>排序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7885430" y="5802630"/>
            <a:ext cx="459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任务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反馈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88" name="圆角矩形 87"/>
          <p:cNvSpPr/>
          <p:nvPr/>
        </p:nvSpPr>
        <p:spPr>
          <a:xfrm>
            <a:off x="2242185" y="4538980"/>
            <a:ext cx="1969770" cy="42799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7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文本框 88"/>
          <p:cNvSpPr txBox="1"/>
          <p:nvPr/>
        </p:nvSpPr>
        <p:spPr>
          <a:xfrm>
            <a:off x="2349500" y="4565650"/>
            <a:ext cx="16948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高动态多重覆盖下的分布式条件切换模型</a:t>
            </a:r>
            <a:endParaRPr lang="zh-CN" altLang="en-US" sz="1000"/>
          </a:p>
        </p:txBody>
      </p:sp>
      <p:sp>
        <p:nvSpPr>
          <p:cNvPr id="90" name="圆角矩形 89"/>
          <p:cNvSpPr/>
          <p:nvPr/>
        </p:nvSpPr>
        <p:spPr>
          <a:xfrm>
            <a:off x="2242185" y="5209540"/>
            <a:ext cx="1969770" cy="42799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7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1" name="直接箭头连接符 90"/>
          <p:cNvCxnSpPr/>
          <p:nvPr/>
        </p:nvCxnSpPr>
        <p:spPr>
          <a:xfrm>
            <a:off x="3196590" y="4964430"/>
            <a:ext cx="0" cy="213995"/>
          </a:xfrm>
          <a:prstGeom prst="straightConnector1">
            <a:avLst/>
          </a:prstGeom>
          <a:ln w="19050">
            <a:solidFill>
              <a:schemeClr val="bg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2" name="文本框 91"/>
          <p:cNvSpPr txBox="1"/>
          <p:nvPr/>
        </p:nvSpPr>
        <p:spPr>
          <a:xfrm>
            <a:off x="3180715" y="4959350"/>
            <a:ext cx="11334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局部公平性估计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2397125" y="5238115"/>
            <a:ext cx="16948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吞吐--公平联合学习</a:t>
            </a:r>
            <a:endParaRPr lang="zh-CN" altLang="en-US" sz="1000"/>
          </a:p>
          <a:p>
            <a:pPr algn="ctr"/>
            <a:r>
              <a:rPr lang="zh-CN" altLang="en-US" sz="1000"/>
              <a:t>与</a:t>
            </a:r>
            <a:r>
              <a:rPr lang="zh-CN" altLang="en-US" sz="1000"/>
              <a:t>优化</a:t>
            </a:r>
            <a:endParaRPr lang="zh-CN" altLang="en-US" sz="1000"/>
          </a:p>
        </p:txBody>
      </p:sp>
      <p:sp>
        <p:nvSpPr>
          <p:cNvPr id="99" name="圆角矩形 98"/>
          <p:cNvSpPr/>
          <p:nvPr/>
        </p:nvSpPr>
        <p:spPr>
          <a:xfrm>
            <a:off x="2129155" y="5817235"/>
            <a:ext cx="2284095" cy="942975"/>
          </a:xfrm>
          <a:prstGeom prst="roundRect">
            <a:avLst>
              <a:gd name="adj" fmla="val 8389"/>
            </a:avLst>
          </a:prstGeom>
          <a:solidFill>
            <a:schemeClr val="accent4">
              <a:lumMod val="20000"/>
              <a:lumOff val="80000"/>
              <a:alpha val="59000"/>
            </a:schemeClr>
          </a:solidFill>
          <a:ln w="15875"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圆角矩形 95"/>
          <p:cNvSpPr/>
          <p:nvPr/>
        </p:nvSpPr>
        <p:spPr>
          <a:xfrm>
            <a:off x="2938145" y="6076950"/>
            <a:ext cx="655955" cy="60134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7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圆角矩形 96"/>
          <p:cNvSpPr/>
          <p:nvPr/>
        </p:nvSpPr>
        <p:spPr>
          <a:xfrm>
            <a:off x="3658235" y="6076950"/>
            <a:ext cx="655955" cy="60134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7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>
            <a:off x="2206625" y="6076950"/>
            <a:ext cx="655955" cy="60134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7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0" name="直接箭头连接符 99"/>
          <p:cNvCxnSpPr/>
          <p:nvPr/>
        </p:nvCxnSpPr>
        <p:spPr>
          <a:xfrm flipV="1">
            <a:off x="3196590" y="5603240"/>
            <a:ext cx="0" cy="213995"/>
          </a:xfrm>
          <a:prstGeom prst="straightConnector1">
            <a:avLst/>
          </a:prstGeom>
          <a:ln w="19050">
            <a:solidFill>
              <a:schemeClr val="bg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3188335" y="5607685"/>
            <a:ext cx="5156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求解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233295" y="5855970"/>
            <a:ext cx="7200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用户协作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2930525" y="5852795"/>
            <a:ext cx="7435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目标优化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3563620" y="5838825"/>
            <a:ext cx="8870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大规模训练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3627755" y="6097270"/>
            <a:ext cx="71945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分布式</a:t>
            </a:r>
            <a:endParaRPr lang="zh-CN" altLang="en-US" sz="1000"/>
          </a:p>
          <a:p>
            <a:pPr algn="ctr"/>
            <a:r>
              <a:rPr lang="zh-CN" altLang="en-US" sz="1000"/>
              <a:t>异步</a:t>
            </a:r>
            <a:r>
              <a:rPr lang="zh-CN" altLang="en-US" sz="1000"/>
              <a:t>训练</a:t>
            </a:r>
            <a:endParaRPr lang="zh-CN" altLang="en-US" sz="1000"/>
          </a:p>
          <a:p>
            <a:pPr algn="ctr"/>
            <a:r>
              <a:rPr lang="zh-CN" altLang="en-US" sz="1000"/>
              <a:t>平台</a:t>
            </a:r>
            <a:endParaRPr lang="zh-CN" altLang="en-US" sz="1000"/>
          </a:p>
        </p:txBody>
      </p:sp>
      <p:sp>
        <p:nvSpPr>
          <p:cNvPr id="106" name="文本框 105"/>
          <p:cNvSpPr txBox="1"/>
          <p:nvPr/>
        </p:nvSpPr>
        <p:spPr>
          <a:xfrm>
            <a:off x="2900045" y="6163945"/>
            <a:ext cx="71945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吞吐</a:t>
            </a:r>
            <a:r>
              <a:rPr lang="en-US" altLang="zh-CN" sz="1000"/>
              <a:t>-</a:t>
            </a:r>
            <a:r>
              <a:rPr lang="zh-CN" altLang="en-US" sz="1000"/>
              <a:t>公平两阶段交替</a:t>
            </a:r>
            <a:r>
              <a:rPr lang="zh-CN" altLang="en-US" sz="1000"/>
              <a:t>训练</a:t>
            </a:r>
            <a:endParaRPr lang="zh-CN" altLang="en-US" sz="1000"/>
          </a:p>
        </p:txBody>
      </p:sp>
      <p:sp>
        <p:nvSpPr>
          <p:cNvPr id="107" name="文本框 106"/>
          <p:cNvSpPr txBox="1"/>
          <p:nvPr/>
        </p:nvSpPr>
        <p:spPr>
          <a:xfrm>
            <a:off x="2143125" y="6097905"/>
            <a:ext cx="71945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低开销</a:t>
            </a:r>
            <a:endParaRPr lang="zh-CN" altLang="en-US" sz="1000"/>
          </a:p>
          <a:p>
            <a:pPr algn="ctr"/>
            <a:r>
              <a:rPr lang="zh-CN" altLang="en-US" sz="1000"/>
              <a:t>邻域</a:t>
            </a:r>
            <a:r>
              <a:rPr lang="zh-CN" altLang="en-US" sz="1000"/>
              <a:t>优势</a:t>
            </a:r>
            <a:endParaRPr lang="zh-CN" altLang="en-US" sz="1000"/>
          </a:p>
          <a:p>
            <a:pPr algn="ctr"/>
            <a:r>
              <a:rPr lang="zh-CN" altLang="en-US" sz="1000"/>
              <a:t>信息</a:t>
            </a:r>
            <a:r>
              <a:rPr lang="zh-CN" altLang="en-US" sz="1000"/>
              <a:t>交互</a:t>
            </a:r>
            <a:endParaRPr lang="zh-CN" altLang="en-US" sz="1000"/>
          </a:p>
        </p:txBody>
      </p:sp>
      <p:sp>
        <p:nvSpPr>
          <p:cNvPr id="39" name="圆角矩形 38"/>
          <p:cNvSpPr/>
          <p:nvPr/>
        </p:nvSpPr>
        <p:spPr>
          <a:xfrm>
            <a:off x="2862580" y="671830"/>
            <a:ext cx="5926455" cy="33147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995295" y="627380"/>
            <a:ext cx="5837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</a:rPr>
              <a:t>面向端到端</a:t>
            </a:r>
            <a:r>
              <a:rPr lang="en-US" altLang="zh-CN" b="1">
                <a:solidFill>
                  <a:schemeClr val="tx1"/>
                </a:solidFill>
              </a:rPr>
              <a:t>QoS</a:t>
            </a:r>
            <a:r>
              <a:rPr lang="zh-CN" altLang="en-US" b="1">
                <a:solidFill>
                  <a:schemeClr val="tx1"/>
                </a:solidFill>
              </a:rPr>
              <a:t>保障的</a:t>
            </a:r>
            <a:r>
              <a:rPr lang="zh-CN" altLang="en-US" b="1">
                <a:solidFill>
                  <a:srgbClr val="C00000"/>
                </a:solidFill>
              </a:rPr>
              <a:t>公平、高效、高可靠</a:t>
            </a:r>
            <a:r>
              <a:rPr lang="zh-CN" altLang="en-US" b="1">
                <a:solidFill>
                  <a:schemeClr val="tx1"/>
                </a:solidFill>
              </a:rPr>
              <a:t>分布式管控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7" name="右箭头 46"/>
          <p:cNvSpPr/>
          <p:nvPr/>
        </p:nvSpPr>
        <p:spPr>
          <a:xfrm rot="5400000">
            <a:off x="5713730" y="1027430"/>
            <a:ext cx="192405" cy="1441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右箭头 57"/>
          <p:cNvSpPr/>
          <p:nvPr/>
        </p:nvSpPr>
        <p:spPr>
          <a:xfrm rot="5400000">
            <a:off x="7677150" y="1027430"/>
            <a:ext cx="192405" cy="1441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右箭头 58"/>
          <p:cNvSpPr/>
          <p:nvPr/>
        </p:nvSpPr>
        <p:spPr>
          <a:xfrm rot="5400000">
            <a:off x="3505835" y="1027430"/>
            <a:ext cx="192405" cy="1441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圆角矩形 67"/>
          <p:cNvSpPr/>
          <p:nvPr/>
        </p:nvSpPr>
        <p:spPr>
          <a:xfrm>
            <a:off x="1911985" y="2927350"/>
            <a:ext cx="7641590" cy="736600"/>
          </a:xfrm>
          <a:prstGeom prst="roundRect">
            <a:avLst>
              <a:gd name="adj" fmla="val 7642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2611755" y="3780155"/>
            <a:ext cx="10083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--</a:t>
            </a:r>
            <a:r>
              <a:rPr lang="zh-CN" altLang="en-US" sz="1000" b="1"/>
              <a:t>分布式</a:t>
            </a:r>
            <a:r>
              <a:rPr lang="zh-CN" altLang="en-US" sz="1000" b="1"/>
              <a:t>决策</a:t>
            </a:r>
            <a:endParaRPr lang="zh-CN" altLang="en-US" sz="1000" b="1"/>
          </a:p>
        </p:txBody>
      </p:sp>
      <p:sp>
        <p:nvSpPr>
          <p:cNvPr id="77" name="流程图: 延期 76"/>
          <p:cNvSpPr/>
          <p:nvPr/>
        </p:nvSpPr>
        <p:spPr>
          <a:xfrm rot="5400000">
            <a:off x="2239645" y="2682875"/>
            <a:ext cx="158750" cy="647700"/>
          </a:xfrm>
          <a:prstGeom prst="flowChartDelay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2607945" y="2875915"/>
            <a:ext cx="1012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--</a:t>
            </a:r>
            <a:r>
              <a:rPr lang="zh-CN" altLang="en-US" sz="1000" b="1"/>
              <a:t>分布式</a:t>
            </a:r>
            <a:r>
              <a:rPr lang="zh-CN" altLang="en-US" sz="1000" b="1"/>
              <a:t>感知</a:t>
            </a:r>
            <a:endParaRPr lang="zh-CN" altLang="en-US" sz="1000" b="1"/>
          </a:p>
        </p:txBody>
      </p:sp>
      <p:sp>
        <p:nvSpPr>
          <p:cNvPr id="95" name="文本框 94"/>
          <p:cNvSpPr txBox="1"/>
          <p:nvPr/>
        </p:nvSpPr>
        <p:spPr>
          <a:xfrm>
            <a:off x="1983105" y="2875915"/>
            <a:ext cx="1012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技术</a:t>
            </a:r>
            <a:r>
              <a:rPr lang="zh-CN" altLang="en-US" sz="1000" b="1"/>
              <a:t>方案</a:t>
            </a:r>
            <a:endParaRPr lang="zh-CN" altLang="en-US" sz="1000" b="1"/>
          </a:p>
        </p:txBody>
      </p:sp>
      <p:cxnSp>
        <p:nvCxnSpPr>
          <p:cNvPr id="98" name="直接箭头连接符 97"/>
          <p:cNvCxnSpPr/>
          <p:nvPr/>
        </p:nvCxnSpPr>
        <p:spPr>
          <a:xfrm flipH="1">
            <a:off x="8261985" y="2806065"/>
            <a:ext cx="0" cy="85725"/>
          </a:xfrm>
          <a:prstGeom prst="straightConnector1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 flipH="1">
            <a:off x="5807710" y="2806065"/>
            <a:ext cx="0" cy="85725"/>
          </a:xfrm>
          <a:prstGeom prst="straightConnector1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/>
          <p:nvPr/>
        </p:nvCxnSpPr>
        <p:spPr>
          <a:xfrm flipH="1">
            <a:off x="3436620" y="2806065"/>
            <a:ext cx="0" cy="85725"/>
          </a:xfrm>
          <a:prstGeom prst="straightConnector1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0" name="圆角矩形 109"/>
          <p:cNvSpPr/>
          <p:nvPr/>
        </p:nvSpPr>
        <p:spPr>
          <a:xfrm>
            <a:off x="4885690" y="3203575"/>
            <a:ext cx="4513580" cy="38798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7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3619500" y="2927350"/>
            <a:ext cx="4567555" cy="300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/>
              <a:t>多源置信度调控的分布式网络状态感知</a:t>
            </a:r>
            <a:r>
              <a:rPr lang="zh-CN" altLang="en-US" sz="1200" b="1"/>
              <a:t>框架（第</a:t>
            </a:r>
            <a:r>
              <a:rPr lang="zh-CN" altLang="en-US" sz="1200" b="1"/>
              <a:t>二章）</a:t>
            </a:r>
            <a:endParaRPr lang="zh-CN" altLang="en-US" sz="1200" b="1"/>
          </a:p>
          <a:p>
            <a:pPr algn="ctr"/>
            <a:endParaRPr lang="zh-CN" altLang="en-US" sz="1200" b="1"/>
          </a:p>
        </p:txBody>
      </p:sp>
      <p:sp>
        <p:nvSpPr>
          <p:cNvPr id="112" name="文本框 111"/>
          <p:cNvSpPr txBox="1"/>
          <p:nvPr/>
        </p:nvSpPr>
        <p:spPr>
          <a:xfrm>
            <a:off x="4806950" y="3224530"/>
            <a:ext cx="45923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退化遥测状态校准与置信度评估 + 置信度约束的多跳状态传播</a:t>
            </a:r>
            <a:endParaRPr lang="zh-CN" altLang="en-US" sz="1200"/>
          </a:p>
        </p:txBody>
      </p:sp>
      <p:sp>
        <p:nvSpPr>
          <p:cNvPr id="6" name="矩形 5"/>
          <p:cNvSpPr/>
          <p:nvPr/>
        </p:nvSpPr>
        <p:spPr>
          <a:xfrm>
            <a:off x="2822575" y="3203575"/>
            <a:ext cx="1491615" cy="447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退化</a:t>
            </a:r>
            <a:r>
              <a:rPr lang="zh-CN" altLang="en-US" sz="1200">
                <a:solidFill>
                  <a:schemeClr val="tx1"/>
                </a:solidFill>
              </a:rPr>
              <a:t>遥测下</a:t>
            </a:r>
            <a:endParaRPr lang="zh-CN" altLang="en-US" sz="1200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rgbClr val="C00000"/>
                </a:solidFill>
              </a:rPr>
              <a:t>本地视图不</a:t>
            </a:r>
            <a:r>
              <a:rPr lang="zh-CN" altLang="en-US" sz="1200" b="1">
                <a:solidFill>
                  <a:srgbClr val="C00000"/>
                </a:solidFill>
              </a:rPr>
              <a:t>可信</a:t>
            </a:r>
            <a:endParaRPr lang="zh-CN" altLang="en-US" sz="1200" b="1">
              <a:solidFill>
                <a:srgbClr val="C00000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4365625" y="3429000"/>
            <a:ext cx="504000" cy="0"/>
          </a:xfrm>
          <a:prstGeom prst="straightConnector1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4347210" y="3401060"/>
            <a:ext cx="574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挑战</a:t>
            </a:r>
            <a:endParaRPr lang="zh-CN" alt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</Words>
  <Application>WPS 演示</Application>
  <PresentationFormat>宽屏</PresentationFormat>
  <Paragraphs>137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503</cp:revision>
  <dcterms:created xsi:type="dcterms:W3CDTF">2023-08-09T12:44:00Z</dcterms:created>
  <dcterms:modified xsi:type="dcterms:W3CDTF">2026-06-17T14:25:55Z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62735A0042EF4AEEA24D51B7AFDBD72A_12</vt:lpwstr>
  </property>
</Properties>
</file>