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7" userDrawn="1">
          <p15:clr>
            <a:srgbClr val="A4A3A4"/>
          </p15:clr>
        </p15:guide>
        <p15:guide id="2" pos="384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700D"/>
    <a:srgbClr val="31859B"/>
    <a:srgbClr val="9DBB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87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圆角矩形 3"/>
          <p:cNvSpPr/>
          <p:nvPr/>
        </p:nvSpPr>
        <p:spPr>
          <a:xfrm>
            <a:off x="-21590" y="3175"/>
            <a:ext cx="1802130" cy="55308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b="1">
                <a:solidFill>
                  <a:schemeClr val="tx1"/>
                </a:solidFill>
              </a:rPr>
              <a:t>绪论</a:t>
            </a:r>
            <a:endParaRPr lang="zh-CN" altLang="en-US" b="1">
              <a:solidFill>
                <a:schemeClr val="tx1"/>
              </a:solidFill>
            </a:endParaRPr>
          </a:p>
          <a:p>
            <a:pPr algn="ctr"/>
            <a:r>
              <a:rPr lang="zh-CN" altLang="en-US" b="1">
                <a:solidFill>
                  <a:schemeClr val="tx1"/>
                </a:solidFill>
              </a:rPr>
              <a:t>（</a:t>
            </a:r>
            <a:r>
              <a:rPr lang="zh-CN" altLang="en-US" b="1">
                <a:solidFill>
                  <a:schemeClr val="tx1"/>
                </a:solidFill>
              </a:rPr>
              <a:t>第一章）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5" name="圆角矩形 4"/>
          <p:cNvSpPr/>
          <p:nvPr/>
        </p:nvSpPr>
        <p:spPr>
          <a:xfrm>
            <a:off x="1911985" y="3175"/>
            <a:ext cx="7641590" cy="55308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7" name="矩形 6"/>
          <p:cNvSpPr/>
          <p:nvPr/>
        </p:nvSpPr>
        <p:spPr>
          <a:xfrm>
            <a:off x="2419350" y="119380"/>
            <a:ext cx="1261745" cy="3397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研究背景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-21590" y="626745"/>
            <a:ext cx="1823720" cy="617474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圆角矩形 11"/>
          <p:cNvSpPr/>
          <p:nvPr/>
        </p:nvSpPr>
        <p:spPr>
          <a:xfrm>
            <a:off x="-21590" y="6894195"/>
            <a:ext cx="1802130" cy="572135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b="1">
                <a:solidFill>
                  <a:schemeClr val="tx1"/>
                </a:solidFill>
              </a:rPr>
              <a:t>总结</a:t>
            </a:r>
            <a:r>
              <a:rPr lang="zh-CN" altLang="en-US" b="1">
                <a:solidFill>
                  <a:schemeClr val="tx1"/>
                </a:solidFill>
              </a:rPr>
              <a:t>展望</a:t>
            </a:r>
            <a:endParaRPr lang="zh-CN" altLang="en-US" b="1">
              <a:solidFill>
                <a:schemeClr val="tx1"/>
              </a:solidFill>
            </a:endParaRPr>
          </a:p>
          <a:p>
            <a:pPr algn="ctr"/>
            <a:r>
              <a:rPr lang="zh-CN" altLang="en-US" b="1">
                <a:solidFill>
                  <a:schemeClr val="tx1"/>
                </a:solidFill>
              </a:rPr>
              <a:t>（</a:t>
            </a:r>
            <a:r>
              <a:rPr lang="zh-CN" altLang="en-US" b="1">
                <a:solidFill>
                  <a:schemeClr val="tx1"/>
                </a:solidFill>
              </a:rPr>
              <a:t>第六章）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" name="圆角矩形 12"/>
          <p:cNvSpPr/>
          <p:nvPr/>
        </p:nvSpPr>
        <p:spPr>
          <a:xfrm>
            <a:off x="1934210" y="6938645"/>
            <a:ext cx="7641590" cy="527685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31825" y="2216150"/>
            <a:ext cx="517525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问</a:t>
            </a:r>
            <a:endParaRPr lang="zh-CN" altLang="en-US" b="1"/>
          </a:p>
          <a:p>
            <a:r>
              <a:rPr lang="zh-CN" altLang="en-US" b="1"/>
              <a:t>题</a:t>
            </a:r>
            <a:endParaRPr lang="zh-CN" altLang="en-US" b="1"/>
          </a:p>
          <a:p>
            <a:r>
              <a:rPr lang="zh-CN" altLang="en-US" b="1"/>
              <a:t>与</a:t>
            </a:r>
            <a:endParaRPr lang="zh-CN" altLang="en-US" b="1"/>
          </a:p>
          <a:p>
            <a:r>
              <a:rPr lang="zh-CN" altLang="en-US" b="1"/>
              <a:t>解</a:t>
            </a:r>
            <a:endParaRPr lang="zh-CN" altLang="en-US" b="1"/>
          </a:p>
          <a:p>
            <a:r>
              <a:rPr lang="zh-CN" altLang="en-US" b="1"/>
              <a:t>决</a:t>
            </a:r>
            <a:endParaRPr lang="zh-CN" altLang="en-US" b="1"/>
          </a:p>
          <a:p>
            <a:r>
              <a:rPr lang="zh-CN" altLang="en-US" b="1"/>
              <a:t>方</a:t>
            </a:r>
            <a:endParaRPr lang="zh-CN" altLang="en-US" b="1"/>
          </a:p>
          <a:p>
            <a:r>
              <a:rPr lang="zh-CN" altLang="en-US" b="1"/>
              <a:t>案</a:t>
            </a:r>
            <a:endParaRPr lang="zh-CN" altLang="en-US" b="1"/>
          </a:p>
        </p:txBody>
      </p:sp>
      <p:sp>
        <p:nvSpPr>
          <p:cNvPr id="42" name="矩形 41"/>
          <p:cNvSpPr/>
          <p:nvPr/>
        </p:nvSpPr>
        <p:spPr>
          <a:xfrm>
            <a:off x="2167255" y="7059930"/>
            <a:ext cx="3318510" cy="35179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全文总结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6118860" y="7053580"/>
            <a:ext cx="3318510" cy="35814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未来展望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16" name="圆角矩形 15"/>
          <p:cNvSpPr/>
          <p:nvPr/>
        </p:nvSpPr>
        <p:spPr>
          <a:xfrm>
            <a:off x="1934210" y="613410"/>
            <a:ext cx="7641590" cy="1299845"/>
          </a:xfrm>
          <a:prstGeom prst="roundRect">
            <a:avLst>
              <a:gd name="adj" fmla="val 7642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grpSp>
        <p:nvGrpSpPr>
          <p:cNvPr id="32" name="组合 31"/>
          <p:cNvGrpSpPr/>
          <p:nvPr/>
        </p:nvGrpSpPr>
        <p:grpSpPr>
          <a:xfrm rot="0">
            <a:off x="1995170" y="575945"/>
            <a:ext cx="708660" cy="245110"/>
            <a:chOff x="7321" y="4988"/>
            <a:chExt cx="1116" cy="386"/>
          </a:xfrm>
        </p:grpSpPr>
        <p:sp>
          <p:nvSpPr>
            <p:cNvPr id="19" name="文本框 18"/>
            <p:cNvSpPr txBox="1"/>
            <p:nvPr/>
          </p:nvSpPr>
          <p:spPr>
            <a:xfrm>
              <a:off x="7485" y="4988"/>
              <a:ext cx="952" cy="3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000" b="1"/>
                <a:t>目标</a:t>
              </a:r>
              <a:endParaRPr lang="zh-CN" altLang="en-US" sz="1000" b="1"/>
            </a:p>
          </p:txBody>
        </p:sp>
        <p:sp>
          <p:nvSpPr>
            <p:cNvPr id="20" name="流程图: 延期 19"/>
            <p:cNvSpPr/>
            <p:nvPr/>
          </p:nvSpPr>
          <p:spPr>
            <a:xfrm rot="5400000">
              <a:off x="7706" y="4684"/>
              <a:ext cx="250" cy="1020"/>
            </a:xfrm>
            <a:prstGeom prst="flowChartDelay">
              <a:avLst/>
            </a:prstGeom>
            <a:noFill/>
            <a:ln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2" name="矩形 21"/>
          <p:cNvSpPr/>
          <p:nvPr/>
        </p:nvSpPr>
        <p:spPr>
          <a:xfrm>
            <a:off x="4885690" y="1287145"/>
            <a:ext cx="1747520" cy="44704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跨层无线资源调度</a:t>
            </a:r>
            <a:r>
              <a:rPr lang="zh-CN" altLang="en-US" sz="1200">
                <a:solidFill>
                  <a:schemeClr val="tx1"/>
                </a:solidFill>
              </a:rPr>
              <a:t>效率</a:t>
            </a:r>
            <a:endParaRPr lang="zh-CN" altLang="en-US" sz="1200">
              <a:solidFill>
                <a:schemeClr val="tx1"/>
              </a:solidFill>
            </a:endParaRPr>
          </a:p>
          <a:p>
            <a:pPr algn="ctr"/>
            <a:r>
              <a:rPr lang="zh-CN" altLang="en-US" sz="1200" b="1">
                <a:solidFill>
                  <a:schemeClr val="tx1"/>
                </a:solidFill>
              </a:rPr>
              <a:t>用户级</a:t>
            </a:r>
            <a:r>
              <a:rPr lang="en-US" altLang="zh-CN" sz="1200" b="1">
                <a:solidFill>
                  <a:schemeClr val="tx1"/>
                </a:solidFill>
              </a:rPr>
              <a:t>QoS</a:t>
            </a:r>
            <a:r>
              <a:rPr lang="zh-CN" altLang="en-US" sz="1200" b="1">
                <a:solidFill>
                  <a:schemeClr val="tx1"/>
                </a:solidFill>
              </a:rPr>
              <a:t>保障</a:t>
            </a:r>
            <a:endParaRPr lang="zh-CN" altLang="en-US" sz="1200" b="1">
              <a:solidFill>
                <a:schemeClr val="tx1"/>
              </a:solidFill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2464435" y="1287145"/>
            <a:ext cx="1747520" cy="44704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接入</a:t>
            </a:r>
            <a:r>
              <a:rPr lang="zh-CN" altLang="en-US" sz="1200">
                <a:solidFill>
                  <a:schemeClr val="tx1"/>
                </a:solidFill>
              </a:rPr>
              <a:t>可靠性</a:t>
            </a:r>
            <a:br>
              <a:rPr lang="zh-CN" altLang="en-US" sz="1200">
                <a:solidFill>
                  <a:schemeClr val="tx1"/>
                </a:solidFill>
              </a:rPr>
            </a:br>
            <a:r>
              <a:rPr lang="zh-CN" altLang="en-US" sz="1200" b="1">
                <a:solidFill>
                  <a:schemeClr val="tx1"/>
                </a:solidFill>
              </a:rPr>
              <a:t>公平连续接入</a:t>
            </a:r>
            <a:endParaRPr lang="zh-CN" altLang="en-US" sz="1200" b="1">
              <a:solidFill>
                <a:schemeClr val="tx1"/>
              </a:solidFill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7402830" y="1287145"/>
            <a:ext cx="1747520" cy="44704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面向多任务的可泛化的、</a:t>
            </a:r>
            <a:r>
              <a:rPr lang="zh-CN" altLang="en-US" sz="1200" b="1">
                <a:solidFill>
                  <a:schemeClr val="tx1"/>
                </a:solidFill>
              </a:rPr>
              <a:t>高可靠传输</a:t>
            </a:r>
            <a:endParaRPr lang="zh-CN" altLang="en-US" sz="1200" b="1">
              <a:solidFill>
                <a:schemeClr val="tx1"/>
              </a:solidFill>
            </a:endParaRPr>
          </a:p>
        </p:txBody>
      </p:sp>
      <p:sp>
        <p:nvSpPr>
          <p:cNvPr id="26" name="圆角矩形 25"/>
          <p:cNvSpPr/>
          <p:nvPr/>
        </p:nvSpPr>
        <p:spPr>
          <a:xfrm>
            <a:off x="2233295" y="1221740"/>
            <a:ext cx="4533900" cy="647065"/>
          </a:xfrm>
          <a:prstGeom prst="round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4211955" y="1604645"/>
            <a:ext cx="9474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接入层</a:t>
            </a:r>
            <a:endParaRPr lang="zh-CN" altLang="en-US" sz="1400"/>
          </a:p>
        </p:txBody>
      </p:sp>
      <p:sp>
        <p:nvSpPr>
          <p:cNvPr id="29" name="圆角矩形 28"/>
          <p:cNvSpPr/>
          <p:nvPr/>
        </p:nvSpPr>
        <p:spPr>
          <a:xfrm>
            <a:off x="1934210" y="2032635"/>
            <a:ext cx="7641590" cy="773430"/>
          </a:xfrm>
          <a:prstGeom prst="roundRect">
            <a:avLst>
              <a:gd name="adj" fmla="val 7642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2056130" y="2015490"/>
            <a:ext cx="60452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/>
              <a:t>  </a:t>
            </a:r>
            <a:r>
              <a:rPr lang="zh-CN" altLang="en-US" sz="1000" b="1"/>
              <a:t>挑战</a:t>
            </a:r>
            <a:endParaRPr lang="zh-CN" altLang="en-US" sz="1000" b="1"/>
          </a:p>
        </p:txBody>
      </p:sp>
      <p:sp>
        <p:nvSpPr>
          <p:cNvPr id="31" name="流程图: 延期 30"/>
          <p:cNvSpPr/>
          <p:nvPr/>
        </p:nvSpPr>
        <p:spPr>
          <a:xfrm rot="5400000">
            <a:off x="2275205" y="1812925"/>
            <a:ext cx="158750" cy="647700"/>
          </a:xfrm>
          <a:prstGeom prst="flowChartDelay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矩形 32"/>
          <p:cNvSpPr/>
          <p:nvPr/>
        </p:nvSpPr>
        <p:spPr>
          <a:xfrm>
            <a:off x="2349500" y="2291080"/>
            <a:ext cx="2160905" cy="44704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全局信息缺失</a:t>
            </a:r>
            <a:r>
              <a:rPr lang="zh-CN" altLang="en-US" sz="1200">
                <a:solidFill>
                  <a:schemeClr val="tx1"/>
                </a:solidFill>
              </a:rPr>
              <a:t>下</a:t>
            </a:r>
            <a:endParaRPr lang="zh-CN" altLang="en-US" sz="1200">
              <a:solidFill>
                <a:schemeClr val="tx1"/>
              </a:solidFill>
            </a:endParaRPr>
          </a:p>
          <a:p>
            <a:pPr algn="ctr"/>
            <a:r>
              <a:rPr lang="zh-CN" altLang="en-US" sz="1200" b="1">
                <a:solidFill>
                  <a:srgbClr val="C00000"/>
                </a:solidFill>
              </a:rPr>
              <a:t>系统公平性</a:t>
            </a:r>
            <a:r>
              <a:rPr lang="zh-CN" altLang="en-US" sz="1200">
                <a:solidFill>
                  <a:schemeClr val="tx1"/>
                </a:solidFill>
              </a:rPr>
              <a:t>失效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852920" y="1214120"/>
            <a:ext cx="2489200" cy="647065"/>
          </a:xfrm>
          <a:prstGeom prst="round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文本框 34"/>
          <p:cNvSpPr txBox="1"/>
          <p:nvPr/>
        </p:nvSpPr>
        <p:spPr>
          <a:xfrm>
            <a:off x="6777990" y="1276350"/>
            <a:ext cx="75755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网络</a:t>
            </a:r>
            <a:r>
              <a:rPr lang="en-US" altLang="zh-CN" sz="1400"/>
              <a:t>/</a:t>
            </a:r>
            <a:endParaRPr lang="en-US" altLang="zh-CN" sz="1400"/>
          </a:p>
          <a:p>
            <a:r>
              <a:rPr lang="zh-CN" altLang="en-US" sz="1400"/>
              <a:t>应用层</a:t>
            </a:r>
            <a:endParaRPr lang="zh-CN" altLang="en-US" sz="1400"/>
          </a:p>
        </p:txBody>
      </p:sp>
      <p:sp>
        <p:nvSpPr>
          <p:cNvPr id="36" name="矩形 35"/>
          <p:cNvSpPr/>
          <p:nvPr/>
        </p:nvSpPr>
        <p:spPr>
          <a:xfrm>
            <a:off x="4732020" y="2291080"/>
            <a:ext cx="2258060" cy="44704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 b="1">
                <a:solidFill>
                  <a:srgbClr val="C00000"/>
                </a:solidFill>
              </a:rPr>
              <a:t>传输</a:t>
            </a:r>
            <a:r>
              <a:rPr lang="en-US" altLang="zh-CN" sz="1200" b="1">
                <a:solidFill>
                  <a:srgbClr val="C00000"/>
                </a:solidFill>
              </a:rPr>
              <a:t>/</a:t>
            </a:r>
            <a:r>
              <a:rPr lang="zh-CN" altLang="en-US" sz="1200" b="1">
                <a:solidFill>
                  <a:srgbClr val="C00000"/>
                </a:solidFill>
              </a:rPr>
              <a:t>业务随机</a:t>
            </a:r>
            <a:r>
              <a:rPr lang="zh-CN" altLang="en-US" sz="1200">
                <a:solidFill>
                  <a:schemeClr val="tx1"/>
                </a:solidFill>
              </a:rPr>
              <a:t>反应式调度</a:t>
            </a:r>
            <a:endParaRPr lang="zh-CN" altLang="en-US" sz="1200">
              <a:solidFill>
                <a:schemeClr val="tx1"/>
              </a:solidFill>
            </a:endParaRPr>
          </a:p>
          <a:p>
            <a:pPr algn="ctr"/>
            <a:r>
              <a:rPr lang="en-US" altLang="zh-CN" sz="1200" b="1">
                <a:solidFill>
                  <a:srgbClr val="C00000"/>
                </a:solidFill>
              </a:rPr>
              <a:t>QoS</a:t>
            </a:r>
            <a:r>
              <a:rPr lang="zh-CN" altLang="en-US" sz="1200">
                <a:solidFill>
                  <a:schemeClr val="tx1"/>
                </a:solidFill>
              </a:rPr>
              <a:t>无法实现长期</a:t>
            </a:r>
            <a:r>
              <a:rPr lang="zh-CN" altLang="en-US" sz="1200">
                <a:solidFill>
                  <a:schemeClr val="tx1"/>
                </a:solidFill>
              </a:rPr>
              <a:t>保证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7114540" y="2291080"/>
            <a:ext cx="2207895" cy="44704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非对称语义观测</a:t>
            </a:r>
            <a:r>
              <a:rPr lang="zh-CN" altLang="en-US" sz="1200">
                <a:solidFill>
                  <a:schemeClr val="tx1"/>
                </a:solidFill>
              </a:rPr>
              <a:t>下</a:t>
            </a:r>
            <a:endParaRPr lang="zh-CN" altLang="en-US" sz="1200">
              <a:solidFill>
                <a:schemeClr val="tx1"/>
              </a:solidFill>
            </a:endParaRPr>
          </a:p>
          <a:p>
            <a:pPr algn="ctr"/>
            <a:r>
              <a:rPr lang="zh-CN" altLang="en-US" sz="1200" b="1">
                <a:solidFill>
                  <a:srgbClr val="C00000"/>
                </a:solidFill>
              </a:rPr>
              <a:t>端到端</a:t>
            </a:r>
            <a:r>
              <a:rPr lang="zh-CN" altLang="en-US" sz="1200" b="1">
                <a:solidFill>
                  <a:srgbClr val="C00000"/>
                </a:solidFill>
              </a:rPr>
              <a:t>信息完整性</a:t>
            </a:r>
            <a:r>
              <a:rPr lang="zh-CN" altLang="en-US" sz="1200">
                <a:solidFill>
                  <a:schemeClr val="tx1"/>
                </a:solidFill>
              </a:rPr>
              <a:t>无法</a:t>
            </a:r>
            <a:r>
              <a:rPr lang="zh-CN" altLang="en-US" sz="1200">
                <a:solidFill>
                  <a:schemeClr val="tx1"/>
                </a:solidFill>
              </a:rPr>
              <a:t>保证</a:t>
            </a:r>
            <a:endParaRPr lang="zh-CN" altLang="en-US" sz="1200">
              <a:solidFill>
                <a:schemeClr val="tx1"/>
              </a:solidFill>
            </a:endParaRPr>
          </a:p>
        </p:txBody>
      </p:sp>
      <p:cxnSp>
        <p:nvCxnSpPr>
          <p:cNvPr id="44" name="直接箭头连接符 43"/>
          <p:cNvCxnSpPr/>
          <p:nvPr/>
        </p:nvCxnSpPr>
        <p:spPr>
          <a:xfrm>
            <a:off x="3436620" y="1736725"/>
            <a:ext cx="0" cy="537845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5" name="圆角矩形 44"/>
          <p:cNvSpPr/>
          <p:nvPr/>
        </p:nvSpPr>
        <p:spPr>
          <a:xfrm>
            <a:off x="1934210" y="3807460"/>
            <a:ext cx="7641590" cy="3063240"/>
          </a:xfrm>
          <a:prstGeom prst="roundRect">
            <a:avLst>
              <a:gd name="adj" fmla="val 7642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6" name="流程图: 延期 45"/>
          <p:cNvSpPr/>
          <p:nvPr/>
        </p:nvSpPr>
        <p:spPr>
          <a:xfrm rot="5400000">
            <a:off x="2275205" y="3601085"/>
            <a:ext cx="158750" cy="647700"/>
          </a:xfrm>
          <a:prstGeom prst="flowChartDelay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8" name="文本框 47"/>
          <p:cNvSpPr txBox="1"/>
          <p:nvPr/>
        </p:nvSpPr>
        <p:spPr>
          <a:xfrm>
            <a:off x="2024380" y="3789680"/>
            <a:ext cx="69405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 b="1"/>
              <a:t>技术</a:t>
            </a:r>
            <a:r>
              <a:rPr lang="zh-CN" altLang="en-US" sz="1000" b="1"/>
              <a:t>方案</a:t>
            </a:r>
            <a:endParaRPr lang="zh-CN" altLang="en-US" sz="1000" b="1"/>
          </a:p>
        </p:txBody>
      </p:sp>
      <p:sp>
        <p:nvSpPr>
          <p:cNvPr id="49" name="圆角矩形 48"/>
          <p:cNvSpPr/>
          <p:nvPr/>
        </p:nvSpPr>
        <p:spPr>
          <a:xfrm>
            <a:off x="2056765" y="4049395"/>
            <a:ext cx="2375535" cy="2769870"/>
          </a:xfrm>
          <a:prstGeom prst="roundRect">
            <a:avLst>
              <a:gd name="adj" fmla="val 6084"/>
            </a:avLst>
          </a:prstGeom>
          <a:solidFill>
            <a:srgbClr val="9DBB61">
              <a:alpha val="77000"/>
            </a:srgb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/>
        </p:nvSpPr>
        <p:spPr>
          <a:xfrm>
            <a:off x="2083435" y="4076700"/>
            <a:ext cx="2364740" cy="5308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/>
              <a:t>面向公平性保障的分布式用户协作切换机制（第三章）</a:t>
            </a:r>
            <a:endParaRPr lang="zh-CN" altLang="en-US" sz="1200" b="1"/>
          </a:p>
        </p:txBody>
      </p:sp>
      <p:sp>
        <p:nvSpPr>
          <p:cNvPr id="51" name="矩形 50"/>
          <p:cNvSpPr/>
          <p:nvPr/>
        </p:nvSpPr>
        <p:spPr>
          <a:xfrm>
            <a:off x="4154170" y="100330"/>
            <a:ext cx="1261745" cy="3397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研究</a:t>
            </a:r>
            <a:r>
              <a:rPr lang="zh-CN" altLang="en-US" sz="1200">
                <a:solidFill>
                  <a:schemeClr val="tx1"/>
                </a:solidFill>
              </a:rPr>
              <a:t>现状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5888990" y="100330"/>
            <a:ext cx="1261745" cy="3397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核心</a:t>
            </a:r>
            <a:r>
              <a:rPr lang="zh-CN" altLang="en-US" sz="1200">
                <a:solidFill>
                  <a:schemeClr val="tx1"/>
                </a:solidFill>
              </a:rPr>
              <a:t>挑战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7623810" y="118110"/>
            <a:ext cx="1261745" cy="3397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研究</a:t>
            </a:r>
            <a:r>
              <a:rPr lang="zh-CN" altLang="en-US" sz="1200">
                <a:solidFill>
                  <a:schemeClr val="tx1"/>
                </a:solidFill>
              </a:rPr>
              <a:t>贡献</a:t>
            </a:r>
            <a:endParaRPr lang="zh-CN" altLang="en-US" sz="1200">
              <a:solidFill>
                <a:schemeClr val="tx1"/>
              </a:solidFill>
            </a:endParaRPr>
          </a:p>
        </p:txBody>
      </p:sp>
      <p:cxnSp>
        <p:nvCxnSpPr>
          <p:cNvPr id="55" name="直接箭头连接符 54"/>
          <p:cNvCxnSpPr/>
          <p:nvPr/>
        </p:nvCxnSpPr>
        <p:spPr>
          <a:xfrm>
            <a:off x="5807710" y="1743710"/>
            <a:ext cx="0" cy="537845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" name="直接箭头连接符 55"/>
          <p:cNvCxnSpPr/>
          <p:nvPr/>
        </p:nvCxnSpPr>
        <p:spPr>
          <a:xfrm>
            <a:off x="8277225" y="1743710"/>
            <a:ext cx="0" cy="537845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7" name="直接箭头连接符 56"/>
          <p:cNvCxnSpPr/>
          <p:nvPr/>
        </p:nvCxnSpPr>
        <p:spPr>
          <a:xfrm>
            <a:off x="3439160" y="3663950"/>
            <a:ext cx="2540" cy="412750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0" name="圆角矩形 59"/>
          <p:cNvSpPr/>
          <p:nvPr/>
        </p:nvSpPr>
        <p:spPr>
          <a:xfrm>
            <a:off x="4559300" y="4053205"/>
            <a:ext cx="2375535" cy="2769870"/>
          </a:xfrm>
          <a:prstGeom prst="roundRect">
            <a:avLst>
              <a:gd name="adj" fmla="val 6084"/>
            </a:avLst>
          </a:prstGeom>
          <a:solidFill>
            <a:srgbClr val="31859B">
              <a:alpha val="61000"/>
            </a:srgb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1" name="圆角矩形 60"/>
          <p:cNvSpPr/>
          <p:nvPr/>
        </p:nvSpPr>
        <p:spPr>
          <a:xfrm>
            <a:off x="7061835" y="4030980"/>
            <a:ext cx="2375535" cy="2769870"/>
          </a:xfrm>
          <a:prstGeom prst="roundRect">
            <a:avLst>
              <a:gd name="adj" fmla="val 6084"/>
            </a:avLst>
          </a:prstGeom>
          <a:solidFill>
            <a:srgbClr val="EA700D">
              <a:alpha val="61000"/>
            </a:srgb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4625340" y="4076700"/>
            <a:ext cx="2364740" cy="5308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/>
              <a:t>内生演化驱动的切片</a:t>
            </a:r>
            <a:r>
              <a:rPr lang="en-US" altLang="zh-CN" sz="1200" b="1"/>
              <a:t>-MAC</a:t>
            </a:r>
            <a:r>
              <a:rPr lang="zh-CN" altLang="en-US" sz="1200" b="1"/>
              <a:t>跨层协同与长期</a:t>
            </a:r>
            <a:r>
              <a:rPr lang="en-US" altLang="zh-CN" sz="1200" b="1"/>
              <a:t>QoS</a:t>
            </a:r>
            <a:r>
              <a:rPr lang="zh-CN" altLang="en-US" sz="1200" b="1"/>
              <a:t>保障</a:t>
            </a:r>
            <a:r>
              <a:rPr lang="zh-CN" altLang="en-US" sz="1200" b="1"/>
              <a:t>机制（第</a:t>
            </a:r>
            <a:r>
              <a:rPr lang="zh-CN" altLang="en-US" sz="1200" b="1"/>
              <a:t>四章）</a:t>
            </a:r>
            <a:endParaRPr lang="zh-CN" altLang="en-US" sz="1200" b="1"/>
          </a:p>
        </p:txBody>
      </p:sp>
      <p:sp>
        <p:nvSpPr>
          <p:cNvPr id="3" name="文本框 2"/>
          <p:cNvSpPr txBox="1"/>
          <p:nvPr/>
        </p:nvSpPr>
        <p:spPr>
          <a:xfrm>
            <a:off x="7072630" y="4076700"/>
            <a:ext cx="2364740" cy="5308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/>
              <a:t>面向非对称语义观测的语义</a:t>
            </a:r>
            <a:r>
              <a:rPr lang="en-US" altLang="zh-CN" sz="1200" b="1"/>
              <a:t>HARQ</a:t>
            </a:r>
            <a:r>
              <a:rPr lang="zh-CN" altLang="en-US" sz="1200" b="1"/>
              <a:t>分层通信框架</a:t>
            </a:r>
            <a:r>
              <a:rPr lang="zh-CN" altLang="en-US" sz="1200" b="1"/>
              <a:t>（第</a:t>
            </a:r>
            <a:r>
              <a:rPr lang="zh-CN" altLang="en-US" sz="1200" b="1"/>
              <a:t>五章）</a:t>
            </a:r>
            <a:endParaRPr lang="zh-CN" altLang="en-US" sz="1200" b="1"/>
          </a:p>
        </p:txBody>
      </p:sp>
      <p:sp>
        <p:nvSpPr>
          <p:cNvPr id="8" name="圆角矩形 7"/>
          <p:cNvSpPr/>
          <p:nvPr/>
        </p:nvSpPr>
        <p:spPr>
          <a:xfrm>
            <a:off x="4749165" y="4565650"/>
            <a:ext cx="1969770" cy="427990"/>
          </a:xfrm>
          <a:prstGeom prst="roundRect">
            <a:avLst/>
          </a:prstGeom>
          <a:solidFill>
            <a:schemeClr val="accent5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4806950" y="4568190"/>
            <a:ext cx="187515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业务</a:t>
            </a:r>
            <a:r>
              <a:rPr lang="en-US" altLang="zh-CN" sz="1000"/>
              <a:t>QoS</a:t>
            </a:r>
            <a:r>
              <a:rPr lang="zh-CN" altLang="en-US" sz="1000"/>
              <a:t>约束下</a:t>
            </a:r>
            <a:r>
              <a:rPr lang="zh-CN" altLang="en-US" sz="1000"/>
              <a:t>的</a:t>
            </a:r>
            <a:endParaRPr lang="zh-CN" altLang="en-US" sz="1000"/>
          </a:p>
          <a:p>
            <a:pPr algn="ctr"/>
            <a:r>
              <a:rPr lang="zh-CN" altLang="en-US" sz="1000"/>
              <a:t>粗细粒度</a:t>
            </a:r>
            <a:r>
              <a:rPr lang="zh-CN" altLang="en-US" sz="1000"/>
              <a:t>跨层资源调度</a:t>
            </a:r>
            <a:r>
              <a:rPr lang="zh-CN" altLang="en-US" sz="1000"/>
              <a:t>模型</a:t>
            </a:r>
            <a:endParaRPr lang="zh-CN" altLang="en-US" sz="1000"/>
          </a:p>
        </p:txBody>
      </p:sp>
      <p:sp>
        <p:nvSpPr>
          <p:cNvPr id="17" name="圆角矩形 16"/>
          <p:cNvSpPr/>
          <p:nvPr/>
        </p:nvSpPr>
        <p:spPr>
          <a:xfrm>
            <a:off x="4749165" y="5260340"/>
            <a:ext cx="1969770" cy="1540510"/>
          </a:xfrm>
          <a:prstGeom prst="roundRect">
            <a:avLst>
              <a:gd name="adj" fmla="val 8389"/>
            </a:avLst>
          </a:prstGeom>
          <a:solidFill>
            <a:schemeClr val="accent5">
              <a:lumMod val="20000"/>
              <a:lumOff val="80000"/>
              <a:alpha val="59000"/>
            </a:schemeClr>
          </a:solidFill>
          <a:ln w="15875">
            <a:solidFill>
              <a:schemeClr val="bg1">
                <a:lumMod val="50000"/>
              </a:schemeClr>
            </a:solidFill>
            <a:prstDash val="dash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圆角矩形 17"/>
          <p:cNvSpPr/>
          <p:nvPr/>
        </p:nvSpPr>
        <p:spPr>
          <a:xfrm>
            <a:off x="4836160" y="5365750"/>
            <a:ext cx="1796415" cy="427990"/>
          </a:xfrm>
          <a:prstGeom prst="roundRect">
            <a:avLst/>
          </a:prstGeom>
          <a:solidFill>
            <a:schemeClr val="accent5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21" name="直接箭头连接符 20"/>
          <p:cNvCxnSpPr/>
          <p:nvPr/>
        </p:nvCxnSpPr>
        <p:spPr>
          <a:xfrm>
            <a:off x="5746750" y="4993640"/>
            <a:ext cx="0" cy="248920"/>
          </a:xfrm>
          <a:prstGeom prst="straightConnector1">
            <a:avLst/>
          </a:prstGeom>
          <a:ln w="19050">
            <a:solidFill>
              <a:schemeClr val="bg1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3" name="文本框 22"/>
          <p:cNvSpPr txBox="1"/>
          <p:nvPr/>
        </p:nvSpPr>
        <p:spPr>
          <a:xfrm>
            <a:off x="5380355" y="4964430"/>
            <a:ext cx="86296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分层</a:t>
            </a:r>
            <a:r>
              <a:rPr lang="en-US" altLang="zh-CN" sz="1000">
                <a:solidFill>
                  <a:schemeClr val="bg1"/>
                </a:solidFill>
              </a:rPr>
              <a:t>  </a:t>
            </a:r>
            <a:r>
              <a:rPr lang="zh-CN" altLang="en-US" sz="1000">
                <a:solidFill>
                  <a:schemeClr val="bg1"/>
                </a:solidFill>
              </a:rPr>
              <a:t>解耦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4885690" y="5393690"/>
            <a:ext cx="169481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面向</a:t>
            </a:r>
            <a:r>
              <a:rPr lang="en-US" altLang="zh-CN" sz="1000">
                <a:solidFill>
                  <a:srgbClr val="FF0000"/>
                </a:solidFill>
              </a:rPr>
              <a:t>QoS</a:t>
            </a:r>
            <a:r>
              <a:rPr lang="zh-CN" altLang="en-US" sz="1000">
                <a:solidFill>
                  <a:srgbClr val="FF0000"/>
                </a:solidFill>
              </a:rPr>
              <a:t>解析预测</a:t>
            </a:r>
            <a:r>
              <a:rPr lang="zh-CN" altLang="en-US" sz="1000"/>
              <a:t>的资源可行域决策</a:t>
            </a:r>
            <a:r>
              <a:rPr lang="zh-CN" altLang="en-US" sz="1000"/>
              <a:t>机制</a:t>
            </a:r>
            <a:endParaRPr lang="zh-CN" altLang="en-US" sz="1000"/>
          </a:p>
        </p:txBody>
      </p:sp>
      <p:sp>
        <p:nvSpPr>
          <p:cNvPr id="40" name="圆角矩形 39"/>
          <p:cNvSpPr/>
          <p:nvPr/>
        </p:nvSpPr>
        <p:spPr>
          <a:xfrm>
            <a:off x="4885690" y="6221095"/>
            <a:ext cx="1796415" cy="427990"/>
          </a:xfrm>
          <a:prstGeom prst="roundRect">
            <a:avLst/>
          </a:prstGeom>
          <a:solidFill>
            <a:schemeClr val="accent5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2" name="任意多边形 61"/>
          <p:cNvSpPr/>
          <p:nvPr/>
        </p:nvSpPr>
        <p:spPr>
          <a:xfrm>
            <a:off x="5485765" y="5792470"/>
            <a:ext cx="252095" cy="417195"/>
          </a:xfrm>
          <a:custGeom>
            <a:avLst/>
            <a:gdLst>
              <a:gd name="connisteX0" fmla="*/ 237529 w 252134"/>
              <a:gd name="connsiteY0" fmla="*/ 0 h 417195"/>
              <a:gd name="connisteX1" fmla="*/ 39 w 252134"/>
              <a:gd name="connsiteY1" fmla="*/ 199390 h 417195"/>
              <a:gd name="connisteX2" fmla="*/ 252134 w 252134"/>
              <a:gd name="connsiteY2" fmla="*/ 417195 h 417195"/>
              <a:gd name="connisteX3" fmla="*/ 326429 w 252134"/>
              <a:gd name="connsiteY3" fmla="*/ 408940 h 41719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</a:cxnLst>
            <a:rect l="l" t="t" r="r" b="b"/>
            <a:pathLst>
              <a:path w="252135" h="417195">
                <a:moveTo>
                  <a:pt x="237530" y="0"/>
                </a:moveTo>
                <a:cubicBezTo>
                  <a:pt x="184825" y="35560"/>
                  <a:pt x="-3135" y="116205"/>
                  <a:pt x="40" y="199390"/>
                </a:cubicBezTo>
                <a:cubicBezTo>
                  <a:pt x="3215" y="282575"/>
                  <a:pt x="186730" y="375285"/>
                  <a:pt x="252135" y="417195"/>
                </a:cubicBezTo>
              </a:path>
            </a:pathLst>
          </a:custGeom>
          <a:noFill/>
          <a:ln>
            <a:solidFill>
              <a:schemeClr val="bg1"/>
            </a:solidFill>
            <a:prstDash val="dash"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3" name="任意多边形 62"/>
          <p:cNvSpPr/>
          <p:nvPr/>
        </p:nvSpPr>
        <p:spPr>
          <a:xfrm flipH="1" flipV="1">
            <a:off x="5751830" y="5793740"/>
            <a:ext cx="252095" cy="417195"/>
          </a:xfrm>
          <a:custGeom>
            <a:avLst/>
            <a:gdLst>
              <a:gd name="connisteX0" fmla="*/ 237529 w 252134"/>
              <a:gd name="connsiteY0" fmla="*/ 0 h 417195"/>
              <a:gd name="connisteX1" fmla="*/ 39 w 252134"/>
              <a:gd name="connsiteY1" fmla="*/ 199390 h 417195"/>
              <a:gd name="connisteX2" fmla="*/ 252134 w 252134"/>
              <a:gd name="connsiteY2" fmla="*/ 417195 h 417195"/>
              <a:gd name="connisteX3" fmla="*/ 326429 w 252134"/>
              <a:gd name="connsiteY3" fmla="*/ 408940 h 41719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</a:cxnLst>
            <a:rect l="l" t="t" r="r" b="b"/>
            <a:pathLst>
              <a:path w="252135" h="417195">
                <a:moveTo>
                  <a:pt x="237530" y="0"/>
                </a:moveTo>
                <a:cubicBezTo>
                  <a:pt x="184825" y="35560"/>
                  <a:pt x="-3135" y="116205"/>
                  <a:pt x="40" y="199390"/>
                </a:cubicBezTo>
                <a:cubicBezTo>
                  <a:pt x="3215" y="282575"/>
                  <a:pt x="186730" y="375285"/>
                  <a:pt x="252135" y="417195"/>
                </a:cubicBezTo>
              </a:path>
            </a:pathLst>
          </a:custGeom>
          <a:noFill/>
          <a:ln>
            <a:solidFill>
              <a:schemeClr val="bg1"/>
            </a:solidFill>
            <a:prstDash val="dash"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4" name="文本框 63"/>
          <p:cNvSpPr txBox="1"/>
          <p:nvPr/>
        </p:nvSpPr>
        <p:spPr>
          <a:xfrm>
            <a:off x="5526405" y="5807710"/>
            <a:ext cx="45910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共识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一致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65" name="文本框 64"/>
          <p:cNvSpPr txBox="1"/>
          <p:nvPr/>
        </p:nvSpPr>
        <p:spPr>
          <a:xfrm>
            <a:off x="5092700" y="5852795"/>
            <a:ext cx="45910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预测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5989320" y="5852795"/>
            <a:ext cx="45910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反馈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4938395" y="6250305"/>
            <a:ext cx="169481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基于</a:t>
            </a:r>
            <a:r>
              <a:rPr lang="en-US" altLang="zh-CN" sz="1000"/>
              <a:t>Lyapunov</a:t>
            </a:r>
            <a:r>
              <a:rPr lang="zh-CN" altLang="en-US" sz="1000"/>
              <a:t>的</a:t>
            </a:r>
            <a:endParaRPr lang="zh-CN" altLang="en-US" sz="1000"/>
          </a:p>
          <a:p>
            <a:pPr algn="ctr"/>
            <a:r>
              <a:rPr lang="zh-CN" altLang="en-US" sz="1000">
                <a:solidFill>
                  <a:srgbClr val="FF0000"/>
                </a:solidFill>
              </a:rPr>
              <a:t>实时长期优化</a:t>
            </a:r>
            <a:r>
              <a:rPr lang="zh-CN" altLang="en-US" sz="1000"/>
              <a:t>方法</a:t>
            </a:r>
            <a:endParaRPr lang="zh-CN" altLang="en-US" sz="1000"/>
          </a:p>
        </p:txBody>
      </p:sp>
      <p:sp>
        <p:nvSpPr>
          <p:cNvPr id="69" name="圆角矩形 68"/>
          <p:cNvSpPr/>
          <p:nvPr/>
        </p:nvSpPr>
        <p:spPr>
          <a:xfrm>
            <a:off x="7270115" y="4565650"/>
            <a:ext cx="1969770" cy="427990"/>
          </a:xfrm>
          <a:prstGeom prst="roundRect">
            <a:avLst/>
          </a:prstGeom>
          <a:solidFill>
            <a:schemeClr val="accent3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文本框 37"/>
          <p:cNvSpPr txBox="1"/>
          <p:nvPr/>
        </p:nvSpPr>
        <p:spPr>
          <a:xfrm>
            <a:off x="7402830" y="4565650"/>
            <a:ext cx="169481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基于</a:t>
            </a:r>
            <a:r>
              <a:rPr lang="en-US" altLang="zh-CN" sz="1000"/>
              <a:t>HARQ</a:t>
            </a:r>
            <a:r>
              <a:rPr lang="zh-CN" altLang="en-US" sz="1000"/>
              <a:t>的分层语义</a:t>
            </a:r>
            <a:r>
              <a:rPr lang="zh-CN" altLang="en-US" sz="1000"/>
              <a:t>可靠性传输模型</a:t>
            </a:r>
            <a:endParaRPr lang="zh-CN" altLang="en-US" sz="1000"/>
          </a:p>
        </p:txBody>
      </p:sp>
      <p:sp>
        <p:nvSpPr>
          <p:cNvPr id="70" name="圆角矩形 69"/>
          <p:cNvSpPr/>
          <p:nvPr/>
        </p:nvSpPr>
        <p:spPr>
          <a:xfrm>
            <a:off x="7270115" y="5370195"/>
            <a:ext cx="1673860" cy="427990"/>
          </a:xfrm>
          <a:prstGeom prst="roundRect">
            <a:avLst/>
          </a:prstGeom>
          <a:solidFill>
            <a:schemeClr val="accent3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1" name="圆角矩形 70"/>
          <p:cNvSpPr/>
          <p:nvPr/>
        </p:nvSpPr>
        <p:spPr>
          <a:xfrm>
            <a:off x="7535545" y="6196965"/>
            <a:ext cx="1673860" cy="427990"/>
          </a:xfrm>
          <a:prstGeom prst="roundRect">
            <a:avLst/>
          </a:prstGeom>
          <a:solidFill>
            <a:schemeClr val="accent3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72" name="直接箭头连接符 71"/>
          <p:cNvCxnSpPr/>
          <p:nvPr/>
        </p:nvCxnSpPr>
        <p:spPr>
          <a:xfrm>
            <a:off x="7646035" y="5011420"/>
            <a:ext cx="0" cy="360045"/>
          </a:xfrm>
          <a:prstGeom prst="straightConnector1">
            <a:avLst/>
          </a:prstGeom>
          <a:ln w="19050">
            <a:solidFill>
              <a:schemeClr val="bg1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3" name="文本框 72"/>
          <p:cNvSpPr txBox="1"/>
          <p:nvPr/>
        </p:nvSpPr>
        <p:spPr>
          <a:xfrm>
            <a:off x="7701280" y="5010150"/>
            <a:ext cx="80772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信道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鲁棒性</a:t>
            </a:r>
            <a:endParaRPr lang="zh-CN" altLang="en-US" sz="1000">
              <a:solidFill>
                <a:schemeClr val="bg1"/>
              </a:solidFill>
            </a:endParaRPr>
          </a:p>
        </p:txBody>
      </p:sp>
      <p:cxnSp>
        <p:nvCxnSpPr>
          <p:cNvPr id="74" name="直接箭头连接符 73"/>
          <p:cNvCxnSpPr/>
          <p:nvPr/>
        </p:nvCxnSpPr>
        <p:spPr>
          <a:xfrm>
            <a:off x="9097645" y="5011420"/>
            <a:ext cx="0" cy="1162685"/>
          </a:xfrm>
          <a:prstGeom prst="straightConnector1">
            <a:avLst/>
          </a:prstGeom>
          <a:ln w="19050">
            <a:solidFill>
              <a:schemeClr val="bg1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5" name="文本框 74"/>
          <p:cNvSpPr txBox="1"/>
          <p:nvPr/>
        </p:nvSpPr>
        <p:spPr>
          <a:xfrm>
            <a:off x="8559800" y="4998085"/>
            <a:ext cx="64579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>
                <a:solidFill>
                  <a:schemeClr val="bg1"/>
                </a:solidFill>
              </a:rPr>
              <a:t>信息</a:t>
            </a:r>
            <a:endParaRPr lang="zh-CN" altLang="en-US" sz="1000">
              <a:solidFill>
                <a:schemeClr val="bg1"/>
              </a:solidFill>
            </a:endParaRPr>
          </a:p>
          <a:p>
            <a:pPr algn="ctr"/>
            <a:r>
              <a:rPr lang="zh-CN" altLang="en-US" sz="1000">
                <a:solidFill>
                  <a:schemeClr val="bg1"/>
                </a:solidFill>
              </a:rPr>
              <a:t>完备性</a:t>
            </a:r>
            <a:endParaRPr lang="zh-CN" altLang="en-US" sz="1000">
              <a:solidFill>
                <a:schemeClr val="bg1"/>
              </a:solidFill>
            </a:endParaRPr>
          </a:p>
        </p:txBody>
      </p:sp>
      <p:cxnSp>
        <p:nvCxnSpPr>
          <p:cNvPr id="78" name="直接箭头连接符 77"/>
          <p:cNvCxnSpPr/>
          <p:nvPr/>
        </p:nvCxnSpPr>
        <p:spPr>
          <a:xfrm>
            <a:off x="5805170" y="3622040"/>
            <a:ext cx="2540" cy="412750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9" name="直接箭头连接符 78"/>
          <p:cNvCxnSpPr/>
          <p:nvPr/>
        </p:nvCxnSpPr>
        <p:spPr>
          <a:xfrm>
            <a:off x="8279765" y="3591560"/>
            <a:ext cx="2540" cy="412750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0" name="文本框 79"/>
          <p:cNvSpPr txBox="1"/>
          <p:nvPr/>
        </p:nvSpPr>
        <p:spPr>
          <a:xfrm>
            <a:off x="7331710" y="5408930"/>
            <a:ext cx="157543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信道鲁棒的语义</a:t>
            </a:r>
            <a:r>
              <a:rPr lang="en-US" altLang="zh-CN" sz="1000"/>
              <a:t>-</a:t>
            </a:r>
            <a:r>
              <a:rPr lang="zh-CN" altLang="en-US" sz="1000"/>
              <a:t>信噪比一</a:t>
            </a:r>
            <a:r>
              <a:rPr lang="zh-CN" altLang="en-US" sz="1000"/>
              <a:t>联合编解码</a:t>
            </a:r>
            <a:r>
              <a:rPr lang="zh-CN" altLang="en-US" sz="1000"/>
              <a:t>机制</a:t>
            </a:r>
            <a:endParaRPr lang="zh-CN" altLang="en-US" sz="1000"/>
          </a:p>
        </p:txBody>
      </p:sp>
      <p:sp>
        <p:nvSpPr>
          <p:cNvPr id="81" name="文本框 80"/>
          <p:cNvSpPr txBox="1"/>
          <p:nvPr/>
        </p:nvSpPr>
        <p:spPr>
          <a:xfrm>
            <a:off x="7630160" y="6226175"/>
            <a:ext cx="157543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基于语义价值的自适应重传调度</a:t>
            </a:r>
            <a:r>
              <a:rPr lang="zh-CN" altLang="en-US" sz="1000"/>
              <a:t>机制</a:t>
            </a:r>
            <a:endParaRPr lang="zh-CN" altLang="en-US" sz="1000"/>
          </a:p>
        </p:txBody>
      </p:sp>
      <p:sp>
        <p:nvSpPr>
          <p:cNvPr id="83" name="任意多边形 82"/>
          <p:cNvSpPr/>
          <p:nvPr/>
        </p:nvSpPr>
        <p:spPr>
          <a:xfrm flipH="1" flipV="1">
            <a:off x="8092440" y="5779770"/>
            <a:ext cx="252095" cy="417195"/>
          </a:xfrm>
          <a:custGeom>
            <a:avLst/>
            <a:gdLst>
              <a:gd name="connisteX0" fmla="*/ 237529 w 252134"/>
              <a:gd name="connsiteY0" fmla="*/ 0 h 417195"/>
              <a:gd name="connisteX1" fmla="*/ 39 w 252134"/>
              <a:gd name="connsiteY1" fmla="*/ 199390 h 417195"/>
              <a:gd name="connisteX2" fmla="*/ 252134 w 252134"/>
              <a:gd name="connsiteY2" fmla="*/ 417195 h 417195"/>
              <a:gd name="connisteX3" fmla="*/ 326429 w 252134"/>
              <a:gd name="connsiteY3" fmla="*/ 408940 h 41719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</a:cxnLst>
            <a:rect l="l" t="t" r="r" b="b"/>
            <a:pathLst>
              <a:path w="252135" h="417195">
                <a:moveTo>
                  <a:pt x="237530" y="0"/>
                </a:moveTo>
                <a:cubicBezTo>
                  <a:pt x="184825" y="35560"/>
                  <a:pt x="-3135" y="116205"/>
                  <a:pt x="40" y="199390"/>
                </a:cubicBezTo>
                <a:cubicBezTo>
                  <a:pt x="3215" y="282575"/>
                  <a:pt x="186730" y="375285"/>
                  <a:pt x="252135" y="417195"/>
                </a:cubicBezTo>
              </a:path>
            </a:pathLst>
          </a:custGeom>
          <a:noFill/>
          <a:ln>
            <a:solidFill>
              <a:schemeClr val="bg1"/>
            </a:solidFill>
            <a:prstDash val="dash"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4" name="任意多边形 83"/>
          <p:cNvSpPr/>
          <p:nvPr/>
        </p:nvSpPr>
        <p:spPr>
          <a:xfrm>
            <a:off x="7840345" y="5802630"/>
            <a:ext cx="252095" cy="417195"/>
          </a:xfrm>
          <a:custGeom>
            <a:avLst/>
            <a:gdLst>
              <a:gd name="connisteX0" fmla="*/ 237529 w 252134"/>
              <a:gd name="connsiteY0" fmla="*/ 0 h 417195"/>
              <a:gd name="connisteX1" fmla="*/ 39 w 252134"/>
              <a:gd name="connsiteY1" fmla="*/ 199390 h 417195"/>
              <a:gd name="connisteX2" fmla="*/ 252134 w 252134"/>
              <a:gd name="connsiteY2" fmla="*/ 417195 h 417195"/>
              <a:gd name="connisteX3" fmla="*/ 326429 w 252134"/>
              <a:gd name="connsiteY3" fmla="*/ 408940 h 41719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</a:cxnLst>
            <a:rect l="l" t="t" r="r" b="b"/>
            <a:pathLst>
              <a:path w="252135" h="417195">
                <a:moveTo>
                  <a:pt x="237530" y="0"/>
                </a:moveTo>
                <a:cubicBezTo>
                  <a:pt x="184825" y="35560"/>
                  <a:pt x="-3135" y="116205"/>
                  <a:pt x="40" y="199390"/>
                </a:cubicBezTo>
                <a:cubicBezTo>
                  <a:pt x="3215" y="282575"/>
                  <a:pt x="186730" y="375285"/>
                  <a:pt x="252135" y="417195"/>
                </a:cubicBezTo>
              </a:path>
            </a:pathLst>
          </a:custGeom>
          <a:noFill/>
          <a:ln>
            <a:solidFill>
              <a:schemeClr val="bg1"/>
            </a:solidFill>
            <a:prstDash val="dash"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5" name="文本框 84"/>
          <p:cNvSpPr txBox="1"/>
          <p:nvPr/>
        </p:nvSpPr>
        <p:spPr>
          <a:xfrm>
            <a:off x="7132320" y="5802630"/>
            <a:ext cx="80772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>
                <a:solidFill>
                  <a:schemeClr val="bg1"/>
                </a:solidFill>
              </a:rPr>
              <a:t>完整度</a:t>
            </a:r>
            <a:endParaRPr lang="zh-CN" altLang="en-US" sz="1000">
              <a:solidFill>
                <a:schemeClr val="bg1"/>
              </a:solidFill>
            </a:endParaRPr>
          </a:p>
          <a:p>
            <a:pPr algn="ctr"/>
            <a:r>
              <a:rPr lang="zh-CN" altLang="en-US" sz="1000">
                <a:solidFill>
                  <a:schemeClr val="bg1"/>
                </a:solidFill>
              </a:rPr>
              <a:t>保证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86" name="文本框 85"/>
          <p:cNvSpPr txBox="1"/>
          <p:nvPr/>
        </p:nvSpPr>
        <p:spPr>
          <a:xfrm>
            <a:off x="8234045" y="5817235"/>
            <a:ext cx="80772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>
                <a:solidFill>
                  <a:schemeClr val="bg1"/>
                </a:solidFill>
              </a:rPr>
              <a:t>语义重要性</a:t>
            </a:r>
            <a:r>
              <a:rPr lang="zh-CN" altLang="en-US" sz="1000">
                <a:solidFill>
                  <a:schemeClr val="bg1"/>
                </a:solidFill>
              </a:rPr>
              <a:t>排序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87" name="文本框 86"/>
          <p:cNvSpPr txBox="1"/>
          <p:nvPr/>
        </p:nvSpPr>
        <p:spPr>
          <a:xfrm>
            <a:off x="7885430" y="5802630"/>
            <a:ext cx="45910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任务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驱动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88" name="圆角矩形 87"/>
          <p:cNvSpPr/>
          <p:nvPr/>
        </p:nvSpPr>
        <p:spPr>
          <a:xfrm>
            <a:off x="2242185" y="4538980"/>
            <a:ext cx="1969770" cy="427990"/>
          </a:xfrm>
          <a:prstGeom prst="roundRect">
            <a:avLst/>
          </a:prstGeom>
          <a:solidFill>
            <a:schemeClr val="accent4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9" name="文本框 88"/>
          <p:cNvSpPr txBox="1"/>
          <p:nvPr/>
        </p:nvSpPr>
        <p:spPr>
          <a:xfrm>
            <a:off x="2349500" y="4565650"/>
            <a:ext cx="169481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低轨卫星动态多重覆盖下的用户分布式切换</a:t>
            </a:r>
            <a:r>
              <a:rPr lang="zh-CN" altLang="en-US" sz="1000"/>
              <a:t>模型</a:t>
            </a:r>
            <a:endParaRPr lang="zh-CN" altLang="en-US" sz="1000"/>
          </a:p>
        </p:txBody>
      </p:sp>
      <p:sp>
        <p:nvSpPr>
          <p:cNvPr id="90" name="圆角矩形 89"/>
          <p:cNvSpPr/>
          <p:nvPr/>
        </p:nvSpPr>
        <p:spPr>
          <a:xfrm>
            <a:off x="2242185" y="5209540"/>
            <a:ext cx="1969770" cy="427990"/>
          </a:xfrm>
          <a:prstGeom prst="roundRect">
            <a:avLst/>
          </a:prstGeom>
          <a:solidFill>
            <a:schemeClr val="accent4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91" name="直接箭头连接符 90"/>
          <p:cNvCxnSpPr/>
          <p:nvPr/>
        </p:nvCxnSpPr>
        <p:spPr>
          <a:xfrm>
            <a:off x="3196590" y="4964430"/>
            <a:ext cx="0" cy="213995"/>
          </a:xfrm>
          <a:prstGeom prst="straightConnector1">
            <a:avLst/>
          </a:prstGeom>
          <a:ln w="19050">
            <a:solidFill>
              <a:schemeClr val="bg1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2" name="文本框 91"/>
          <p:cNvSpPr txBox="1"/>
          <p:nvPr/>
        </p:nvSpPr>
        <p:spPr>
          <a:xfrm>
            <a:off x="3180715" y="4959350"/>
            <a:ext cx="86296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公平性</a:t>
            </a:r>
            <a:r>
              <a:rPr lang="zh-CN" altLang="en-US" sz="1000">
                <a:solidFill>
                  <a:schemeClr val="bg1"/>
                </a:solidFill>
              </a:rPr>
              <a:t>编码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93" name="文本框 92"/>
          <p:cNvSpPr txBox="1"/>
          <p:nvPr/>
        </p:nvSpPr>
        <p:spPr>
          <a:xfrm>
            <a:off x="2397125" y="5300980"/>
            <a:ext cx="169481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多目标马尔科夫决策</a:t>
            </a:r>
            <a:r>
              <a:rPr lang="zh-CN" altLang="en-US" sz="1000"/>
              <a:t>过程</a:t>
            </a:r>
            <a:endParaRPr lang="zh-CN" altLang="en-US" sz="1000"/>
          </a:p>
        </p:txBody>
      </p:sp>
      <p:sp>
        <p:nvSpPr>
          <p:cNvPr id="99" name="圆角矩形 98"/>
          <p:cNvSpPr/>
          <p:nvPr/>
        </p:nvSpPr>
        <p:spPr>
          <a:xfrm>
            <a:off x="2129155" y="5817235"/>
            <a:ext cx="2284095" cy="942975"/>
          </a:xfrm>
          <a:prstGeom prst="roundRect">
            <a:avLst>
              <a:gd name="adj" fmla="val 8389"/>
            </a:avLst>
          </a:prstGeom>
          <a:solidFill>
            <a:schemeClr val="accent4">
              <a:lumMod val="20000"/>
              <a:lumOff val="80000"/>
              <a:alpha val="59000"/>
            </a:schemeClr>
          </a:solidFill>
          <a:ln w="15875">
            <a:solidFill>
              <a:schemeClr val="bg1">
                <a:lumMod val="50000"/>
              </a:schemeClr>
            </a:solidFill>
            <a:prstDash val="dash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6" name="圆角矩形 95"/>
          <p:cNvSpPr/>
          <p:nvPr/>
        </p:nvSpPr>
        <p:spPr>
          <a:xfrm>
            <a:off x="2938145" y="6076950"/>
            <a:ext cx="655955" cy="601345"/>
          </a:xfrm>
          <a:prstGeom prst="roundRect">
            <a:avLst/>
          </a:prstGeom>
          <a:solidFill>
            <a:schemeClr val="accent4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7" name="圆角矩形 96"/>
          <p:cNvSpPr/>
          <p:nvPr/>
        </p:nvSpPr>
        <p:spPr>
          <a:xfrm>
            <a:off x="3658235" y="6076950"/>
            <a:ext cx="655955" cy="601345"/>
          </a:xfrm>
          <a:prstGeom prst="roundRect">
            <a:avLst/>
          </a:prstGeom>
          <a:solidFill>
            <a:schemeClr val="accent4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4" name="圆角矩形 93"/>
          <p:cNvSpPr/>
          <p:nvPr/>
        </p:nvSpPr>
        <p:spPr>
          <a:xfrm>
            <a:off x="2206625" y="6076950"/>
            <a:ext cx="655955" cy="601345"/>
          </a:xfrm>
          <a:prstGeom prst="roundRect">
            <a:avLst/>
          </a:prstGeom>
          <a:solidFill>
            <a:schemeClr val="accent4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00" name="直接箭头连接符 99"/>
          <p:cNvCxnSpPr/>
          <p:nvPr/>
        </p:nvCxnSpPr>
        <p:spPr>
          <a:xfrm flipV="1">
            <a:off x="3196590" y="5603240"/>
            <a:ext cx="0" cy="213995"/>
          </a:xfrm>
          <a:prstGeom prst="straightConnector1">
            <a:avLst/>
          </a:prstGeom>
          <a:ln w="19050">
            <a:solidFill>
              <a:schemeClr val="bg1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1" name="文本框 100"/>
          <p:cNvSpPr txBox="1"/>
          <p:nvPr/>
        </p:nvSpPr>
        <p:spPr>
          <a:xfrm>
            <a:off x="3188335" y="5607685"/>
            <a:ext cx="51562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求解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102" name="文本框 101"/>
          <p:cNvSpPr txBox="1"/>
          <p:nvPr/>
        </p:nvSpPr>
        <p:spPr>
          <a:xfrm>
            <a:off x="2233295" y="5855970"/>
            <a:ext cx="72009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用户协作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103" name="文本框 102"/>
          <p:cNvSpPr txBox="1"/>
          <p:nvPr/>
        </p:nvSpPr>
        <p:spPr>
          <a:xfrm>
            <a:off x="2930525" y="5852795"/>
            <a:ext cx="74358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目标优化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104" name="文本框 103"/>
          <p:cNvSpPr txBox="1"/>
          <p:nvPr/>
        </p:nvSpPr>
        <p:spPr>
          <a:xfrm>
            <a:off x="3563620" y="5838825"/>
            <a:ext cx="88709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大规模训练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105" name="文本框 104"/>
          <p:cNvSpPr txBox="1"/>
          <p:nvPr/>
        </p:nvSpPr>
        <p:spPr>
          <a:xfrm>
            <a:off x="3627755" y="6097270"/>
            <a:ext cx="719455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分布式</a:t>
            </a:r>
            <a:endParaRPr lang="zh-CN" altLang="en-US" sz="1000"/>
          </a:p>
          <a:p>
            <a:pPr algn="ctr"/>
            <a:r>
              <a:rPr lang="zh-CN" altLang="en-US" sz="1000"/>
              <a:t>异步</a:t>
            </a:r>
            <a:r>
              <a:rPr lang="zh-CN" altLang="en-US" sz="1000"/>
              <a:t>训练</a:t>
            </a:r>
            <a:endParaRPr lang="zh-CN" altLang="en-US" sz="1000"/>
          </a:p>
          <a:p>
            <a:pPr algn="ctr"/>
            <a:r>
              <a:rPr lang="zh-CN" altLang="en-US" sz="1000"/>
              <a:t>平台</a:t>
            </a:r>
            <a:endParaRPr lang="zh-CN" altLang="en-US" sz="1000"/>
          </a:p>
        </p:txBody>
      </p:sp>
      <p:sp>
        <p:nvSpPr>
          <p:cNvPr id="106" name="文本框 105"/>
          <p:cNvSpPr txBox="1"/>
          <p:nvPr/>
        </p:nvSpPr>
        <p:spPr>
          <a:xfrm>
            <a:off x="2900045" y="6163945"/>
            <a:ext cx="719455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基于</a:t>
            </a:r>
            <a:r>
              <a:rPr lang="zh-CN" altLang="en-US" sz="1000">
                <a:solidFill>
                  <a:srgbClr val="FF0000"/>
                </a:solidFill>
              </a:rPr>
              <a:t>交替训练</a:t>
            </a:r>
            <a:r>
              <a:rPr lang="zh-CN" altLang="en-US" sz="1000"/>
              <a:t>的多目标</a:t>
            </a:r>
            <a:r>
              <a:rPr lang="zh-CN" altLang="en-US" sz="1000"/>
              <a:t>优化</a:t>
            </a:r>
            <a:endParaRPr lang="zh-CN" altLang="en-US" sz="1000"/>
          </a:p>
        </p:txBody>
      </p:sp>
      <p:sp>
        <p:nvSpPr>
          <p:cNvPr id="107" name="文本框 106"/>
          <p:cNvSpPr txBox="1"/>
          <p:nvPr/>
        </p:nvSpPr>
        <p:spPr>
          <a:xfrm>
            <a:off x="2143125" y="6097905"/>
            <a:ext cx="71945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基于优势值估计的</a:t>
            </a:r>
            <a:r>
              <a:rPr lang="zh-CN" altLang="en-US" sz="1000">
                <a:solidFill>
                  <a:srgbClr val="FF0000"/>
                </a:solidFill>
              </a:rPr>
              <a:t>分布式一致性</a:t>
            </a:r>
            <a:endParaRPr lang="zh-CN" altLang="en-US" sz="1000">
              <a:solidFill>
                <a:srgbClr val="FF0000"/>
              </a:solidFill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3089275" y="671830"/>
            <a:ext cx="5298440" cy="331470"/>
          </a:xfrm>
          <a:prstGeom prst="roundRect">
            <a:avLst/>
          </a:prstGeom>
          <a:solidFill>
            <a:schemeClr val="accent4">
              <a:lumMod val="20000"/>
              <a:lumOff val="80000"/>
              <a:alpha val="65000"/>
            </a:schemeClr>
          </a:solidFill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3090545" y="635000"/>
            <a:ext cx="55746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>
                <a:solidFill>
                  <a:srgbClr val="FF0000"/>
                </a:solidFill>
              </a:rPr>
              <a:t>局部自治</a:t>
            </a:r>
            <a:r>
              <a:rPr lang="zh-CN" altLang="en-US" b="1">
                <a:solidFill>
                  <a:srgbClr val="FF0000"/>
                </a:solidFill>
              </a:rPr>
              <a:t>的高效、高可靠</a:t>
            </a:r>
            <a:r>
              <a:rPr lang="zh-CN" altLang="en-US" b="1"/>
              <a:t>的</a:t>
            </a:r>
            <a:r>
              <a:rPr lang="en-US" altLang="zh-CN" b="1"/>
              <a:t>LEO</a:t>
            </a:r>
            <a:r>
              <a:rPr lang="zh-CN" altLang="en-US" b="1"/>
              <a:t>卫星网络端到端传输</a:t>
            </a:r>
            <a:endParaRPr lang="zh-CN" altLang="en-US" b="1"/>
          </a:p>
        </p:txBody>
      </p:sp>
      <p:sp>
        <p:nvSpPr>
          <p:cNvPr id="47" name="右箭头 46"/>
          <p:cNvSpPr/>
          <p:nvPr/>
        </p:nvSpPr>
        <p:spPr>
          <a:xfrm rot="5400000">
            <a:off x="5713730" y="1027430"/>
            <a:ext cx="192405" cy="14414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8" name="右箭头 57"/>
          <p:cNvSpPr/>
          <p:nvPr/>
        </p:nvSpPr>
        <p:spPr>
          <a:xfrm rot="5400000">
            <a:off x="7677150" y="1027430"/>
            <a:ext cx="192405" cy="14414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9" name="右箭头 58"/>
          <p:cNvSpPr/>
          <p:nvPr/>
        </p:nvSpPr>
        <p:spPr>
          <a:xfrm rot="5400000">
            <a:off x="3505835" y="1027430"/>
            <a:ext cx="192405" cy="14414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8" name="圆角矩形 67"/>
          <p:cNvSpPr/>
          <p:nvPr/>
        </p:nvSpPr>
        <p:spPr>
          <a:xfrm>
            <a:off x="1911985" y="2927350"/>
            <a:ext cx="7641590" cy="736600"/>
          </a:xfrm>
          <a:prstGeom prst="roundRect">
            <a:avLst>
              <a:gd name="adj" fmla="val 7642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76" name="文本框 75"/>
          <p:cNvSpPr txBox="1"/>
          <p:nvPr/>
        </p:nvSpPr>
        <p:spPr>
          <a:xfrm>
            <a:off x="2611755" y="3780155"/>
            <a:ext cx="100838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--</a:t>
            </a:r>
            <a:r>
              <a:rPr lang="zh-CN" altLang="en-US" sz="1000" b="1"/>
              <a:t>分布式</a:t>
            </a:r>
            <a:r>
              <a:rPr lang="zh-CN" altLang="en-US" sz="1000" b="1"/>
              <a:t>决策</a:t>
            </a:r>
            <a:endParaRPr lang="zh-CN" altLang="en-US" sz="1000" b="1"/>
          </a:p>
        </p:txBody>
      </p:sp>
      <p:sp>
        <p:nvSpPr>
          <p:cNvPr id="77" name="流程图: 延期 76"/>
          <p:cNvSpPr/>
          <p:nvPr/>
        </p:nvSpPr>
        <p:spPr>
          <a:xfrm rot="5400000">
            <a:off x="2239645" y="2682875"/>
            <a:ext cx="158750" cy="647700"/>
          </a:xfrm>
          <a:prstGeom prst="flowChartDelay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2" name="文本框 81"/>
          <p:cNvSpPr txBox="1"/>
          <p:nvPr/>
        </p:nvSpPr>
        <p:spPr>
          <a:xfrm>
            <a:off x="2607945" y="2875915"/>
            <a:ext cx="101219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--</a:t>
            </a:r>
            <a:r>
              <a:rPr lang="zh-CN" altLang="en-US" sz="1000" b="1"/>
              <a:t>分布式</a:t>
            </a:r>
            <a:r>
              <a:rPr lang="zh-CN" altLang="en-US" sz="1000" b="1"/>
              <a:t>感知</a:t>
            </a:r>
            <a:endParaRPr lang="zh-CN" altLang="en-US" sz="1000" b="1"/>
          </a:p>
        </p:txBody>
      </p:sp>
      <p:sp>
        <p:nvSpPr>
          <p:cNvPr id="95" name="文本框 94"/>
          <p:cNvSpPr txBox="1"/>
          <p:nvPr/>
        </p:nvSpPr>
        <p:spPr>
          <a:xfrm>
            <a:off x="1983105" y="2875915"/>
            <a:ext cx="101219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 b="1"/>
              <a:t>技术</a:t>
            </a:r>
            <a:r>
              <a:rPr lang="zh-CN" altLang="en-US" sz="1000" b="1"/>
              <a:t>方案</a:t>
            </a:r>
            <a:endParaRPr lang="zh-CN" altLang="en-US" sz="1000" b="1"/>
          </a:p>
        </p:txBody>
      </p:sp>
      <p:cxnSp>
        <p:nvCxnSpPr>
          <p:cNvPr id="98" name="直接箭头连接符 97"/>
          <p:cNvCxnSpPr/>
          <p:nvPr/>
        </p:nvCxnSpPr>
        <p:spPr>
          <a:xfrm flipH="1">
            <a:off x="8261985" y="2806065"/>
            <a:ext cx="0" cy="85725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 flipH="1">
            <a:off x="5807710" y="2806065"/>
            <a:ext cx="0" cy="85725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9" name="直接箭头连接符 108"/>
          <p:cNvCxnSpPr/>
          <p:nvPr/>
        </p:nvCxnSpPr>
        <p:spPr>
          <a:xfrm flipH="1">
            <a:off x="3436620" y="2806065"/>
            <a:ext cx="0" cy="85725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0" name="圆角矩形 109"/>
          <p:cNvSpPr/>
          <p:nvPr/>
        </p:nvSpPr>
        <p:spPr>
          <a:xfrm>
            <a:off x="3515995" y="3291840"/>
            <a:ext cx="4827905" cy="299720"/>
          </a:xfrm>
          <a:prstGeom prst="roundRect">
            <a:avLst/>
          </a:prstGeom>
          <a:solidFill>
            <a:schemeClr val="accent4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1" name="文本框 110"/>
          <p:cNvSpPr txBox="1"/>
          <p:nvPr/>
        </p:nvSpPr>
        <p:spPr>
          <a:xfrm>
            <a:off x="3619500" y="2991485"/>
            <a:ext cx="4567555" cy="3003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/>
              <a:t>面向分布式控制的多跳信息交互与表征学习机制（第</a:t>
            </a:r>
            <a:r>
              <a:rPr lang="zh-CN" altLang="en-US" sz="1200" b="1"/>
              <a:t>二章）</a:t>
            </a:r>
            <a:endParaRPr lang="zh-CN" altLang="en-US" sz="1200" b="1"/>
          </a:p>
          <a:p>
            <a:pPr algn="ctr"/>
            <a:endParaRPr lang="zh-CN" altLang="en-US" sz="1200" b="1"/>
          </a:p>
        </p:txBody>
      </p:sp>
      <p:sp>
        <p:nvSpPr>
          <p:cNvPr id="112" name="文本框 111"/>
          <p:cNvSpPr txBox="1"/>
          <p:nvPr/>
        </p:nvSpPr>
        <p:spPr>
          <a:xfrm>
            <a:off x="3594100" y="3291840"/>
            <a:ext cx="459232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基于时空相关性的不可靠节点修复机制</a:t>
            </a:r>
            <a:r>
              <a:rPr lang="en-US" altLang="zh-CN" sz="1000"/>
              <a:t>+</a:t>
            </a:r>
            <a:r>
              <a:rPr lang="zh-CN" altLang="en-US" sz="1000"/>
              <a:t>基于反应扩散的长程多跳表征传播机制</a:t>
            </a:r>
            <a:endParaRPr lang="zh-CN" altLang="en-US" sz="1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594</Words>
  <Application>WPS 演示</Application>
  <PresentationFormat>宽屏</PresentationFormat>
  <Paragraphs>131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微软雅黑</vt:lpstr>
      <vt:lpstr>Calibri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郎修璞</dc:creator>
  <cp:lastModifiedBy>Lawyer He</cp:lastModifiedBy>
  <cp:revision>416</cp:revision>
  <dcterms:created xsi:type="dcterms:W3CDTF">2023-08-09T12:44:00Z</dcterms:created>
  <dcterms:modified xsi:type="dcterms:W3CDTF">2026-03-27T01:50:28Z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62735A0042EF4AEEA24D51B7AFDBD72A_12</vt:lpwstr>
  </property>
</Properties>
</file>