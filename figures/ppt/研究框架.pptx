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1" userDrawn="1">
          <p15:clr>
            <a:srgbClr val="A4A3A4"/>
          </p15:clr>
        </p15:guide>
        <p15:guide id="2" pos="38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700D"/>
    <a:srgbClr val="31859B"/>
    <a:srgbClr val="9DBB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1"/>
        <p:guide pos="38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1216660" y="132715"/>
            <a:ext cx="1802130" cy="7899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研究选题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150235" y="132715"/>
            <a:ext cx="7641590" cy="7899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246755" y="161925"/>
            <a:ext cx="13823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/>
              <a:t>绪论（第一章）</a:t>
            </a:r>
            <a:endParaRPr lang="zh-CN" altLang="en-US" sz="1400" b="1"/>
          </a:p>
        </p:txBody>
      </p:sp>
      <p:sp>
        <p:nvSpPr>
          <p:cNvPr id="7" name="矩形 6"/>
          <p:cNvSpPr/>
          <p:nvPr/>
        </p:nvSpPr>
        <p:spPr>
          <a:xfrm>
            <a:off x="3657600" y="48577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研究背景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1216025" y="982980"/>
            <a:ext cx="1802130" cy="497649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216025" y="6023610"/>
            <a:ext cx="1802130" cy="78994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研究结论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3150235" y="6027420"/>
            <a:ext cx="7641590" cy="76009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858010" y="2458085"/>
            <a:ext cx="5175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问</a:t>
            </a:r>
            <a:endParaRPr lang="zh-CN" altLang="en-US" b="1"/>
          </a:p>
          <a:p>
            <a:r>
              <a:rPr lang="zh-CN" altLang="en-US" b="1"/>
              <a:t>题</a:t>
            </a:r>
            <a:endParaRPr lang="zh-CN" altLang="en-US" b="1"/>
          </a:p>
          <a:p>
            <a:r>
              <a:rPr lang="zh-CN" altLang="en-US" b="1"/>
              <a:t>与</a:t>
            </a:r>
            <a:endParaRPr lang="zh-CN" altLang="en-US" b="1"/>
          </a:p>
          <a:p>
            <a:r>
              <a:rPr lang="zh-CN" altLang="en-US" b="1"/>
              <a:t>解</a:t>
            </a:r>
            <a:endParaRPr lang="zh-CN" altLang="en-US" b="1"/>
          </a:p>
          <a:p>
            <a:r>
              <a:rPr lang="zh-CN" altLang="en-US" b="1"/>
              <a:t>决</a:t>
            </a:r>
            <a:endParaRPr lang="zh-CN" altLang="en-US" b="1"/>
          </a:p>
          <a:p>
            <a:r>
              <a:rPr lang="zh-CN" altLang="en-US" b="1"/>
              <a:t>方</a:t>
            </a:r>
            <a:endParaRPr lang="zh-CN" altLang="en-US" b="1"/>
          </a:p>
          <a:p>
            <a:r>
              <a:rPr lang="zh-CN" altLang="en-US" b="1"/>
              <a:t>案</a:t>
            </a:r>
            <a:endParaRPr lang="zh-CN" altLang="en-US" b="1"/>
          </a:p>
        </p:txBody>
      </p:sp>
      <p:sp>
        <p:nvSpPr>
          <p:cNvPr id="15" name="文本框 14"/>
          <p:cNvSpPr txBox="1"/>
          <p:nvPr/>
        </p:nvSpPr>
        <p:spPr>
          <a:xfrm>
            <a:off x="3240405" y="6040755"/>
            <a:ext cx="27019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/>
              <a:t>总结与</a:t>
            </a:r>
            <a:r>
              <a:rPr lang="zh-CN" altLang="en-US" sz="1400" b="1"/>
              <a:t>展望（第六章</a:t>
            </a:r>
            <a:r>
              <a:rPr lang="zh-CN" altLang="en-US" sz="1400"/>
              <a:t>）</a:t>
            </a:r>
            <a:endParaRPr lang="zh-CN" altLang="en-US" sz="1400"/>
          </a:p>
        </p:txBody>
      </p:sp>
      <p:sp>
        <p:nvSpPr>
          <p:cNvPr id="42" name="矩形 41"/>
          <p:cNvSpPr/>
          <p:nvPr/>
        </p:nvSpPr>
        <p:spPr>
          <a:xfrm>
            <a:off x="3449320" y="6347460"/>
            <a:ext cx="3318510" cy="35179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全文总结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219950" y="6347460"/>
            <a:ext cx="3318510" cy="3581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未来展望</a:t>
            </a:r>
            <a:endParaRPr lang="zh-CN" altLang="en-US" sz="1200">
              <a:solidFill>
                <a:schemeClr val="tx1"/>
              </a:solidFill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3150235" y="974725"/>
            <a:ext cx="7641590" cy="1800225"/>
            <a:chOff x="4961" y="1777"/>
            <a:chExt cx="12034" cy="2835"/>
          </a:xfrm>
        </p:grpSpPr>
        <p:sp>
          <p:nvSpPr>
            <p:cNvPr id="16" name="圆角矩形 15"/>
            <p:cNvSpPr/>
            <p:nvPr/>
          </p:nvSpPr>
          <p:spPr>
            <a:xfrm>
              <a:off x="4961" y="1817"/>
              <a:ext cx="12034" cy="1389"/>
            </a:xfrm>
            <a:prstGeom prst="roundRect">
              <a:avLst>
                <a:gd name="adj" fmla="val 7642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2" name="组合 31"/>
            <p:cNvGrpSpPr/>
            <p:nvPr/>
          </p:nvGrpSpPr>
          <p:grpSpPr>
            <a:xfrm>
              <a:off x="5085" y="1777"/>
              <a:ext cx="1135" cy="386"/>
              <a:chOff x="7349" y="5665"/>
              <a:chExt cx="1135" cy="386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7532" y="5665"/>
                <a:ext cx="952" cy="3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000"/>
                  <a:t>目标</a:t>
                </a:r>
                <a:endParaRPr lang="zh-CN" altLang="en-US" sz="1000"/>
              </a:p>
            </p:txBody>
          </p:sp>
          <p:sp>
            <p:nvSpPr>
              <p:cNvPr id="20" name="流程图: 延期 19"/>
              <p:cNvSpPr/>
              <p:nvPr/>
            </p:nvSpPr>
            <p:spPr>
              <a:xfrm rot="5400000">
                <a:off x="7734" y="5368"/>
                <a:ext cx="250" cy="1020"/>
              </a:xfrm>
              <a:prstGeom prst="flowChartDelay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22" name="矩形 21"/>
            <p:cNvSpPr/>
            <p:nvPr/>
          </p:nvSpPr>
          <p:spPr>
            <a:xfrm>
              <a:off x="9609" y="2220"/>
              <a:ext cx="2752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跨层无线</a:t>
              </a:r>
              <a:r>
                <a:rPr lang="zh-CN" altLang="en-US" sz="1200">
                  <a:solidFill>
                    <a:schemeClr val="tx1"/>
                  </a:solidFill>
                </a:rPr>
                <a:t>资源调度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chemeClr val="tx1"/>
                  </a:solidFill>
                </a:rPr>
                <a:t>用户级</a:t>
              </a:r>
              <a:r>
                <a:rPr lang="en-US" altLang="zh-CN" sz="1200" b="1">
                  <a:solidFill>
                    <a:schemeClr val="tx1"/>
                  </a:solidFill>
                </a:rPr>
                <a:t>QoS</a:t>
              </a:r>
              <a:r>
                <a:rPr lang="zh-CN" altLang="en-US" sz="1200" b="1">
                  <a:solidFill>
                    <a:schemeClr val="tx1"/>
                  </a:solidFill>
                </a:rPr>
                <a:t>保障</a:t>
              </a:r>
              <a:endParaRPr lang="zh-CN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5796" y="2220"/>
              <a:ext cx="2752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用户协作切换</a:t>
              </a:r>
              <a:br>
                <a:rPr lang="zh-CN" altLang="en-US" sz="1200">
                  <a:solidFill>
                    <a:schemeClr val="tx1"/>
                  </a:solidFill>
                </a:rPr>
              </a:br>
              <a:r>
                <a:rPr lang="zh-CN" altLang="en-US" sz="1200" b="1">
                  <a:solidFill>
                    <a:schemeClr val="tx1"/>
                  </a:solidFill>
                </a:rPr>
                <a:t>公平连续接入</a:t>
              </a:r>
              <a:endParaRPr lang="zh-CN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13573" y="2220"/>
              <a:ext cx="2752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语义编码</a:t>
              </a:r>
              <a:r>
                <a:rPr lang="en-US" altLang="zh-CN" sz="1200">
                  <a:solidFill>
                    <a:schemeClr val="tx1"/>
                  </a:solidFill>
                </a:rPr>
                <a:t>/</a:t>
              </a:r>
              <a:r>
                <a:rPr lang="zh-CN" altLang="en-US" sz="1200">
                  <a:solidFill>
                    <a:schemeClr val="tx1"/>
                  </a:solidFill>
                </a:rPr>
                <a:t>路由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chemeClr val="tx1"/>
                  </a:solidFill>
                </a:rPr>
                <a:t>低开销、高可靠传输</a:t>
              </a:r>
              <a:endParaRPr lang="zh-CN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5432" y="2117"/>
              <a:ext cx="7140" cy="1019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548" y="2720"/>
              <a:ext cx="149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接入层</a:t>
              </a:r>
              <a:endParaRPr lang="zh-CN" altLang="en-US" sz="1400"/>
            </a:p>
          </p:txBody>
        </p:sp>
        <p:sp>
          <p:nvSpPr>
            <p:cNvPr id="29" name="圆角矩形 28"/>
            <p:cNvSpPr/>
            <p:nvPr/>
          </p:nvSpPr>
          <p:spPr>
            <a:xfrm>
              <a:off x="4961" y="3394"/>
              <a:ext cx="12034" cy="1218"/>
            </a:xfrm>
            <a:prstGeom prst="roundRect">
              <a:avLst>
                <a:gd name="adj" fmla="val 7642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153" y="3367"/>
              <a:ext cx="952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/>
                <a:t>  </a:t>
              </a:r>
              <a:r>
                <a:rPr lang="zh-CN" altLang="en-US" sz="1000"/>
                <a:t>挑战</a:t>
              </a:r>
              <a:endParaRPr lang="zh-CN" altLang="en-US" sz="1000"/>
            </a:p>
          </p:txBody>
        </p:sp>
        <p:sp>
          <p:nvSpPr>
            <p:cNvPr id="31" name="流程图: 延期 30"/>
            <p:cNvSpPr/>
            <p:nvPr/>
          </p:nvSpPr>
          <p:spPr>
            <a:xfrm rot="5400000">
              <a:off x="5498" y="3048"/>
              <a:ext cx="250" cy="1020"/>
            </a:xfrm>
            <a:prstGeom prst="flowChartDelay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矩形 32"/>
            <p:cNvSpPr/>
            <p:nvPr/>
          </p:nvSpPr>
          <p:spPr>
            <a:xfrm>
              <a:off x="5615" y="3801"/>
              <a:ext cx="3403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去中心</a:t>
              </a:r>
              <a:r>
                <a:rPr lang="zh-CN" altLang="en-US" sz="1200">
                  <a:solidFill>
                    <a:schemeClr val="tx1"/>
                  </a:solidFill>
                </a:rPr>
                <a:t>管控下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rgbClr val="C00000"/>
                  </a:solidFill>
                </a:rPr>
                <a:t>系统公平性</a:t>
              </a:r>
              <a:r>
                <a:rPr lang="zh-CN" altLang="en-US" sz="1200">
                  <a:solidFill>
                    <a:schemeClr val="tx1"/>
                  </a:solidFill>
                </a:rPr>
                <a:t>失效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4" name="圆角矩形 33"/>
            <p:cNvSpPr/>
            <p:nvPr/>
          </p:nvSpPr>
          <p:spPr>
            <a:xfrm>
              <a:off x="12707" y="2105"/>
              <a:ext cx="3920" cy="1019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2589" y="2203"/>
              <a:ext cx="1193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网络</a:t>
              </a:r>
              <a:r>
                <a:rPr lang="en-US" altLang="zh-CN" sz="1400"/>
                <a:t>/</a:t>
              </a:r>
              <a:endParaRPr lang="en-US" altLang="zh-CN" sz="1400"/>
            </a:p>
            <a:p>
              <a:r>
                <a:rPr lang="zh-CN" altLang="en-US" sz="1400"/>
                <a:t>应用层</a:t>
              </a:r>
              <a:endParaRPr lang="zh-CN" altLang="en-US" sz="1400"/>
            </a:p>
          </p:txBody>
        </p:sp>
        <p:sp>
          <p:nvSpPr>
            <p:cNvPr id="36" name="矩形 35"/>
            <p:cNvSpPr/>
            <p:nvPr/>
          </p:nvSpPr>
          <p:spPr>
            <a:xfrm>
              <a:off x="9367" y="3801"/>
              <a:ext cx="3403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非平稳与部分可观测系统下</a:t>
              </a:r>
              <a:r>
                <a:rPr lang="zh-CN" altLang="en-US" sz="1200" b="1">
                  <a:solidFill>
                    <a:srgbClr val="C00000"/>
                  </a:solidFill>
                </a:rPr>
                <a:t>用户级</a:t>
              </a:r>
              <a:r>
                <a:rPr lang="en-US" altLang="zh-CN" sz="1200" b="1">
                  <a:solidFill>
                    <a:srgbClr val="C00000"/>
                  </a:solidFill>
                </a:rPr>
                <a:t>QoS</a:t>
              </a:r>
              <a:r>
                <a:rPr lang="zh-CN" altLang="en-US" sz="1200">
                  <a:solidFill>
                    <a:schemeClr val="tx1"/>
                  </a:solidFill>
                </a:rPr>
                <a:t>难以</a:t>
              </a:r>
              <a:r>
                <a:rPr lang="zh-CN" altLang="en-US" sz="1200">
                  <a:solidFill>
                    <a:schemeClr val="tx1"/>
                  </a:solidFill>
                </a:rPr>
                <a:t>保障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3119" y="3801"/>
              <a:ext cx="3477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无效重传与时延累积</a:t>
              </a:r>
              <a:r>
                <a:rPr lang="zh-CN" altLang="en-US" sz="1200">
                  <a:solidFill>
                    <a:schemeClr val="tx1"/>
                  </a:solidFill>
                </a:rPr>
                <a:t>下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rgbClr val="C00000"/>
                  </a:solidFill>
                </a:rPr>
                <a:t>信息完整度</a:t>
              </a:r>
              <a:r>
                <a:rPr lang="zh-CN" altLang="en-US" sz="1200">
                  <a:solidFill>
                    <a:schemeClr val="tx1"/>
                  </a:solidFill>
                </a:rPr>
                <a:t>难以</a:t>
              </a:r>
              <a:r>
                <a:rPr lang="zh-CN" altLang="en-US" sz="1200">
                  <a:solidFill>
                    <a:schemeClr val="tx1"/>
                  </a:solidFill>
                </a:rPr>
                <a:t>保障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44" name="直接箭头连接符 43"/>
            <p:cNvCxnSpPr/>
            <p:nvPr/>
          </p:nvCxnSpPr>
          <p:spPr>
            <a:xfrm>
              <a:off x="7327" y="2928"/>
              <a:ext cx="0" cy="847"/>
            </a:xfrm>
            <a:prstGeom prst="straightConnector1">
              <a:avLst/>
            </a:prstGeom>
            <a:ln w="19050">
              <a:solidFill>
                <a:schemeClr val="tx2">
                  <a:lumMod val="60000"/>
                  <a:lumOff val="4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5" name="圆角矩形 44"/>
          <p:cNvSpPr/>
          <p:nvPr/>
        </p:nvSpPr>
        <p:spPr>
          <a:xfrm>
            <a:off x="3150235" y="2896235"/>
            <a:ext cx="7641590" cy="306324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6" name="流程图: 延期 45"/>
          <p:cNvSpPr/>
          <p:nvPr/>
        </p:nvSpPr>
        <p:spPr>
          <a:xfrm rot="5400000">
            <a:off x="3491230" y="2689860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3240405" y="2878455"/>
            <a:ext cx="69405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技术</a:t>
            </a:r>
            <a:r>
              <a:rPr lang="zh-CN" altLang="en-US" sz="1000"/>
              <a:t>方案</a:t>
            </a:r>
            <a:endParaRPr lang="zh-CN" altLang="en-US" sz="1000"/>
          </a:p>
        </p:txBody>
      </p:sp>
      <p:sp>
        <p:nvSpPr>
          <p:cNvPr id="49" name="圆角矩形 48"/>
          <p:cNvSpPr/>
          <p:nvPr/>
        </p:nvSpPr>
        <p:spPr>
          <a:xfrm>
            <a:off x="3272790" y="3138170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9DBB61">
              <a:alpha val="77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299460" y="3165475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面向公平性保障的分布式用户协作切换机制（第三章）</a:t>
            </a:r>
            <a:endParaRPr lang="zh-CN" altLang="en-US" sz="1200" b="1"/>
          </a:p>
        </p:txBody>
      </p:sp>
      <p:sp>
        <p:nvSpPr>
          <p:cNvPr id="51" name="矩形 50"/>
          <p:cNvSpPr/>
          <p:nvPr/>
        </p:nvSpPr>
        <p:spPr>
          <a:xfrm>
            <a:off x="5392420" y="46672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现状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127240" y="46672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核心</a:t>
            </a:r>
            <a:r>
              <a:rPr lang="zh-CN" altLang="en-US" sz="1200">
                <a:solidFill>
                  <a:schemeClr val="tx1"/>
                </a:solidFill>
              </a:rPr>
              <a:t>挑战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8862060" y="48450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贡献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7023735" y="171259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>
            <a:off x="9493250" y="171259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652645" y="2707005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圆角矩形 59"/>
          <p:cNvSpPr/>
          <p:nvPr/>
        </p:nvSpPr>
        <p:spPr>
          <a:xfrm>
            <a:off x="5775325" y="3141980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31859B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圆角矩形 60"/>
          <p:cNvSpPr/>
          <p:nvPr/>
        </p:nvSpPr>
        <p:spPr>
          <a:xfrm>
            <a:off x="8277860" y="3119755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EA700D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841365" y="3165475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用户级</a:t>
            </a:r>
            <a:r>
              <a:rPr lang="en-US" altLang="zh-CN" sz="1200" b="1"/>
              <a:t>QoS</a:t>
            </a:r>
            <a:r>
              <a:rPr lang="zh-CN" altLang="en-US" sz="1200" b="1"/>
              <a:t>保障的网络切片与无线资源优化</a:t>
            </a:r>
            <a:r>
              <a:rPr lang="zh-CN" altLang="en-US" sz="1200" b="1"/>
              <a:t>机制（第</a:t>
            </a:r>
            <a:r>
              <a:rPr lang="zh-CN" altLang="en-US" sz="1200" b="1"/>
              <a:t>四章）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288655" y="3165475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用户驱动的语义</a:t>
            </a:r>
            <a:r>
              <a:rPr lang="en-US" altLang="zh-CN" sz="1200" b="1"/>
              <a:t>HARQ</a:t>
            </a:r>
            <a:r>
              <a:rPr lang="zh-CN" altLang="en-US" sz="1200" b="1"/>
              <a:t>与路由协同优化机制（第</a:t>
            </a:r>
            <a:r>
              <a:rPr lang="zh-CN" altLang="en-US" sz="1200" b="1"/>
              <a:t>五章）</a:t>
            </a:r>
            <a:endParaRPr lang="zh-CN" altLang="en-US" sz="1200" b="1"/>
          </a:p>
        </p:txBody>
      </p:sp>
      <p:sp>
        <p:nvSpPr>
          <p:cNvPr id="8" name="圆角矩形 7"/>
          <p:cNvSpPr/>
          <p:nvPr/>
        </p:nvSpPr>
        <p:spPr>
          <a:xfrm>
            <a:off x="5965190" y="3654425"/>
            <a:ext cx="1969770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6022975" y="3656965"/>
            <a:ext cx="1875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业务</a:t>
            </a:r>
            <a:r>
              <a:rPr lang="en-US" altLang="zh-CN" sz="1000"/>
              <a:t>QoS</a:t>
            </a:r>
            <a:r>
              <a:rPr lang="zh-CN" altLang="en-US" sz="1000"/>
              <a:t>约束下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粗细粒度</a:t>
            </a:r>
            <a:r>
              <a:rPr lang="zh-CN" altLang="en-US" sz="1000"/>
              <a:t>跨层资源调度</a:t>
            </a:r>
            <a:r>
              <a:rPr lang="zh-CN" altLang="en-US" sz="1000"/>
              <a:t>模型</a:t>
            </a:r>
            <a:endParaRPr lang="zh-CN" altLang="en-US" sz="1000"/>
          </a:p>
        </p:txBody>
      </p:sp>
      <p:sp>
        <p:nvSpPr>
          <p:cNvPr id="17" name="圆角矩形 16"/>
          <p:cNvSpPr/>
          <p:nvPr/>
        </p:nvSpPr>
        <p:spPr>
          <a:xfrm>
            <a:off x="5965190" y="4349115"/>
            <a:ext cx="1969770" cy="1540510"/>
          </a:xfrm>
          <a:prstGeom prst="roundRect">
            <a:avLst>
              <a:gd name="adj" fmla="val 8389"/>
            </a:avLst>
          </a:prstGeom>
          <a:solidFill>
            <a:schemeClr val="accent5">
              <a:lumMod val="20000"/>
              <a:lumOff val="80000"/>
              <a:alpha val="59000"/>
            </a:schemeClr>
          </a:solidFill>
          <a:ln w="158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6052185" y="4454525"/>
            <a:ext cx="1796415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1" name="直接箭头连接符 20"/>
          <p:cNvCxnSpPr/>
          <p:nvPr/>
        </p:nvCxnSpPr>
        <p:spPr>
          <a:xfrm>
            <a:off x="6962775" y="4082415"/>
            <a:ext cx="0" cy="248920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6596380" y="4053205"/>
            <a:ext cx="8629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分层</a:t>
            </a:r>
            <a:r>
              <a:rPr lang="en-US" altLang="zh-CN" sz="1000">
                <a:solidFill>
                  <a:schemeClr val="bg1"/>
                </a:solidFill>
              </a:rPr>
              <a:t>  </a:t>
            </a:r>
            <a:r>
              <a:rPr lang="zh-CN" altLang="en-US" sz="1000">
                <a:solidFill>
                  <a:schemeClr val="bg1"/>
                </a:solidFill>
              </a:rPr>
              <a:t>解耦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101715" y="448246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基于世界模型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带宽</a:t>
            </a:r>
            <a:r>
              <a:rPr lang="en-US" altLang="zh-CN" sz="1000"/>
              <a:t>-</a:t>
            </a:r>
            <a:r>
              <a:rPr lang="zh-CN" altLang="en-US" sz="1000"/>
              <a:t>功率联合分配</a:t>
            </a:r>
            <a:r>
              <a:rPr lang="zh-CN" altLang="en-US" sz="1000"/>
              <a:t>算法</a:t>
            </a:r>
            <a:endParaRPr lang="zh-CN" altLang="en-US" sz="1000"/>
          </a:p>
        </p:txBody>
      </p:sp>
      <p:sp>
        <p:nvSpPr>
          <p:cNvPr id="40" name="圆角矩形 39"/>
          <p:cNvSpPr/>
          <p:nvPr/>
        </p:nvSpPr>
        <p:spPr>
          <a:xfrm>
            <a:off x="6101715" y="5309870"/>
            <a:ext cx="1796415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任意多边形 61"/>
          <p:cNvSpPr/>
          <p:nvPr/>
        </p:nvSpPr>
        <p:spPr>
          <a:xfrm>
            <a:off x="6701790" y="488124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任意多边形 62"/>
          <p:cNvSpPr/>
          <p:nvPr/>
        </p:nvSpPr>
        <p:spPr>
          <a:xfrm flipH="1" flipV="1">
            <a:off x="6967855" y="488251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6742430" y="4896485"/>
            <a:ext cx="45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共识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一致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6308725" y="4941570"/>
            <a:ext cx="45910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预测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205345" y="4941570"/>
            <a:ext cx="45910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反馈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6154420" y="5339080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面向业务</a:t>
            </a:r>
            <a:r>
              <a:rPr lang="en-US" altLang="zh-CN" sz="1000"/>
              <a:t>QoS</a:t>
            </a:r>
            <a:r>
              <a:rPr lang="zh-CN" altLang="en-US" sz="1000"/>
              <a:t>长期保证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无线资源</a:t>
            </a:r>
            <a:r>
              <a:rPr lang="en-US" altLang="zh-CN" sz="1000"/>
              <a:t>-</a:t>
            </a:r>
            <a:r>
              <a:rPr lang="zh-CN" altLang="en-US" sz="1000"/>
              <a:t>用户匹配</a:t>
            </a:r>
            <a:r>
              <a:rPr lang="zh-CN" altLang="en-US" sz="1000"/>
              <a:t>算法</a:t>
            </a:r>
            <a:endParaRPr lang="zh-CN" altLang="en-US" sz="1000"/>
          </a:p>
        </p:txBody>
      </p:sp>
      <p:sp>
        <p:nvSpPr>
          <p:cNvPr id="69" name="圆角矩形 68"/>
          <p:cNvSpPr/>
          <p:nvPr/>
        </p:nvSpPr>
        <p:spPr>
          <a:xfrm>
            <a:off x="8486140" y="3654425"/>
            <a:ext cx="196977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8618855" y="365442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反馈驱动的非对称任务感知</a:t>
            </a:r>
            <a:r>
              <a:rPr lang="zh-CN" altLang="en-US" sz="1000"/>
              <a:t>多跳语义传输模型</a:t>
            </a:r>
            <a:endParaRPr lang="zh-CN" altLang="en-US" sz="1000"/>
          </a:p>
        </p:txBody>
      </p:sp>
      <p:sp>
        <p:nvSpPr>
          <p:cNvPr id="70" name="圆角矩形 69"/>
          <p:cNvSpPr/>
          <p:nvPr/>
        </p:nvSpPr>
        <p:spPr>
          <a:xfrm>
            <a:off x="8486140" y="4458970"/>
            <a:ext cx="167386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1" name="圆角矩形 70"/>
          <p:cNvSpPr/>
          <p:nvPr/>
        </p:nvSpPr>
        <p:spPr>
          <a:xfrm>
            <a:off x="8751570" y="5285740"/>
            <a:ext cx="167386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72" name="直接箭头连接符 71"/>
          <p:cNvCxnSpPr/>
          <p:nvPr/>
        </p:nvCxnSpPr>
        <p:spPr>
          <a:xfrm>
            <a:off x="8862060" y="4100195"/>
            <a:ext cx="0" cy="36004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8917305" y="4098925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端到端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可靠性</a:t>
            </a:r>
            <a:endParaRPr lang="zh-CN" altLang="en-US" sz="1000">
              <a:solidFill>
                <a:schemeClr val="bg1"/>
              </a:solidFill>
            </a:endParaRPr>
          </a:p>
        </p:txBody>
      </p:sp>
      <p:cxnSp>
        <p:nvCxnSpPr>
          <p:cNvPr id="74" name="直接箭头连接符 73"/>
          <p:cNvCxnSpPr/>
          <p:nvPr/>
        </p:nvCxnSpPr>
        <p:spPr>
          <a:xfrm>
            <a:off x="10313670" y="4100195"/>
            <a:ext cx="0" cy="116268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9775825" y="4086860"/>
            <a:ext cx="6457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星间</a:t>
            </a:r>
            <a:endParaRPr lang="zh-CN" altLang="en-US" sz="1000">
              <a:solidFill>
                <a:schemeClr val="bg1"/>
              </a:solidFill>
            </a:endParaRPr>
          </a:p>
          <a:p>
            <a:pPr algn="ctr"/>
            <a:r>
              <a:rPr lang="zh-CN" altLang="en-US" sz="1000">
                <a:solidFill>
                  <a:schemeClr val="bg1"/>
                </a:solidFill>
              </a:rPr>
              <a:t>可靠性</a:t>
            </a:r>
            <a:endParaRPr lang="zh-CN" altLang="en-US" sz="1000">
              <a:solidFill>
                <a:schemeClr val="bg1"/>
              </a:solidFill>
            </a:endParaRPr>
          </a:p>
        </p:txBody>
      </p:sp>
      <p:cxnSp>
        <p:nvCxnSpPr>
          <p:cNvPr id="78" name="直接箭头连接符 77"/>
          <p:cNvCxnSpPr/>
          <p:nvPr/>
        </p:nvCxnSpPr>
        <p:spPr>
          <a:xfrm>
            <a:off x="7021195" y="2710815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9493250" y="2707005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8547735" y="4497705"/>
            <a:ext cx="1575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任务感知的语义</a:t>
            </a:r>
            <a:r>
              <a:rPr lang="en-US" altLang="zh-CN" sz="1000"/>
              <a:t>HARQ</a:t>
            </a:r>
            <a:r>
              <a:rPr lang="zh-CN" altLang="en-US" sz="1000"/>
              <a:t>与块级语义价值评估</a:t>
            </a:r>
            <a:r>
              <a:rPr lang="zh-CN" altLang="en-US" sz="1000"/>
              <a:t>机制</a:t>
            </a:r>
            <a:endParaRPr lang="zh-CN" altLang="en-US" sz="1000"/>
          </a:p>
        </p:txBody>
      </p:sp>
      <p:sp>
        <p:nvSpPr>
          <p:cNvPr id="81" name="文本框 80"/>
          <p:cNvSpPr txBox="1"/>
          <p:nvPr/>
        </p:nvSpPr>
        <p:spPr>
          <a:xfrm>
            <a:off x="8846185" y="5314950"/>
            <a:ext cx="1575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语义价值驱动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优先级路由</a:t>
            </a:r>
            <a:r>
              <a:rPr lang="zh-CN" altLang="en-US" sz="1000"/>
              <a:t>算法</a:t>
            </a:r>
            <a:endParaRPr lang="zh-CN" altLang="en-US" sz="1000"/>
          </a:p>
        </p:txBody>
      </p:sp>
      <p:sp>
        <p:nvSpPr>
          <p:cNvPr id="83" name="任意多边形 82"/>
          <p:cNvSpPr/>
          <p:nvPr/>
        </p:nvSpPr>
        <p:spPr>
          <a:xfrm flipH="1" flipV="1">
            <a:off x="9308465" y="486854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任意多边形 83"/>
          <p:cNvSpPr/>
          <p:nvPr/>
        </p:nvSpPr>
        <p:spPr>
          <a:xfrm>
            <a:off x="9056370" y="489140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8348345" y="4891405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信息价值</a:t>
            </a:r>
            <a:r>
              <a:rPr lang="zh-CN" altLang="en-US" sz="1000">
                <a:solidFill>
                  <a:schemeClr val="bg1"/>
                </a:solidFill>
              </a:rPr>
              <a:t>量化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9450070" y="4906010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星间可靠性</a:t>
            </a:r>
            <a:r>
              <a:rPr lang="zh-CN" altLang="en-US" sz="1000">
                <a:solidFill>
                  <a:schemeClr val="bg1"/>
                </a:solidFill>
              </a:rPr>
              <a:t>保障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9101455" y="4891405"/>
            <a:ext cx="45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多跳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扩展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8" name="圆角矩形 87"/>
          <p:cNvSpPr/>
          <p:nvPr/>
        </p:nvSpPr>
        <p:spPr>
          <a:xfrm>
            <a:off x="3458210" y="3627755"/>
            <a:ext cx="1969770" cy="42799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9" name="文本框 88"/>
          <p:cNvSpPr txBox="1"/>
          <p:nvPr/>
        </p:nvSpPr>
        <p:spPr>
          <a:xfrm>
            <a:off x="3565525" y="365442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低轨卫星动态多重覆盖下的用户分布式切换</a:t>
            </a:r>
            <a:r>
              <a:rPr lang="zh-CN" altLang="en-US" sz="1000"/>
              <a:t>模型</a:t>
            </a:r>
            <a:endParaRPr lang="zh-CN" altLang="en-US" sz="1000"/>
          </a:p>
        </p:txBody>
      </p:sp>
      <p:sp>
        <p:nvSpPr>
          <p:cNvPr id="90" name="圆角矩形 89"/>
          <p:cNvSpPr/>
          <p:nvPr/>
        </p:nvSpPr>
        <p:spPr>
          <a:xfrm>
            <a:off x="3458210" y="4298315"/>
            <a:ext cx="1969770" cy="42799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91" name="直接箭头连接符 90"/>
          <p:cNvCxnSpPr/>
          <p:nvPr/>
        </p:nvCxnSpPr>
        <p:spPr>
          <a:xfrm>
            <a:off x="4412615" y="4053205"/>
            <a:ext cx="0" cy="21399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4396740" y="4048125"/>
            <a:ext cx="8629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公平性</a:t>
            </a:r>
            <a:r>
              <a:rPr lang="zh-CN" altLang="en-US" sz="1000">
                <a:solidFill>
                  <a:schemeClr val="bg1"/>
                </a:solidFill>
              </a:rPr>
              <a:t>编码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613150" y="4389755"/>
            <a:ext cx="169481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多目标马尔科夫决策</a:t>
            </a:r>
            <a:r>
              <a:rPr lang="zh-CN" altLang="en-US" sz="1000"/>
              <a:t>过程</a:t>
            </a:r>
            <a:endParaRPr lang="zh-CN" altLang="en-US" sz="1000"/>
          </a:p>
        </p:txBody>
      </p:sp>
      <p:sp>
        <p:nvSpPr>
          <p:cNvPr id="99" name="圆角矩形 98"/>
          <p:cNvSpPr/>
          <p:nvPr/>
        </p:nvSpPr>
        <p:spPr>
          <a:xfrm>
            <a:off x="3345180" y="4906010"/>
            <a:ext cx="2284095" cy="942975"/>
          </a:xfrm>
          <a:prstGeom prst="roundRect">
            <a:avLst>
              <a:gd name="adj" fmla="val 8389"/>
            </a:avLst>
          </a:prstGeom>
          <a:solidFill>
            <a:schemeClr val="accent4">
              <a:lumMod val="20000"/>
              <a:lumOff val="80000"/>
              <a:alpha val="59000"/>
            </a:schemeClr>
          </a:solidFill>
          <a:ln w="158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圆角矩形 95"/>
          <p:cNvSpPr/>
          <p:nvPr/>
        </p:nvSpPr>
        <p:spPr>
          <a:xfrm>
            <a:off x="4154170" y="5165725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圆角矩形 96"/>
          <p:cNvSpPr/>
          <p:nvPr/>
        </p:nvSpPr>
        <p:spPr>
          <a:xfrm>
            <a:off x="4874260" y="5165725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圆角矩形 93"/>
          <p:cNvSpPr/>
          <p:nvPr/>
        </p:nvSpPr>
        <p:spPr>
          <a:xfrm>
            <a:off x="3422650" y="5165725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0" name="直接箭头连接符 99"/>
          <p:cNvCxnSpPr/>
          <p:nvPr/>
        </p:nvCxnSpPr>
        <p:spPr>
          <a:xfrm flipV="1">
            <a:off x="4412615" y="4692015"/>
            <a:ext cx="0" cy="21399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4404360" y="4696460"/>
            <a:ext cx="5156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求解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3533140" y="4930775"/>
            <a:ext cx="49593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协作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4253865" y="4931410"/>
            <a:ext cx="49593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优化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4954270" y="4941570"/>
            <a:ext cx="49593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训练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4843780" y="5186045"/>
            <a:ext cx="71945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分布式</a:t>
            </a:r>
            <a:endParaRPr lang="zh-CN" altLang="en-US" sz="1000"/>
          </a:p>
          <a:p>
            <a:pPr algn="ctr"/>
            <a:r>
              <a:rPr lang="zh-CN" altLang="en-US" sz="1000"/>
              <a:t>异步</a:t>
            </a:r>
            <a:r>
              <a:rPr lang="zh-CN" altLang="en-US" sz="1000"/>
              <a:t>训练</a:t>
            </a:r>
            <a:endParaRPr lang="zh-CN" altLang="en-US" sz="1000"/>
          </a:p>
          <a:p>
            <a:pPr algn="ctr"/>
            <a:r>
              <a:rPr lang="zh-CN" altLang="en-US" sz="1000"/>
              <a:t>平台</a:t>
            </a:r>
            <a:endParaRPr lang="zh-CN" altLang="en-US" sz="1000"/>
          </a:p>
        </p:txBody>
      </p:sp>
      <p:sp>
        <p:nvSpPr>
          <p:cNvPr id="106" name="文本框 105"/>
          <p:cNvSpPr txBox="1"/>
          <p:nvPr/>
        </p:nvSpPr>
        <p:spPr>
          <a:xfrm>
            <a:off x="4116070" y="5252720"/>
            <a:ext cx="7194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混合</a:t>
            </a:r>
            <a:endParaRPr lang="zh-CN" altLang="en-US" sz="1000"/>
          </a:p>
          <a:p>
            <a:pPr algn="ctr"/>
            <a:r>
              <a:rPr lang="zh-CN" altLang="en-US" sz="1000"/>
              <a:t>网络</a:t>
            </a:r>
            <a:r>
              <a:rPr lang="zh-CN" altLang="en-US" sz="1000"/>
              <a:t>结构</a:t>
            </a:r>
            <a:endParaRPr lang="zh-CN" altLang="en-US" sz="1000"/>
          </a:p>
        </p:txBody>
      </p:sp>
      <p:sp>
        <p:nvSpPr>
          <p:cNvPr id="107" name="文本框 106"/>
          <p:cNvSpPr txBox="1"/>
          <p:nvPr/>
        </p:nvSpPr>
        <p:spPr>
          <a:xfrm>
            <a:off x="3359150" y="5186680"/>
            <a:ext cx="71945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优势值修正与邻居</a:t>
            </a:r>
            <a:r>
              <a:rPr lang="zh-CN" altLang="en-US" sz="1000"/>
              <a:t>广播</a:t>
            </a:r>
            <a:endParaRPr lang="zh-CN" altLang="en-US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480</Words>
  <Application>WPS 演示</Application>
  <PresentationFormat>宽屏</PresentationFormat>
  <Paragraphs>122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282</cp:revision>
  <dcterms:created xsi:type="dcterms:W3CDTF">2023-08-09T12:44:00Z</dcterms:created>
  <dcterms:modified xsi:type="dcterms:W3CDTF">2026-01-20T17:27:54Z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62735A0042EF4AEEA24D51B7AFDBD72A_12</vt:lpwstr>
  </property>
</Properties>
</file>