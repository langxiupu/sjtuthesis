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7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25"/>
        <p:guide pos="37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圆角矩形 13"/>
          <p:cNvSpPr/>
          <p:nvPr/>
        </p:nvSpPr>
        <p:spPr>
          <a:xfrm>
            <a:off x="1528445" y="2044065"/>
            <a:ext cx="9203055" cy="165862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528445" y="3805555"/>
            <a:ext cx="9203055" cy="165862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565910" y="5518150"/>
            <a:ext cx="9203055" cy="930910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758950" y="4579620"/>
            <a:ext cx="1636395" cy="7067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轻量化</a:t>
            </a:r>
            <a:r>
              <a:rPr lang="zh-CN" altLang="en-US">
                <a:solidFill>
                  <a:schemeClr val="tx1"/>
                </a:solidFill>
              </a:rPr>
              <a:t>语义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编码器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758950" y="5567045"/>
            <a:ext cx="1636395" cy="7067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切换</a:t>
            </a:r>
            <a:r>
              <a:rPr lang="zh-CN" altLang="en-US">
                <a:solidFill>
                  <a:schemeClr val="tx1"/>
                </a:solidFill>
              </a:rPr>
              <a:t>控制器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53060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接入与移动性管理</a:t>
            </a:r>
            <a:r>
              <a:rPr lang="zh-CN" altLang="en-US">
                <a:solidFill>
                  <a:schemeClr val="tx1"/>
                </a:solidFill>
              </a:rPr>
              <a:t>功能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143250" y="99060"/>
            <a:ext cx="6553835" cy="137604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194050" y="793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核心网</a:t>
            </a:r>
            <a:endParaRPr lang="zh-CN" altLang="en-US" b="1"/>
          </a:p>
        </p:txBody>
      </p:sp>
      <p:sp>
        <p:nvSpPr>
          <p:cNvPr id="27" name="矩形 26"/>
          <p:cNvSpPr/>
          <p:nvPr/>
        </p:nvSpPr>
        <p:spPr>
          <a:xfrm>
            <a:off x="1528445" y="4458335"/>
            <a:ext cx="2001520" cy="22504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792480" y="4625340"/>
            <a:ext cx="92329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100965" y="4357370"/>
            <a:ext cx="923925" cy="1209675"/>
            <a:chOff x="102" y="5898"/>
            <a:chExt cx="1455" cy="1905"/>
          </a:xfrm>
        </p:grpSpPr>
        <p:sp>
          <p:nvSpPr>
            <p:cNvPr id="29" name="文本框 28"/>
            <p:cNvSpPr txBox="1"/>
            <p:nvPr/>
          </p:nvSpPr>
          <p:spPr>
            <a:xfrm>
              <a:off x="102" y="5898"/>
              <a:ext cx="14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业务流</a:t>
              </a:r>
              <a:r>
                <a:rPr lang="zh-CN" altLang="en-US"/>
                <a:t>：</a:t>
              </a:r>
              <a:endParaRPr lang="en-US" altLang="zh-CN"/>
            </a:p>
            <a:p>
              <a:r>
                <a:rPr lang="en-US" altLang="zh-CN"/>
                <a:t>URLLC</a:t>
              </a:r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4" y="6768"/>
              <a:ext cx="1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eMBB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4" y="7223"/>
              <a:ext cx="1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mMTC</a:t>
              </a:r>
              <a:endParaRPr lang="en-US" altLang="zh-CN"/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839595" y="6376670"/>
            <a:ext cx="149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发射端用户</a:t>
            </a:r>
            <a:endParaRPr lang="zh-CN" altLang="en-US" b="1"/>
          </a:p>
        </p:txBody>
      </p:sp>
      <p:sp>
        <p:nvSpPr>
          <p:cNvPr id="33" name="圆柱形 32"/>
          <p:cNvSpPr/>
          <p:nvPr/>
        </p:nvSpPr>
        <p:spPr>
          <a:xfrm rot="16200000">
            <a:off x="6161405" y="3606165"/>
            <a:ext cx="915670" cy="273939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61213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拓扑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星历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管理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右箭头 38"/>
          <p:cNvSpPr/>
          <p:nvPr/>
        </p:nvSpPr>
        <p:spPr>
          <a:xfrm>
            <a:off x="10665460" y="4625340"/>
            <a:ext cx="92329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1532870" y="4641215"/>
            <a:ext cx="819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下游</a:t>
            </a:r>
            <a:endParaRPr lang="zh-CN" altLang="en-US"/>
          </a:p>
          <a:p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5462270" y="4725670"/>
            <a:ext cx="2526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星间</a:t>
            </a:r>
            <a:r>
              <a:rPr lang="en-US" altLang="zh-CN"/>
              <a:t>/</a:t>
            </a:r>
            <a:r>
              <a:rPr lang="zh-CN" altLang="en-US"/>
              <a:t>星地多跳传输</a:t>
            </a:r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758950" y="2943225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484630" y="1682750"/>
            <a:ext cx="2221230" cy="203136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528445" y="1682750"/>
            <a:ext cx="117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接入</a:t>
            </a:r>
            <a:r>
              <a:rPr lang="zh-CN" altLang="en-US" b="1"/>
              <a:t>卫星</a:t>
            </a:r>
            <a:endParaRPr lang="zh-CN" altLang="en-US" b="1"/>
          </a:p>
        </p:txBody>
      </p:sp>
      <p:sp>
        <p:nvSpPr>
          <p:cNvPr id="45" name="矩形 44"/>
          <p:cNvSpPr/>
          <p:nvPr/>
        </p:nvSpPr>
        <p:spPr>
          <a:xfrm>
            <a:off x="1758950" y="2129790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切片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右箭头 46"/>
          <p:cNvSpPr/>
          <p:nvPr/>
        </p:nvSpPr>
        <p:spPr>
          <a:xfrm rot="16200000">
            <a:off x="2258060" y="3959225"/>
            <a:ext cx="534035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 rot="2220000">
            <a:off x="3966210" y="3914775"/>
            <a:ext cx="156210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8973820" y="2918460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8699500" y="1657985"/>
            <a:ext cx="2221230" cy="203136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743315" y="1657985"/>
            <a:ext cx="117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接入</a:t>
            </a:r>
            <a:r>
              <a:rPr lang="zh-CN" altLang="en-US" b="1"/>
              <a:t>卫星</a:t>
            </a:r>
            <a:endParaRPr lang="zh-CN" altLang="en-US" b="1"/>
          </a:p>
        </p:txBody>
      </p:sp>
      <p:sp>
        <p:nvSpPr>
          <p:cNvPr id="52" name="矩形 51"/>
          <p:cNvSpPr/>
          <p:nvPr/>
        </p:nvSpPr>
        <p:spPr>
          <a:xfrm>
            <a:off x="8973820" y="2105025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切片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右箭头 52"/>
          <p:cNvSpPr/>
          <p:nvPr/>
        </p:nvSpPr>
        <p:spPr>
          <a:xfrm rot="19380000">
            <a:off x="7919720" y="3758565"/>
            <a:ext cx="1035685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955405" y="4579620"/>
            <a:ext cx="1636395" cy="7067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任务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感知语义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编码器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55405" y="5567045"/>
            <a:ext cx="1636395" cy="7067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切换</a:t>
            </a:r>
            <a:r>
              <a:rPr lang="zh-CN" altLang="en-US">
                <a:solidFill>
                  <a:schemeClr val="tx1"/>
                </a:solidFill>
              </a:rPr>
              <a:t>控制器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67775" y="4458335"/>
            <a:ext cx="2047875" cy="225044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00185" y="6357620"/>
            <a:ext cx="149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接收端用户</a:t>
            </a:r>
            <a:endParaRPr lang="zh-CN" altLang="en-US" b="1"/>
          </a:p>
        </p:txBody>
      </p:sp>
      <p:sp>
        <p:nvSpPr>
          <p:cNvPr id="6" name="矩形 5"/>
          <p:cNvSpPr/>
          <p:nvPr/>
        </p:nvSpPr>
        <p:spPr>
          <a:xfrm>
            <a:off x="769366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网络切片管理</a:t>
            </a:r>
            <a:r>
              <a:rPr lang="zh-CN" altLang="en-US">
                <a:solidFill>
                  <a:schemeClr val="tx1"/>
                </a:solidFill>
              </a:rPr>
              <a:t>功能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 rot="5400000" flipV="1">
            <a:off x="9542780" y="3990975"/>
            <a:ext cx="534035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550285" y="5691505"/>
            <a:ext cx="5549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alibri" panose="020F0502020204030204" charset="0"/>
                <a:sym typeface="+mn-ea"/>
              </a:rPr>
              <a:t>②</a:t>
            </a:r>
            <a:r>
              <a:rPr lang="en-US" altLang="zh-CN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基于局部公平性估计的分布式协作切换</a:t>
            </a:r>
            <a:endParaRPr lang="zh-CN" altLang="en-US">
              <a:latin typeface="Calibri" panose="020F0502020204030204" charset="0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提供连续的通信</a:t>
            </a:r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连接</a:t>
            </a:r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94250" y="3608070"/>
            <a:ext cx="34048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en-US" altLang="zh-CN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基于协同增量重传的</a:t>
            </a:r>
            <a:endParaRPr lang="zh-CN" altLang="en-US" b="1">
              <a:latin typeface="Calibri" panose="020F0502020204030204" charset="0"/>
            </a:endParaRPr>
          </a:p>
          <a:p>
            <a:pPr algn="ctr"/>
            <a:r>
              <a:rPr lang="zh-CN" altLang="en-US" b="1">
                <a:latin typeface="Calibri" panose="020F0502020204030204" charset="0"/>
              </a:rPr>
              <a:t>轻量化语义传输</a:t>
            </a:r>
            <a:endParaRPr lang="zh-CN" altLang="en-US" b="1">
              <a:latin typeface="Calibri" panose="020F0502020204030204" charset="0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提供语义保真的端到端</a:t>
            </a:r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传输</a:t>
            </a:r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18050" y="2212340"/>
            <a:ext cx="34810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alibri" panose="020F0502020204030204" charset="0"/>
                <a:sym typeface="+mn-ea"/>
              </a:rPr>
              <a:t>③</a:t>
            </a:r>
            <a:r>
              <a:rPr lang="en-US" altLang="zh-CN" b="1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基于生成式网络态势感知的切片</a:t>
            </a:r>
            <a:r>
              <a:rPr lang="en-US" altLang="zh-CN" b="1">
                <a:latin typeface="Calibri" panose="020F0502020204030204" charset="0"/>
              </a:rPr>
              <a:t>-MAC</a:t>
            </a:r>
            <a:r>
              <a:rPr lang="zh-CN" altLang="en-US" b="1">
                <a:latin typeface="Calibri" panose="020F0502020204030204" charset="0"/>
              </a:rPr>
              <a:t>分层协作优化</a:t>
            </a:r>
            <a:endParaRPr lang="zh-CN" altLang="en-US">
              <a:latin typeface="Calibri" panose="020F0502020204030204" charset="0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支撑长期</a:t>
            </a:r>
            <a:r>
              <a:rPr lang="en-US" altLang="zh-CN" b="1">
                <a:solidFill>
                  <a:srgbClr val="FF0000"/>
                </a:solidFill>
                <a:latin typeface="Calibri" panose="020F0502020204030204" charset="0"/>
              </a:rPr>
              <a:t>QoS</a:t>
            </a:r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保障</a:t>
            </a:r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</p:txBody>
      </p:sp>
      <p:cxnSp>
        <p:nvCxnSpPr>
          <p:cNvPr id="17" name="直接连接符 16"/>
          <p:cNvCxnSpPr>
            <a:stCxn id="24" idx="1"/>
          </p:cNvCxnSpPr>
          <p:nvPr/>
        </p:nvCxnSpPr>
        <p:spPr>
          <a:xfrm flipH="1">
            <a:off x="1026795" y="787400"/>
            <a:ext cx="21164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018540" y="790575"/>
            <a:ext cx="5715" cy="467804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1018540" y="2751455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1018540" y="5469255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9697085" y="790575"/>
            <a:ext cx="170942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11393170" y="786130"/>
            <a:ext cx="5715" cy="467804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10920730" y="2749550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915015" y="5462270"/>
            <a:ext cx="478155" cy="1905"/>
          </a:xfrm>
          <a:prstGeom prst="line">
            <a:avLst/>
          </a:prstGeom>
          <a:ln w="19050">
            <a:solidFill>
              <a:srgbClr val="C00000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9842500" y="433705"/>
            <a:ext cx="107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监控</a:t>
            </a:r>
            <a:r>
              <a:rPr lang="en-US" altLang="zh-CN"/>
              <a:t>/</a:t>
            </a:r>
            <a:r>
              <a:rPr lang="zh-CN" altLang="en-US"/>
              <a:t>离线配置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38440" y="1158240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切片</a:t>
            </a:r>
            <a:r>
              <a:rPr lang="zh-CN" altLang="en-US" sz="1400"/>
              <a:t>调度器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5763895" y="1165225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路由控制</a:t>
            </a:r>
            <a:r>
              <a:rPr lang="zh-CN" altLang="en-US" sz="1400"/>
              <a:t>面</a:t>
            </a:r>
            <a:endParaRPr lang="zh-CN" altLang="en-US" sz="1400"/>
          </a:p>
        </p:txBody>
      </p:sp>
      <p:sp>
        <p:nvSpPr>
          <p:cNvPr id="16" name="文本框 15"/>
          <p:cNvSpPr txBox="1"/>
          <p:nvPr/>
        </p:nvSpPr>
        <p:spPr>
          <a:xfrm>
            <a:off x="3602990" y="1168400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切换控制</a:t>
            </a:r>
            <a:r>
              <a:rPr lang="zh-CN" altLang="en-US" sz="1400"/>
              <a:t>器</a:t>
            </a:r>
            <a:endParaRPr lang="zh-CN" altLang="en-US" sz="1400"/>
          </a:p>
        </p:txBody>
      </p:sp>
      <p:sp>
        <p:nvSpPr>
          <p:cNvPr id="20" name="矩形 19"/>
          <p:cNvSpPr/>
          <p:nvPr/>
        </p:nvSpPr>
        <p:spPr>
          <a:xfrm>
            <a:off x="3653790" y="4387215"/>
            <a:ext cx="1389380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charset="0"/>
                <a:sym typeface="+mn-ea"/>
              </a:rPr>
              <a:t>①</a:t>
            </a:r>
            <a:r>
              <a:rPr lang="zh-CN" altLang="en-US" b="1">
                <a:solidFill>
                  <a:schemeClr val="tx1"/>
                </a:solidFill>
              </a:rPr>
              <a:t>可信本地多跳感知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73425" y="4947285"/>
            <a:ext cx="2273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提供可靠的</a:t>
            </a:r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网络</a:t>
            </a:r>
            <a:r>
              <a:rPr lang="zh-CN" altLang="en-US" b="1">
                <a:solidFill>
                  <a:srgbClr val="FF0000"/>
                </a:solidFill>
                <a:latin typeface="Calibri" panose="020F0502020204030204" charset="0"/>
              </a:rPr>
              <a:t>视图</a:t>
            </a:r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839595" y="447675"/>
            <a:ext cx="107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监控</a:t>
            </a:r>
            <a:r>
              <a:rPr lang="en-US" altLang="zh-CN"/>
              <a:t>/</a:t>
            </a:r>
            <a:r>
              <a:rPr lang="zh-CN" altLang="en-US"/>
              <a:t>离线配置</a:t>
            </a:r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5043170" y="4850130"/>
            <a:ext cx="56896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WPS 演示</Application>
  <PresentationFormat>宽屏</PresentationFormat>
  <Paragraphs>72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236</cp:revision>
  <dcterms:created xsi:type="dcterms:W3CDTF">2023-08-09T12:44:00Z</dcterms:created>
  <dcterms:modified xsi:type="dcterms:W3CDTF">2026-06-17T13:53:29Z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FED8C23AB2674FE1862B8267500BCE2E_12</vt:lpwstr>
  </property>
</Properties>
</file>