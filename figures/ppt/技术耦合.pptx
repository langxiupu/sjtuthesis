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0" userDrawn="1">
          <p15:clr>
            <a:srgbClr val="A4A3A4"/>
          </p15:clr>
        </p15:guide>
        <p15:guide id="2" pos="37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90"/>
        <p:guide pos="374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" name="圆角矩形 13"/>
          <p:cNvSpPr/>
          <p:nvPr/>
        </p:nvSpPr>
        <p:spPr>
          <a:xfrm>
            <a:off x="1528445" y="2044065"/>
            <a:ext cx="9203055" cy="165862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528445" y="3805555"/>
            <a:ext cx="9203055" cy="165862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圆角矩形 9"/>
          <p:cNvSpPr/>
          <p:nvPr/>
        </p:nvSpPr>
        <p:spPr>
          <a:xfrm>
            <a:off x="1565910" y="5518150"/>
            <a:ext cx="9203055" cy="930910"/>
          </a:xfrm>
          <a:prstGeom prst="roundRect">
            <a:avLst/>
          </a:prstGeom>
          <a:solidFill>
            <a:schemeClr val="accent4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758950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信源信道</a:t>
            </a:r>
            <a:r>
              <a:rPr lang="zh-CN" altLang="en-US">
                <a:solidFill>
                  <a:schemeClr val="tx1"/>
                </a:solidFill>
              </a:rPr>
              <a:t>联合编码器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758950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796030" y="619125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接入与移动性管理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143250" y="99060"/>
            <a:ext cx="6553835" cy="137604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3194050" y="79375"/>
            <a:ext cx="948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核心网</a:t>
            </a:r>
            <a:endParaRPr lang="zh-CN" altLang="en-US" b="1"/>
          </a:p>
        </p:txBody>
      </p:sp>
      <p:sp>
        <p:nvSpPr>
          <p:cNvPr id="27" name="矩形 26"/>
          <p:cNvSpPr/>
          <p:nvPr/>
        </p:nvSpPr>
        <p:spPr>
          <a:xfrm>
            <a:off x="1484630" y="4271645"/>
            <a:ext cx="2221230" cy="243713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/>
        </p:nvSpPr>
        <p:spPr>
          <a:xfrm>
            <a:off x="79248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46" name="组合 45"/>
          <p:cNvGrpSpPr/>
          <p:nvPr/>
        </p:nvGrpSpPr>
        <p:grpSpPr>
          <a:xfrm>
            <a:off x="-6985" y="4364355"/>
            <a:ext cx="792480" cy="1104900"/>
            <a:chOff x="102" y="5898"/>
            <a:chExt cx="1248" cy="1740"/>
          </a:xfrm>
        </p:grpSpPr>
        <p:sp>
          <p:nvSpPr>
            <p:cNvPr id="29" name="文本框 28"/>
            <p:cNvSpPr txBox="1"/>
            <p:nvPr/>
          </p:nvSpPr>
          <p:spPr>
            <a:xfrm>
              <a:off x="102" y="589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URLLC</a:t>
              </a:r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02" y="647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eMBB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02" y="705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mMTC</a:t>
              </a:r>
              <a:endParaRPr lang="en-US" altLang="zh-CN"/>
            </a:p>
          </p:txBody>
        </p:sp>
      </p:grpSp>
      <p:sp>
        <p:nvSpPr>
          <p:cNvPr id="32" name="文本框 31"/>
          <p:cNvSpPr txBox="1"/>
          <p:nvPr/>
        </p:nvSpPr>
        <p:spPr>
          <a:xfrm>
            <a:off x="1839595" y="637667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发射端用户</a:t>
            </a:r>
            <a:endParaRPr lang="zh-CN" altLang="en-US" b="1"/>
          </a:p>
        </p:txBody>
      </p:sp>
      <p:sp>
        <p:nvSpPr>
          <p:cNvPr id="33" name="圆柱形 32"/>
          <p:cNvSpPr/>
          <p:nvPr/>
        </p:nvSpPr>
        <p:spPr>
          <a:xfrm rot="16200000">
            <a:off x="5919470" y="3305175"/>
            <a:ext cx="915670" cy="3222625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877560" y="619125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拓扑管理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1066546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11588750" y="4641215"/>
            <a:ext cx="8197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下游</a:t>
            </a:r>
            <a:endParaRPr lang="zh-CN" altLang="en-US"/>
          </a:p>
          <a:p>
            <a:r>
              <a:rPr lang="zh-CN" altLang="en-US"/>
              <a:t>任务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5946140" y="4732655"/>
            <a:ext cx="15367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路由</a:t>
            </a:r>
            <a:r>
              <a:rPr lang="zh-CN" altLang="en-US"/>
              <a:t>控制面</a:t>
            </a:r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758950" y="29432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484630" y="1682750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528445" y="1682750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45" name="矩形 44"/>
          <p:cNvSpPr/>
          <p:nvPr/>
        </p:nvSpPr>
        <p:spPr>
          <a:xfrm>
            <a:off x="1758950" y="212979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7" name="右箭头 46"/>
          <p:cNvSpPr/>
          <p:nvPr/>
        </p:nvSpPr>
        <p:spPr>
          <a:xfrm rot="16200000">
            <a:off x="2258060" y="395922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右箭头 47"/>
          <p:cNvSpPr/>
          <p:nvPr/>
        </p:nvSpPr>
        <p:spPr>
          <a:xfrm rot="2640000">
            <a:off x="3829050" y="3694430"/>
            <a:ext cx="92710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8973820" y="291846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699500" y="1657985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8743315" y="1657985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52" name="矩形 51"/>
          <p:cNvSpPr/>
          <p:nvPr/>
        </p:nvSpPr>
        <p:spPr>
          <a:xfrm>
            <a:off x="8973820" y="21050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3" name="右箭头 52"/>
          <p:cNvSpPr/>
          <p:nvPr/>
        </p:nvSpPr>
        <p:spPr>
          <a:xfrm rot="19380000">
            <a:off x="8017510" y="3726180"/>
            <a:ext cx="92710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8955405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信源信道联合</a:t>
            </a:r>
            <a:r>
              <a:rPr lang="zh-CN" altLang="en-US">
                <a:solidFill>
                  <a:schemeClr val="tx1"/>
                </a:solidFill>
              </a:rPr>
              <a:t>解码器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55405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8681085" y="4271645"/>
            <a:ext cx="2221230" cy="243713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9036050" y="636016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接收端用户</a:t>
            </a:r>
            <a:endParaRPr lang="zh-CN" altLang="en-US" b="1"/>
          </a:p>
        </p:txBody>
      </p:sp>
      <p:sp>
        <p:nvSpPr>
          <p:cNvPr id="6" name="矩形 5"/>
          <p:cNvSpPr/>
          <p:nvPr/>
        </p:nvSpPr>
        <p:spPr>
          <a:xfrm>
            <a:off x="7959090" y="619125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网络切片管理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右箭头 7"/>
          <p:cNvSpPr/>
          <p:nvPr/>
        </p:nvSpPr>
        <p:spPr>
          <a:xfrm rot="5400000" flipV="1">
            <a:off x="9542780" y="399097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628515" y="5712460"/>
            <a:ext cx="34048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latin typeface="Calibri" panose="020F0502020204030204" charset="0"/>
              </a:rPr>
              <a:t>①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分布式用户协作切换</a:t>
            </a:r>
            <a:endParaRPr lang="zh-CN" altLang="en-US">
              <a:latin typeface="Calibri" panose="020F0502020204030204" charset="0"/>
            </a:endParaRPr>
          </a:p>
          <a:p>
            <a:pPr algn="ctr"/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提供连续的通信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连接</a:t>
            </a:r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755515" y="3805555"/>
            <a:ext cx="34048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latin typeface="Calibri" panose="020F0502020204030204" charset="0"/>
              </a:rPr>
              <a:t>③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语义</a:t>
            </a:r>
            <a:r>
              <a:rPr lang="en-US" altLang="zh-CN" b="1">
                <a:latin typeface="Calibri" panose="020F0502020204030204" charset="0"/>
              </a:rPr>
              <a:t>HARQ</a:t>
            </a:r>
            <a:r>
              <a:rPr lang="zh-CN" altLang="en-US" b="1">
                <a:latin typeface="Calibri" panose="020F0502020204030204" charset="0"/>
              </a:rPr>
              <a:t>与语义驱动路由</a:t>
            </a:r>
            <a:endParaRPr lang="zh-CN" altLang="en-US">
              <a:latin typeface="Calibri" panose="020F0502020204030204" charset="0"/>
            </a:endParaRPr>
          </a:p>
          <a:p>
            <a:pPr algn="ctr"/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提供语义保真的端到端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传输</a:t>
            </a:r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766310" y="2611120"/>
            <a:ext cx="34810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Calibri" panose="020F0502020204030204" charset="0"/>
              </a:rPr>
              <a:t>②</a:t>
            </a:r>
            <a:r>
              <a:rPr lang="en-US" altLang="zh-CN" b="1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跨层资源编排与无线资源分配</a:t>
            </a:r>
            <a:endParaRPr lang="zh-CN" altLang="en-US">
              <a:latin typeface="Calibri" panose="020F0502020204030204" charset="0"/>
            </a:endParaRPr>
          </a:p>
          <a:p>
            <a:pPr algn="ctr"/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提供具有</a:t>
            </a:r>
            <a:r>
              <a:rPr lang="en-US" altLang="zh-CN" b="1">
                <a:solidFill>
                  <a:srgbClr val="FF0000"/>
                </a:solidFill>
                <a:latin typeface="Calibri" panose="020F0502020204030204" charset="0"/>
              </a:rPr>
              <a:t>QoS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保障的用户</a:t>
            </a:r>
            <a:r>
              <a:rPr lang="zh-CN" altLang="en-US" b="1">
                <a:solidFill>
                  <a:srgbClr val="FF0000"/>
                </a:solidFill>
                <a:latin typeface="Calibri" panose="020F0502020204030204" charset="0"/>
              </a:rPr>
              <a:t>接入</a:t>
            </a:r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cxnSp>
        <p:nvCxnSpPr>
          <p:cNvPr id="17" name="直接连接符 16"/>
          <p:cNvCxnSpPr>
            <a:stCxn id="24" idx="1"/>
          </p:cNvCxnSpPr>
          <p:nvPr/>
        </p:nvCxnSpPr>
        <p:spPr>
          <a:xfrm flipH="1">
            <a:off x="1026795" y="787400"/>
            <a:ext cx="2116455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1018540" y="790575"/>
            <a:ext cx="5715" cy="467804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 flipH="1" flipV="1">
            <a:off x="1018540" y="2751455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H="1" flipV="1">
            <a:off x="1018540" y="5469255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 flipH="1">
            <a:off x="9697085" y="790575"/>
            <a:ext cx="1709420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 flipV="1">
            <a:off x="11393170" y="786130"/>
            <a:ext cx="5715" cy="467804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 flipV="1">
            <a:off x="10920730" y="2749550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连接符 56"/>
          <p:cNvCxnSpPr/>
          <p:nvPr/>
        </p:nvCxnSpPr>
        <p:spPr>
          <a:xfrm flipV="1">
            <a:off x="10915015" y="5462270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9842500" y="342900"/>
            <a:ext cx="685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endParaRPr lang="zh-CN" altLang="en-US"/>
          </a:p>
        </p:txBody>
      </p:sp>
      <p:sp>
        <p:nvSpPr>
          <p:cNvPr id="61" name="文本框 60"/>
          <p:cNvSpPr txBox="1"/>
          <p:nvPr/>
        </p:nvSpPr>
        <p:spPr>
          <a:xfrm>
            <a:off x="2252980" y="342900"/>
            <a:ext cx="6851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</Words>
  <Application>WPS 演示</Application>
  <PresentationFormat>宽屏</PresentationFormat>
  <Paragraphs>56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161</cp:revision>
  <dcterms:created xsi:type="dcterms:W3CDTF">2023-08-09T12:44:00Z</dcterms:created>
  <dcterms:modified xsi:type="dcterms:W3CDTF">2026-01-17T15:45:49Z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FED8C23AB2674FE1862B8267500BCE2E_12</vt:lpwstr>
  </property>
</Properties>
</file>