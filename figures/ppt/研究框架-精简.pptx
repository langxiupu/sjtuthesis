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74" userDrawn="1">
          <p15:clr>
            <a:srgbClr val="A4A3A4"/>
          </p15:clr>
        </p15:guide>
        <p15:guide id="2" pos="377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700D"/>
    <a:srgbClr val="31859B"/>
    <a:srgbClr val="9DBB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074"/>
        <p:guide pos="377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5090795" y="327660"/>
            <a:ext cx="2995295" cy="55308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 b="1">
                <a:solidFill>
                  <a:schemeClr val="tx1"/>
                </a:solidFill>
              </a:rPr>
              <a:t>第一章</a:t>
            </a:r>
            <a:r>
              <a:rPr lang="en-US" altLang="zh-CN" sz="1600" b="1">
                <a:solidFill>
                  <a:schemeClr val="tx1"/>
                </a:solidFill>
              </a:rPr>
              <a:t> </a:t>
            </a:r>
            <a:r>
              <a:rPr lang="zh-CN" altLang="en-US" sz="1600" b="1">
                <a:solidFill>
                  <a:schemeClr val="tx1"/>
                </a:solidFill>
              </a:rPr>
              <a:t>绪论</a:t>
            </a:r>
            <a:endParaRPr lang="zh-CN" altLang="en-US" sz="1600">
              <a:solidFill>
                <a:schemeClr val="tx1"/>
              </a:solidFill>
            </a:endParaRPr>
          </a:p>
        </p:txBody>
      </p:sp>
      <p:grpSp>
        <p:nvGrpSpPr>
          <p:cNvPr id="41" name="组合 40"/>
          <p:cNvGrpSpPr/>
          <p:nvPr/>
        </p:nvGrpSpPr>
        <p:grpSpPr>
          <a:xfrm>
            <a:off x="2973070" y="4147820"/>
            <a:ext cx="2391410" cy="918845"/>
            <a:chOff x="-5602" y="9142"/>
            <a:chExt cx="3766" cy="1447"/>
          </a:xfrm>
        </p:grpSpPr>
        <p:sp>
          <p:nvSpPr>
            <p:cNvPr id="49" name="圆角矩形 48"/>
            <p:cNvSpPr/>
            <p:nvPr/>
          </p:nvSpPr>
          <p:spPr>
            <a:xfrm>
              <a:off x="-5602" y="9142"/>
              <a:ext cx="3741" cy="1447"/>
            </a:xfrm>
            <a:prstGeom prst="roundRect">
              <a:avLst>
                <a:gd name="adj" fmla="val 6084"/>
              </a:avLst>
            </a:prstGeom>
            <a:solidFill>
              <a:srgbClr val="9DBB61">
                <a:alpha val="77000"/>
              </a:srgbClr>
            </a:solidFill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-5560" y="9185"/>
              <a:ext cx="3724" cy="140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1600" b="1">
                  <a:sym typeface="+mn-ea"/>
                </a:rPr>
                <a:t>第四章</a:t>
              </a:r>
              <a:r>
                <a:rPr lang="en-US" altLang="zh-CN" sz="1600" b="1">
                  <a:sym typeface="+mn-ea"/>
                </a:rPr>
                <a:t> </a:t>
              </a:r>
              <a:r>
                <a:rPr lang="zh-CN" altLang="en-US" sz="1600" b="1"/>
                <a:t>基于局部公平性估计的分布式协作接入切换机制</a:t>
              </a:r>
              <a:endParaRPr lang="zh-CN" altLang="en-US" sz="1600" b="1"/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5475605" y="4151630"/>
            <a:ext cx="2374900" cy="915670"/>
            <a:chOff x="-1661" y="9148"/>
            <a:chExt cx="3740" cy="1442"/>
          </a:xfrm>
        </p:grpSpPr>
        <p:sp>
          <p:nvSpPr>
            <p:cNvPr id="60" name="圆角矩形 59"/>
            <p:cNvSpPr/>
            <p:nvPr/>
          </p:nvSpPr>
          <p:spPr>
            <a:xfrm>
              <a:off x="-1661" y="9148"/>
              <a:ext cx="3741" cy="1442"/>
            </a:xfrm>
            <a:prstGeom prst="roundRect">
              <a:avLst>
                <a:gd name="adj" fmla="val 6084"/>
              </a:avLst>
            </a:prstGeom>
            <a:solidFill>
              <a:srgbClr val="31859B">
                <a:alpha val="61000"/>
              </a:srgbClr>
            </a:solidFill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-1661" y="9185"/>
              <a:ext cx="3724" cy="83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1600" b="1">
                  <a:sym typeface="+mn-ea"/>
                </a:rPr>
                <a:t>第五章</a:t>
              </a:r>
              <a:r>
                <a:rPr lang="en-US" altLang="zh-CN" sz="1600" b="1">
                  <a:sym typeface="+mn-ea"/>
                </a:rPr>
                <a:t> </a:t>
              </a:r>
              <a:r>
                <a:rPr lang="zh-CN" altLang="en-US" sz="1600" b="1"/>
                <a:t>生成式网络态势感知的切片</a:t>
              </a:r>
              <a:r>
                <a:rPr lang="en-US" altLang="zh-CN" sz="1600" b="1"/>
                <a:t>-MAC</a:t>
              </a:r>
              <a:r>
                <a:rPr lang="zh-CN" altLang="en-US" sz="1600" b="1"/>
                <a:t>分层协作优化框架</a:t>
              </a:r>
              <a:endParaRPr lang="zh-CN" altLang="en-US" sz="1200" b="1"/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7978140" y="4129405"/>
            <a:ext cx="2375535" cy="937260"/>
            <a:chOff x="2280" y="9113"/>
            <a:chExt cx="3741" cy="1476"/>
          </a:xfrm>
        </p:grpSpPr>
        <p:sp>
          <p:nvSpPr>
            <p:cNvPr id="61" name="圆角矩形 60"/>
            <p:cNvSpPr/>
            <p:nvPr/>
          </p:nvSpPr>
          <p:spPr>
            <a:xfrm>
              <a:off x="2280" y="9113"/>
              <a:ext cx="3741" cy="1476"/>
            </a:xfrm>
            <a:prstGeom prst="roundRect">
              <a:avLst>
                <a:gd name="adj" fmla="val 6084"/>
              </a:avLst>
            </a:prstGeom>
            <a:solidFill>
              <a:srgbClr val="EA700D">
                <a:alpha val="61000"/>
              </a:srgbClr>
            </a:solidFill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2297" y="9185"/>
              <a:ext cx="3724" cy="83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1600" b="1">
                  <a:sym typeface="+mn-ea"/>
                </a:rPr>
                <a:t>第六章</a:t>
              </a:r>
              <a:r>
                <a:rPr lang="en-US" altLang="zh-CN" sz="1600" b="1">
                  <a:sym typeface="+mn-ea"/>
                </a:rPr>
                <a:t> </a:t>
              </a:r>
              <a:r>
                <a:rPr lang="zh-CN" altLang="en-US" sz="1600" b="1"/>
                <a:t>基于任务反馈与协同增量重传的轻量化语义传输机制</a:t>
              </a:r>
              <a:endParaRPr lang="zh-CN" altLang="en-US" sz="1600" b="1"/>
            </a:p>
          </p:txBody>
        </p:sp>
      </p:grpSp>
      <p:sp>
        <p:nvSpPr>
          <p:cNvPr id="8" name="圆角矩形 7"/>
          <p:cNvSpPr/>
          <p:nvPr/>
        </p:nvSpPr>
        <p:spPr>
          <a:xfrm>
            <a:off x="5090795" y="1176020"/>
            <a:ext cx="2995295" cy="55308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 b="1">
                <a:solidFill>
                  <a:schemeClr val="tx1"/>
                </a:solidFill>
              </a:rPr>
              <a:t>第二章</a:t>
            </a:r>
            <a:r>
              <a:rPr lang="en-US" altLang="zh-CN" b="1">
                <a:solidFill>
                  <a:schemeClr val="tx1"/>
                </a:solidFill>
              </a:rPr>
              <a:t> 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sz="1600" b="1">
                <a:solidFill>
                  <a:schemeClr val="tx1"/>
                </a:solidFill>
              </a:rPr>
              <a:t>分布式管控关键技术分析</a:t>
            </a:r>
            <a:endParaRPr lang="zh-CN" altLang="en-US" sz="1600" b="1">
              <a:solidFill>
                <a:schemeClr val="tx1"/>
              </a:solidFill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800985" y="1986280"/>
            <a:ext cx="7635240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2651125" y="1561465"/>
            <a:ext cx="20955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研究背景及理论基础</a:t>
            </a:r>
            <a:endParaRPr lang="zh-CN" altLang="en-US" sz="1600"/>
          </a:p>
        </p:txBody>
      </p:sp>
      <p:cxnSp>
        <p:nvCxnSpPr>
          <p:cNvPr id="17" name="直接箭头连接符 16"/>
          <p:cNvCxnSpPr>
            <a:stCxn id="4" idx="2"/>
            <a:endCxn id="8" idx="0"/>
          </p:cNvCxnSpPr>
          <p:nvPr/>
        </p:nvCxnSpPr>
        <p:spPr>
          <a:xfrm>
            <a:off x="6588760" y="880745"/>
            <a:ext cx="0" cy="295275"/>
          </a:xfrm>
          <a:prstGeom prst="straightConnector1">
            <a:avLst/>
          </a:prstGeom>
          <a:ln w="254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/>
          <p:nvPr/>
        </p:nvCxnSpPr>
        <p:spPr>
          <a:xfrm>
            <a:off x="6588760" y="1713230"/>
            <a:ext cx="0" cy="720090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圆角矩形 20"/>
          <p:cNvSpPr/>
          <p:nvPr/>
        </p:nvSpPr>
        <p:spPr>
          <a:xfrm>
            <a:off x="5090795" y="2435860"/>
            <a:ext cx="2995295" cy="55308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 b="1">
                <a:solidFill>
                  <a:schemeClr val="tx1"/>
                </a:solidFill>
              </a:rPr>
              <a:t>第三章</a:t>
            </a:r>
            <a:r>
              <a:rPr lang="en-US" altLang="zh-CN" b="1">
                <a:solidFill>
                  <a:schemeClr val="tx1"/>
                </a:solidFill>
              </a:rPr>
              <a:t>  </a:t>
            </a:r>
            <a:r>
              <a:rPr lang="zh-CN" altLang="en-US" sz="1600" b="1">
                <a:solidFill>
                  <a:schemeClr val="tx1"/>
                </a:solidFill>
              </a:rPr>
              <a:t>多源置信度调控的分布式网络状态感知方法</a:t>
            </a:r>
            <a:endParaRPr lang="zh-CN" altLang="en-US" sz="1600" b="1">
              <a:solidFill>
                <a:schemeClr val="tx1"/>
              </a:solidFill>
            </a:endParaRPr>
          </a:p>
        </p:txBody>
      </p:sp>
      <p:cxnSp>
        <p:nvCxnSpPr>
          <p:cNvPr id="54" name="直接箭头连接符 53"/>
          <p:cNvCxnSpPr/>
          <p:nvPr/>
        </p:nvCxnSpPr>
        <p:spPr>
          <a:xfrm flipH="1">
            <a:off x="6564630" y="2828290"/>
            <a:ext cx="0" cy="1321435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2" name="直接箭头连接符 61"/>
          <p:cNvCxnSpPr/>
          <p:nvPr/>
        </p:nvCxnSpPr>
        <p:spPr>
          <a:xfrm>
            <a:off x="4233545" y="3486150"/>
            <a:ext cx="1270" cy="681990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4" name="直接箭头连接符 63"/>
          <p:cNvCxnSpPr/>
          <p:nvPr/>
        </p:nvCxnSpPr>
        <p:spPr>
          <a:xfrm>
            <a:off x="4218940" y="3488690"/>
            <a:ext cx="4946400" cy="0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5" name="文本框 64"/>
          <p:cNvSpPr txBox="1"/>
          <p:nvPr/>
        </p:nvSpPr>
        <p:spPr>
          <a:xfrm>
            <a:off x="2549525" y="1986280"/>
            <a:ext cx="162750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/>
              <a:t>分布式管控的</a:t>
            </a:r>
            <a:endParaRPr lang="zh-CN" altLang="en-US" sz="1600"/>
          </a:p>
          <a:p>
            <a:pPr algn="ctr"/>
            <a:r>
              <a:rPr lang="zh-CN" altLang="en-US" sz="1600"/>
              <a:t>感知方法</a:t>
            </a:r>
            <a:endParaRPr lang="zh-CN" altLang="en-US" sz="1600"/>
          </a:p>
        </p:txBody>
      </p:sp>
      <p:cxnSp>
        <p:nvCxnSpPr>
          <p:cNvPr id="67" name="直接连接符 66"/>
          <p:cNvCxnSpPr/>
          <p:nvPr/>
        </p:nvCxnSpPr>
        <p:spPr>
          <a:xfrm>
            <a:off x="2800985" y="3063240"/>
            <a:ext cx="7635240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" name="文本框 68"/>
          <p:cNvSpPr txBox="1"/>
          <p:nvPr/>
        </p:nvSpPr>
        <p:spPr>
          <a:xfrm>
            <a:off x="2549525" y="3063240"/>
            <a:ext cx="162750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/>
              <a:t>分布式管控的</a:t>
            </a:r>
            <a:endParaRPr lang="zh-CN" altLang="en-US" sz="1600"/>
          </a:p>
          <a:p>
            <a:pPr algn="ctr"/>
            <a:r>
              <a:rPr lang="zh-CN" altLang="en-US" sz="1600"/>
              <a:t>资源调度</a:t>
            </a:r>
            <a:r>
              <a:rPr lang="zh-CN" altLang="en-US" sz="1600"/>
              <a:t>方法</a:t>
            </a:r>
            <a:endParaRPr lang="zh-CN" altLang="en-US" sz="1600"/>
          </a:p>
        </p:txBody>
      </p:sp>
      <p:sp>
        <p:nvSpPr>
          <p:cNvPr id="70" name="右箭头 69"/>
          <p:cNvSpPr/>
          <p:nvPr/>
        </p:nvSpPr>
        <p:spPr>
          <a:xfrm rot="5400000">
            <a:off x="3079750" y="2750185"/>
            <a:ext cx="566420" cy="14414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71" name="直接箭头连接符 70"/>
          <p:cNvCxnSpPr/>
          <p:nvPr/>
        </p:nvCxnSpPr>
        <p:spPr>
          <a:xfrm>
            <a:off x="9164320" y="3497580"/>
            <a:ext cx="1270" cy="681990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2" name="矩形 71"/>
          <p:cNvSpPr/>
          <p:nvPr/>
        </p:nvSpPr>
        <p:spPr>
          <a:xfrm>
            <a:off x="4234815" y="3494405"/>
            <a:ext cx="1115695" cy="38290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 b="1">
                <a:solidFill>
                  <a:schemeClr val="tx1"/>
                </a:solidFill>
              </a:rPr>
              <a:t>接入</a:t>
            </a:r>
            <a:endParaRPr lang="zh-CN" altLang="en-US" sz="1200" b="1">
              <a:solidFill>
                <a:schemeClr val="tx1"/>
              </a:solidFill>
            </a:endParaRPr>
          </a:p>
          <a:p>
            <a:pPr algn="ctr"/>
            <a:r>
              <a:rPr lang="zh-CN" altLang="en-US" sz="1200" b="1">
                <a:solidFill>
                  <a:schemeClr val="tx1"/>
                </a:solidFill>
              </a:rPr>
              <a:t>覆盖连续性</a:t>
            </a:r>
            <a:endParaRPr lang="zh-CN" altLang="en-US" sz="1200" b="1">
              <a:solidFill>
                <a:schemeClr val="tx1"/>
              </a:solidFill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6588760" y="3497580"/>
            <a:ext cx="1115695" cy="38290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 b="1">
                <a:solidFill>
                  <a:schemeClr val="tx1"/>
                </a:solidFill>
              </a:rPr>
              <a:t>无线资源分配</a:t>
            </a:r>
            <a:endParaRPr lang="zh-CN" altLang="en-US" sz="1200" b="1">
              <a:solidFill>
                <a:schemeClr val="tx1"/>
              </a:solidFill>
            </a:endParaRPr>
          </a:p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QoS</a:t>
            </a:r>
            <a:r>
              <a:rPr lang="zh-CN" altLang="en-US" sz="1200" b="1">
                <a:solidFill>
                  <a:schemeClr val="tx1"/>
                </a:solidFill>
              </a:rPr>
              <a:t>保障</a:t>
            </a:r>
            <a:endParaRPr lang="zh-CN" altLang="en-US" sz="1200" b="1">
              <a:solidFill>
                <a:schemeClr val="tx1"/>
              </a:solidFill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6644640" y="2028190"/>
            <a:ext cx="1115695" cy="38290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 b="1">
                <a:solidFill>
                  <a:schemeClr val="tx1"/>
                </a:solidFill>
              </a:rPr>
              <a:t>节点间</a:t>
            </a:r>
            <a:endParaRPr lang="zh-CN" altLang="en-US" sz="1200" b="1">
              <a:solidFill>
                <a:schemeClr val="tx1"/>
              </a:solidFill>
            </a:endParaRPr>
          </a:p>
          <a:p>
            <a:pPr algn="ctr"/>
            <a:r>
              <a:rPr lang="zh-CN" altLang="en-US" sz="1200" b="1">
                <a:solidFill>
                  <a:schemeClr val="tx1"/>
                </a:solidFill>
              </a:rPr>
              <a:t>分布式协作</a:t>
            </a:r>
            <a:endParaRPr lang="zh-CN" altLang="en-US" sz="1200" b="1">
              <a:solidFill>
                <a:schemeClr val="tx1"/>
              </a:solidFill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9193530" y="3487420"/>
            <a:ext cx="1115695" cy="38290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 b="1">
                <a:solidFill>
                  <a:schemeClr val="tx1"/>
                </a:solidFill>
              </a:rPr>
              <a:t>端到端传输</a:t>
            </a:r>
            <a:endParaRPr lang="zh-CN" altLang="en-US" sz="1200" b="1">
              <a:solidFill>
                <a:schemeClr val="tx1"/>
              </a:solidFill>
            </a:endParaRPr>
          </a:p>
          <a:p>
            <a:pPr algn="ctr"/>
            <a:r>
              <a:rPr lang="zh-CN" altLang="en-US" sz="1200" b="1">
                <a:solidFill>
                  <a:schemeClr val="tx1"/>
                </a:solidFill>
              </a:rPr>
              <a:t>信息</a:t>
            </a:r>
            <a:r>
              <a:rPr lang="zh-CN" altLang="en-US" sz="1200" b="1">
                <a:solidFill>
                  <a:schemeClr val="tx1"/>
                </a:solidFill>
              </a:rPr>
              <a:t>保真</a:t>
            </a:r>
            <a:endParaRPr lang="zh-CN" altLang="en-US" sz="1200" b="1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191</Words>
  <Application>WPS 演示</Application>
  <PresentationFormat>宽屏</PresentationFormat>
  <Paragraphs>33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574</cp:revision>
  <dcterms:created xsi:type="dcterms:W3CDTF">2023-08-09T12:44:00Z</dcterms:created>
  <dcterms:modified xsi:type="dcterms:W3CDTF">2026-06-27T03:21:45Z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62735A0042EF4AEEA24D51B7AFDBD72A_12</vt:lpwstr>
  </property>
</Properties>
</file>