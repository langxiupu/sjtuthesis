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87" userDrawn="1">
          <p15:clr>
            <a:srgbClr val="A4A3A4"/>
          </p15:clr>
        </p15:guide>
        <p15:guide id="2" pos="377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A700D"/>
    <a:srgbClr val="31859B"/>
    <a:srgbClr val="9DBB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087"/>
        <p:guide pos="377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圆角矩形 3"/>
          <p:cNvSpPr/>
          <p:nvPr/>
        </p:nvSpPr>
        <p:spPr>
          <a:xfrm>
            <a:off x="1297305" y="421005"/>
            <a:ext cx="1802130" cy="553085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b="1">
                <a:solidFill>
                  <a:schemeClr val="tx1"/>
                </a:solidFill>
              </a:rPr>
              <a:t>绪论</a:t>
            </a:r>
            <a:endParaRPr lang="zh-CN" altLang="en-US" b="1">
              <a:solidFill>
                <a:schemeClr val="tx1"/>
              </a:solidFill>
            </a:endParaRPr>
          </a:p>
          <a:p>
            <a:pPr algn="ctr"/>
            <a:r>
              <a:rPr lang="zh-CN" altLang="en-US" b="1">
                <a:solidFill>
                  <a:schemeClr val="tx1"/>
                </a:solidFill>
              </a:rPr>
              <a:t>（</a:t>
            </a:r>
            <a:r>
              <a:rPr lang="zh-CN" altLang="en-US" b="1">
                <a:solidFill>
                  <a:schemeClr val="tx1"/>
                </a:solidFill>
              </a:rPr>
              <a:t>第一章）</a:t>
            </a:r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5" name="圆角矩形 4"/>
          <p:cNvSpPr/>
          <p:nvPr/>
        </p:nvSpPr>
        <p:spPr>
          <a:xfrm>
            <a:off x="3230880" y="421005"/>
            <a:ext cx="7641590" cy="553085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7" name="矩形 6"/>
          <p:cNvSpPr/>
          <p:nvPr/>
        </p:nvSpPr>
        <p:spPr>
          <a:xfrm>
            <a:off x="3738245" y="537210"/>
            <a:ext cx="1261745" cy="3397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研究背景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11" name="圆角矩形 10"/>
          <p:cNvSpPr/>
          <p:nvPr/>
        </p:nvSpPr>
        <p:spPr>
          <a:xfrm>
            <a:off x="1297305" y="1044575"/>
            <a:ext cx="1823720" cy="4434840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2" name="圆角矩形 11"/>
          <p:cNvSpPr/>
          <p:nvPr/>
        </p:nvSpPr>
        <p:spPr>
          <a:xfrm>
            <a:off x="1297305" y="5624830"/>
            <a:ext cx="1802130" cy="572135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b="1">
                <a:solidFill>
                  <a:schemeClr val="tx1"/>
                </a:solidFill>
              </a:rPr>
              <a:t>总结</a:t>
            </a:r>
            <a:r>
              <a:rPr lang="zh-CN" altLang="en-US" b="1">
                <a:solidFill>
                  <a:schemeClr val="tx1"/>
                </a:solidFill>
              </a:rPr>
              <a:t>展望</a:t>
            </a:r>
            <a:endParaRPr lang="zh-CN" altLang="en-US" b="1">
              <a:solidFill>
                <a:schemeClr val="tx1"/>
              </a:solidFill>
            </a:endParaRPr>
          </a:p>
          <a:p>
            <a:pPr algn="ctr"/>
            <a:r>
              <a:rPr lang="zh-CN" altLang="en-US" b="1">
                <a:solidFill>
                  <a:schemeClr val="tx1"/>
                </a:solidFill>
              </a:rPr>
              <a:t>（</a:t>
            </a:r>
            <a:r>
              <a:rPr lang="zh-CN" altLang="en-US" b="1">
                <a:solidFill>
                  <a:schemeClr val="tx1"/>
                </a:solidFill>
              </a:rPr>
              <a:t>第六章）</a:t>
            </a:r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3" name="圆角矩形 12"/>
          <p:cNvSpPr/>
          <p:nvPr/>
        </p:nvSpPr>
        <p:spPr>
          <a:xfrm>
            <a:off x="3253105" y="5669280"/>
            <a:ext cx="7641590" cy="527685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1950720" y="2633980"/>
            <a:ext cx="517525" cy="24612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200" b="1"/>
              <a:t>问</a:t>
            </a:r>
            <a:endParaRPr lang="zh-CN" altLang="en-US" sz="2200" b="1"/>
          </a:p>
          <a:p>
            <a:r>
              <a:rPr lang="zh-CN" altLang="en-US" sz="2200" b="1"/>
              <a:t>题</a:t>
            </a:r>
            <a:endParaRPr lang="zh-CN" altLang="en-US" sz="2200" b="1"/>
          </a:p>
          <a:p>
            <a:r>
              <a:rPr lang="zh-CN" altLang="en-US" sz="2200" b="1"/>
              <a:t>与</a:t>
            </a:r>
            <a:endParaRPr lang="zh-CN" altLang="en-US" sz="2200" b="1"/>
          </a:p>
          <a:p>
            <a:r>
              <a:rPr lang="zh-CN" altLang="en-US" sz="2200" b="1"/>
              <a:t>技术路线</a:t>
            </a:r>
            <a:endParaRPr lang="zh-CN" altLang="en-US" sz="2200" b="1"/>
          </a:p>
        </p:txBody>
      </p:sp>
      <p:sp>
        <p:nvSpPr>
          <p:cNvPr id="42" name="矩形 41"/>
          <p:cNvSpPr/>
          <p:nvPr/>
        </p:nvSpPr>
        <p:spPr>
          <a:xfrm>
            <a:off x="3486150" y="5790565"/>
            <a:ext cx="3318510" cy="35179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全文总结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7437755" y="5784215"/>
            <a:ext cx="3318510" cy="35814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未来展望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16" name="圆角矩形 15"/>
          <p:cNvSpPr/>
          <p:nvPr/>
        </p:nvSpPr>
        <p:spPr>
          <a:xfrm>
            <a:off x="3253105" y="1031240"/>
            <a:ext cx="7641590" cy="1299845"/>
          </a:xfrm>
          <a:prstGeom prst="roundRect">
            <a:avLst>
              <a:gd name="adj" fmla="val 7642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grpSp>
        <p:nvGrpSpPr>
          <p:cNvPr id="32" name="组合 31"/>
          <p:cNvGrpSpPr/>
          <p:nvPr/>
        </p:nvGrpSpPr>
        <p:grpSpPr>
          <a:xfrm rot="0">
            <a:off x="3314065" y="993775"/>
            <a:ext cx="708660" cy="245110"/>
            <a:chOff x="7321" y="4988"/>
            <a:chExt cx="1116" cy="386"/>
          </a:xfrm>
        </p:grpSpPr>
        <p:sp>
          <p:nvSpPr>
            <p:cNvPr id="19" name="文本框 18"/>
            <p:cNvSpPr txBox="1"/>
            <p:nvPr/>
          </p:nvSpPr>
          <p:spPr>
            <a:xfrm>
              <a:off x="7485" y="4988"/>
              <a:ext cx="952" cy="3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000" b="1"/>
                <a:t>目标</a:t>
              </a:r>
              <a:endParaRPr lang="zh-CN" altLang="en-US" sz="1000" b="1"/>
            </a:p>
          </p:txBody>
        </p:sp>
        <p:sp>
          <p:nvSpPr>
            <p:cNvPr id="20" name="流程图: 延期 19"/>
            <p:cNvSpPr/>
            <p:nvPr/>
          </p:nvSpPr>
          <p:spPr>
            <a:xfrm rot="5400000">
              <a:off x="7706" y="4684"/>
              <a:ext cx="250" cy="1020"/>
            </a:xfrm>
            <a:prstGeom prst="flowChartDelay">
              <a:avLst/>
            </a:prstGeom>
            <a:noFill/>
            <a:ln>
              <a:solidFill>
                <a:schemeClr val="bg1">
                  <a:lumMod val="50000"/>
                </a:schemeClr>
              </a:solidFill>
              <a:prstDash val="sysDash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</p:grpSp>
      <p:sp>
        <p:nvSpPr>
          <p:cNvPr id="22" name="矩形 21"/>
          <p:cNvSpPr/>
          <p:nvPr/>
        </p:nvSpPr>
        <p:spPr>
          <a:xfrm>
            <a:off x="6204585" y="1704975"/>
            <a:ext cx="1747520" cy="44704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无线资源</a:t>
            </a:r>
            <a:r>
              <a:rPr lang="zh-CN" altLang="en-US" sz="1200">
                <a:solidFill>
                  <a:schemeClr val="tx1"/>
                </a:solidFill>
              </a:rPr>
              <a:t>使用效率</a:t>
            </a:r>
            <a:endParaRPr lang="zh-CN" altLang="en-US" sz="1200">
              <a:solidFill>
                <a:schemeClr val="tx1"/>
              </a:solidFill>
            </a:endParaRPr>
          </a:p>
          <a:p>
            <a:pPr algn="ctr"/>
            <a:r>
              <a:rPr lang="zh-CN" altLang="en-US" sz="1200" b="1">
                <a:solidFill>
                  <a:schemeClr val="tx1"/>
                </a:solidFill>
              </a:rPr>
              <a:t>用户级</a:t>
            </a:r>
            <a:r>
              <a:rPr lang="en-US" altLang="zh-CN" sz="1200" b="1">
                <a:solidFill>
                  <a:schemeClr val="tx1"/>
                </a:solidFill>
              </a:rPr>
              <a:t>QoS</a:t>
            </a:r>
            <a:r>
              <a:rPr lang="zh-CN" altLang="en-US" sz="1200" b="1">
                <a:solidFill>
                  <a:schemeClr val="tx1"/>
                </a:solidFill>
              </a:rPr>
              <a:t>满足率</a:t>
            </a:r>
            <a:endParaRPr lang="zh-CN" altLang="en-US" sz="1200" b="1">
              <a:solidFill>
                <a:schemeClr val="tx1"/>
              </a:solidFill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3783330" y="1704975"/>
            <a:ext cx="1747520" cy="44704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接入连续性与可靠性</a:t>
            </a:r>
            <a:br>
              <a:rPr lang="zh-CN" altLang="en-US" sz="1200">
                <a:solidFill>
                  <a:schemeClr val="tx1"/>
                </a:solidFill>
              </a:rPr>
            </a:br>
            <a:r>
              <a:rPr lang="zh-CN" altLang="en-US" sz="1200" b="1">
                <a:solidFill>
                  <a:schemeClr val="tx1"/>
                </a:solidFill>
              </a:rPr>
              <a:t>长期公平</a:t>
            </a:r>
            <a:r>
              <a:rPr lang="zh-CN" altLang="en-US" sz="1200" b="1">
                <a:solidFill>
                  <a:schemeClr val="tx1"/>
                </a:solidFill>
              </a:rPr>
              <a:t>接入</a:t>
            </a:r>
            <a:endParaRPr lang="zh-CN" altLang="en-US" sz="1200" b="1">
              <a:solidFill>
                <a:schemeClr val="tx1"/>
              </a:solidFill>
            </a:endParaRPr>
          </a:p>
        </p:txBody>
      </p:sp>
      <p:sp>
        <p:nvSpPr>
          <p:cNvPr id="25" name="矩形 24"/>
          <p:cNvSpPr/>
          <p:nvPr/>
        </p:nvSpPr>
        <p:spPr>
          <a:xfrm>
            <a:off x="8721725" y="1704975"/>
            <a:ext cx="1747520" cy="44704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端到端传输可靠性</a:t>
            </a:r>
            <a:endParaRPr lang="zh-CN" altLang="en-US" sz="1200">
              <a:solidFill>
                <a:schemeClr val="tx1"/>
              </a:solidFill>
            </a:endParaRPr>
          </a:p>
          <a:p>
            <a:pPr algn="ctr"/>
            <a:r>
              <a:rPr lang="zh-CN" altLang="en-US" sz="1200" b="1">
                <a:solidFill>
                  <a:schemeClr val="tx1"/>
                </a:solidFill>
              </a:rPr>
              <a:t>任务相关语义恢复</a:t>
            </a:r>
            <a:r>
              <a:rPr lang="zh-CN" altLang="en-US" sz="1200" b="1">
                <a:solidFill>
                  <a:schemeClr val="tx1"/>
                </a:solidFill>
              </a:rPr>
              <a:t>性能</a:t>
            </a:r>
            <a:endParaRPr lang="zh-CN" altLang="en-US" sz="1200" b="1">
              <a:solidFill>
                <a:schemeClr val="tx1"/>
              </a:solidFill>
            </a:endParaRPr>
          </a:p>
        </p:txBody>
      </p:sp>
      <p:sp>
        <p:nvSpPr>
          <p:cNvPr id="26" name="圆角矩形 25"/>
          <p:cNvSpPr/>
          <p:nvPr/>
        </p:nvSpPr>
        <p:spPr>
          <a:xfrm>
            <a:off x="3552190" y="1639570"/>
            <a:ext cx="4533900" cy="647065"/>
          </a:xfrm>
          <a:prstGeom prst="roundRect">
            <a:avLst/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8" name="文本框 27"/>
          <p:cNvSpPr txBox="1"/>
          <p:nvPr/>
        </p:nvSpPr>
        <p:spPr>
          <a:xfrm>
            <a:off x="5530850" y="2022475"/>
            <a:ext cx="94742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接入层</a:t>
            </a:r>
            <a:endParaRPr lang="zh-CN" altLang="en-US" sz="1400"/>
          </a:p>
        </p:txBody>
      </p:sp>
      <p:sp>
        <p:nvSpPr>
          <p:cNvPr id="29" name="圆角矩形 28"/>
          <p:cNvSpPr/>
          <p:nvPr/>
        </p:nvSpPr>
        <p:spPr>
          <a:xfrm>
            <a:off x="3253105" y="2450465"/>
            <a:ext cx="7641590" cy="773430"/>
          </a:xfrm>
          <a:prstGeom prst="roundRect">
            <a:avLst>
              <a:gd name="adj" fmla="val 7642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0" name="文本框 29"/>
          <p:cNvSpPr txBox="1"/>
          <p:nvPr/>
        </p:nvSpPr>
        <p:spPr>
          <a:xfrm>
            <a:off x="3375025" y="2433320"/>
            <a:ext cx="60452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/>
              <a:t>  </a:t>
            </a:r>
            <a:r>
              <a:rPr lang="zh-CN" altLang="en-US" sz="1000" b="1"/>
              <a:t>挑战</a:t>
            </a:r>
            <a:endParaRPr lang="zh-CN" altLang="en-US" sz="1000" b="1"/>
          </a:p>
        </p:txBody>
      </p:sp>
      <p:sp>
        <p:nvSpPr>
          <p:cNvPr id="31" name="流程图: 延期 30"/>
          <p:cNvSpPr/>
          <p:nvPr/>
        </p:nvSpPr>
        <p:spPr>
          <a:xfrm rot="5400000">
            <a:off x="3594100" y="2230755"/>
            <a:ext cx="158750" cy="647700"/>
          </a:xfrm>
          <a:prstGeom prst="flowChartDelay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3" name="矩形 32"/>
          <p:cNvSpPr/>
          <p:nvPr/>
        </p:nvSpPr>
        <p:spPr>
          <a:xfrm>
            <a:off x="3668395" y="2708910"/>
            <a:ext cx="2160905" cy="44704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全局信息缺失</a:t>
            </a:r>
            <a:r>
              <a:rPr lang="zh-CN" altLang="en-US" sz="1200">
                <a:solidFill>
                  <a:schemeClr val="tx1"/>
                </a:solidFill>
              </a:rPr>
              <a:t>下</a:t>
            </a:r>
            <a:endParaRPr lang="zh-CN" altLang="en-US" sz="1200">
              <a:solidFill>
                <a:schemeClr val="tx1"/>
              </a:solidFill>
            </a:endParaRPr>
          </a:p>
          <a:p>
            <a:pPr algn="ctr"/>
            <a:r>
              <a:rPr lang="zh-CN" altLang="en-US" sz="1200" b="1">
                <a:solidFill>
                  <a:srgbClr val="C00000"/>
                </a:solidFill>
              </a:rPr>
              <a:t>系统公平性</a:t>
            </a:r>
            <a:r>
              <a:rPr lang="zh-CN" altLang="en-US" sz="1200">
                <a:solidFill>
                  <a:schemeClr val="tx1"/>
                </a:solidFill>
              </a:rPr>
              <a:t>受损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34" name="圆角矩形 33"/>
          <p:cNvSpPr/>
          <p:nvPr/>
        </p:nvSpPr>
        <p:spPr>
          <a:xfrm>
            <a:off x="8171815" y="1631950"/>
            <a:ext cx="2489200" cy="647065"/>
          </a:xfrm>
          <a:prstGeom prst="roundRect">
            <a:avLst/>
          </a:prstGeom>
          <a:noFill/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5" name="文本框 34"/>
          <p:cNvSpPr txBox="1"/>
          <p:nvPr/>
        </p:nvSpPr>
        <p:spPr>
          <a:xfrm>
            <a:off x="8096885" y="1694180"/>
            <a:ext cx="75755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400"/>
              <a:t>网络</a:t>
            </a:r>
            <a:r>
              <a:rPr lang="en-US" altLang="zh-CN" sz="1400"/>
              <a:t>/</a:t>
            </a:r>
            <a:endParaRPr lang="en-US" altLang="zh-CN" sz="1400"/>
          </a:p>
          <a:p>
            <a:r>
              <a:rPr lang="zh-CN" altLang="en-US" sz="1400"/>
              <a:t>应用层</a:t>
            </a:r>
            <a:endParaRPr lang="zh-CN" altLang="en-US" sz="1400"/>
          </a:p>
        </p:txBody>
      </p:sp>
      <p:sp>
        <p:nvSpPr>
          <p:cNvPr id="36" name="矩形 35"/>
          <p:cNvSpPr/>
          <p:nvPr/>
        </p:nvSpPr>
        <p:spPr>
          <a:xfrm>
            <a:off x="6050915" y="2708910"/>
            <a:ext cx="2258060" cy="44704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网络随机波动</a:t>
            </a:r>
            <a:r>
              <a:rPr lang="zh-CN" altLang="en-US" sz="1200">
                <a:solidFill>
                  <a:schemeClr val="tx1"/>
                </a:solidFill>
              </a:rPr>
              <a:t>使得</a:t>
            </a:r>
            <a:endParaRPr lang="zh-CN" altLang="en-US" sz="1200">
              <a:solidFill>
                <a:schemeClr val="tx1"/>
              </a:solidFill>
            </a:endParaRPr>
          </a:p>
          <a:p>
            <a:pPr algn="ctr"/>
            <a:r>
              <a:rPr lang="en-US" altLang="zh-CN" sz="1200" b="1">
                <a:solidFill>
                  <a:srgbClr val="C00000"/>
                </a:solidFill>
              </a:rPr>
              <a:t>QoS</a:t>
            </a:r>
            <a:r>
              <a:rPr lang="zh-CN" altLang="en-US" sz="1200">
                <a:solidFill>
                  <a:schemeClr val="tx1"/>
                </a:solidFill>
              </a:rPr>
              <a:t>无法长期</a:t>
            </a:r>
            <a:r>
              <a:rPr lang="zh-CN" altLang="en-US" sz="1200">
                <a:solidFill>
                  <a:schemeClr val="tx1"/>
                </a:solidFill>
              </a:rPr>
              <a:t>保证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8433435" y="2708910"/>
            <a:ext cx="2207895" cy="44704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en-US" altLang="zh-CN" sz="1200">
              <a:solidFill>
                <a:schemeClr val="tx1"/>
              </a:solidFill>
            </a:endParaRPr>
          </a:p>
          <a:p>
            <a:pPr algn="ctr"/>
            <a:r>
              <a:rPr lang="en-US" altLang="zh-CN" sz="1200">
                <a:solidFill>
                  <a:schemeClr val="tx1"/>
                </a:solidFill>
              </a:rPr>
              <a:t>LEO</a:t>
            </a:r>
            <a:r>
              <a:rPr lang="zh-CN" altLang="en-US" sz="1200">
                <a:solidFill>
                  <a:schemeClr val="tx1"/>
                </a:solidFill>
              </a:rPr>
              <a:t>卫星计算资源受限</a:t>
            </a:r>
            <a:r>
              <a:rPr lang="zh-CN" altLang="en-US" sz="1200">
                <a:solidFill>
                  <a:schemeClr val="tx1"/>
                </a:solidFill>
              </a:rPr>
              <a:t>下</a:t>
            </a:r>
            <a:endParaRPr lang="zh-CN" altLang="en-US" sz="1200">
              <a:solidFill>
                <a:schemeClr val="tx1"/>
              </a:solidFill>
            </a:endParaRPr>
          </a:p>
          <a:p>
            <a:pPr algn="ctr"/>
            <a:r>
              <a:rPr lang="zh-CN" altLang="en-US" sz="1200">
                <a:solidFill>
                  <a:schemeClr val="tx1"/>
                </a:solidFill>
              </a:rPr>
              <a:t>语义模型</a:t>
            </a:r>
            <a:r>
              <a:rPr lang="zh-CN" altLang="en-US" sz="1200" b="1">
                <a:solidFill>
                  <a:srgbClr val="C00000"/>
                </a:solidFill>
              </a:rPr>
              <a:t>单次</a:t>
            </a:r>
            <a:r>
              <a:rPr lang="zh-CN" altLang="en-US" sz="1200">
                <a:solidFill>
                  <a:schemeClr val="tx1"/>
                </a:solidFill>
              </a:rPr>
              <a:t>传输能力不足</a:t>
            </a:r>
            <a:endParaRPr lang="zh-CN" altLang="en-US" sz="1200">
              <a:solidFill>
                <a:schemeClr val="tx1"/>
              </a:solidFill>
            </a:endParaRPr>
          </a:p>
          <a:p>
            <a:pPr algn="ctr"/>
            <a:endParaRPr lang="zh-CN" altLang="en-US" sz="1200">
              <a:solidFill>
                <a:schemeClr val="tx1"/>
              </a:solidFill>
            </a:endParaRPr>
          </a:p>
        </p:txBody>
      </p:sp>
      <p:cxnSp>
        <p:nvCxnSpPr>
          <p:cNvPr id="44" name="直接箭头连接符 43"/>
          <p:cNvCxnSpPr/>
          <p:nvPr/>
        </p:nvCxnSpPr>
        <p:spPr>
          <a:xfrm>
            <a:off x="4755515" y="2154555"/>
            <a:ext cx="0" cy="537845"/>
          </a:xfrm>
          <a:prstGeom prst="straightConnector1">
            <a:avLst/>
          </a:prstGeom>
          <a:ln w="19050">
            <a:solidFill>
              <a:schemeClr val="tx2">
                <a:lumMod val="60000"/>
                <a:lumOff val="40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45" name="圆角矩形 44"/>
          <p:cNvSpPr/>
          <p:nvPr/>
        </p:nvSpPr>
        <p:spPr>
          <a:xfrm>
            <a:off x="3253105" y="4225290"/>
            <a:ext cx="7641590" cy="1254125"/>
          </a:xfrm>
          <a:prstGeom prst="roundRect">
            <a:avLst>
              <a:gd name="adj" fmla="val 7642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46" name="流程图: 延期 45"/>
          <p:cNvSpPr/>
          <p:nvPr/>
        </p:nvSpPr>
        <p:spPr>
          <a:xfrm rot="5400000">
            <a:off x="3594100" y="4018915"/>
            <a:ext cx="158750" cy="647700"/>
          </a:xfrm>
          <a:prstGeom prst="flowChartDelay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8" name="文本框 47"/>
          <p:cNvSpPr txBox="1"/>
          <p:nvPr/>
        </p:nvSpPr>
        <p:spPr>
          <a:xfrm>
            <a:off x="3343275" y="4207510"/>
            <a:ext cx="694055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 b="1"/>
              <a:t>技术</a:t>
            </a:r>
            <a:r>
              <a:rPr lang="zh-CN" altLang="en-US" sz="1000" b="1"/>
              <a:t>方案</a:t>
            </a:r>
            <a:endParaRPr lang="zh-CN" altLang="en-US" sz="1000" b="1"/>
          </a:p>
        </p:txBody>
      </p:sp>
      <p:sp>
        <p:nvSpPr>
          <p:cNvPr id="49" name="圆角矩形 48"/>
          <p:cNvSpPr/>
          <p:nvPr/>
        </p:nvSpPr>
        <p:spPr>
          <a:xfrm>
            <a:off x="3375660" y="4467225"/>
            <a:ext cx="2375535" cy="918845"/>
          </a:xfrm>
          <a:prstGeom prst="roundRect">
            <a:avLst>
              <a:gd name="adj" fmla="val 6084"/>
            </a:avLst>
          </a:prstGeom>
          <a:solidFill>
            <a:srgbClr val="9DBB61">
              <a:alpha val="77000"/>
            </a:srgbClr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0" name="文本框 49"/>
          <p:cNvSpPr txBox="1"/>
          <p:nvPr/>
        </p:nvSpPr>
        <p:spPr>
          <a:xfrm>
            <a:off x="3402330" y="4494530"/>
            <a:ext cx="2364740" cy="5308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600" b="1"/>
              <a:t>基于局部公平性估计的分布式协作接入切换机制（第三章）</a:t>
            </a:r>
            <a:endParaRPr lang="zh-CN" altLang="en-US" sz="1600" b="1"/>
          </a:p>
        </p:txBody>
      </p:sp>
      <p:sp>
        <p:nvSpPr>
          <p:cNvPr id="51" name="矩形 50"/>
          <p:cNvSpPr/>
          <p:nvPr/>
        </p:nvSpPr>
        <p:spPr>
          <a:xfrm>
            <a:off x="5473065" y="518160"/>
            <a:ext cx="1261745" cy="3397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研究</a:t>
            </a:r>
            <a:r>
              <a:rPr lang="zh-CN" altLang="en-US" sz="1200">
                <a:solidFill>
                  <a:schemeClr val="tx1"/>
                </a:solidFill>
              </a:rPr>
              <a:t>现状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7207885" y="518160"/>
            <a:ext cx="1261745" cy="3397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核心</a:t>
            </a:r>
            <a:r>
              <a:rPr lang="zh-CN" altLang="en-US" sz="1200">
                <a:solidFill>
                  <a:schemeClr val="tx1"/>
                </a:solidFill>
              </a:rPr>
              <a:t>挑战</a:t>
            </a:r>
            <a:endParaRPr lang="zh-CN" altLang="en-US" sz="1200">
              <a:solidFill>
                <a:schemeClr val="tx1"/>
              </a:solidFill>
            </a:endParaRPr>
          </a:p>
        </p:txBody>
      </p:sp>
      <p:sp>
        <p:nvSpPr>
          <p:cNvPr id="53" name="矩形 52"/>
          <p:cNvSpPr/>
          <p:nvPr/>
        </p:nvSpPr>
        <p:spPr>
          <a:xfrm>
            <a:off x="8942705" y="535940"/>
            <a:ext cx="1261745" cy="33972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研究</a:t>
            </a:r>
            <a:r>
              <a:rPr lang="zh-CN" altLang="en-US" sz="1200">
                <a:solidFill>
                  <a:schemeClr val="tx1"/>
                </a:solidFill>
              </a:rPr>
              <a:t>贡献</a:t>
            </a:r>
            <a:endParaRPr lang="zh-CN" altLang="en-US" sz="1200">
              <a:solidFill>
                <a:schemeClr val="tx1"/>
              </a:solidFill>
            </a:endParaRPr>
          </a:p>
        </p:txBody>
      </p:sp>
      <p:cxnSp>
        <p:nvCxnSpPr>
          <p:cNvPr id="55" name="直接箭头连接符 54"/>
          <p:cNvCxnSpPr/>
          <p:nvPr/>
        </p:nvCxnSpPr>
        <p:spPr>
          <a:xfrm>
            <a:off x="7126605" y="2161540"/>
            <a:ext cx="0" cy="537845"/>
          </a:xfrm>
          <a:prstGeom prst="straightConnector1">
            <a:avLst/>
          </a:prstGeom>
          <a:ln w="19050">
            <a:solidFill>
              <a:schemeClr val="tx2">
                <a:lumMod val="60000"/>
                <a:lumOff val="40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6" name="直接箭头连接符 55"/>
          <p:cNvCxnSpPr/>
          <p:nvPr/>
        </p:nvCxnSpPr>
        <p:spPr>
          <a:xfrm>
            <a:off x="9596120" y="2161540"/>
            <a:ext cx="0" cy="537845"/>
          </a:xfrm>
          <a:prstGeom prst="straightConnector1">
            <a:avLst/>
          </a:prstGeom>
          <a:ln w="19050">
            <a:solidFill>
              <a:schemeClr val="tx2">
                <a:lumMod val="60000"/>
                <a:lumOff val="40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57" name="直接箭头连接符 56"/>
          <p:cNvCxnSpPr/>
          <p:nvPr/>
        </p:nvCxnSpPr>
        <p:spPr>
          <a:xfrm>
            <a:off x="4758055" y="4081780"/>
            <a:ext cx="2540" cy="412750"/>
          </a:xfrm>
          <a:prstGeom prst="straightConnector1">
            <a:avLst/>
          </a:prstGeom>
          <a:ln w="19050">
            <a:solidFill>
              <a:schemeClr val="tx2">
                <a:lumMod val="60000"/>
                <a:lumOff val="40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60" name="圆角矩形 59"/>
          <p:cNvSpPr/>
          <p:nvPr/>
        </p:nvSpPr>
        <p:spPr>
          <a:xfrm>
            <a:off x="5878195" y="4471035"/>
            <a:ext cx="2375535" cy="915670"/>
          </a:xfrm>
          <a:prstGeom prst="roundRect">
            <a:avLst>
              <a:gd name="adj" fmla="val 6084"/>
            </a:avLst>
          </a:prstGeom>
          <a:solidFill>
            <a:srgbClr val="31859B">
              <a:alpha val="61000"/>
            </a:srgbClr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1" name="圆角矩形 60"/>
          <p:cNvSpPr/>
          <p:nvPr/>
        </p:nvSpPr>
        <p:spPr>
          <a:xfrm>
            <a:off x="8380730" y="4448810"/>
            <a:ext cx="2375535" cy="937260"/>
          </a:xfrm>
          <a:prstGeom prst="roundRect">
            <a:avLst>
              <a:gd name="adj" fmla="val 6084"/>
            </a:avLst>
          </a:prstGeom>
          <a:solidFill>
            <a:srgbClr val="EA700D">
              <a:alpha val="61000"/>
            </a:srgbClr>
          </a:solidFill>
          <a:ln w="12700">
            <a:solidFill>
              <a:schemeClr val="tx1"/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" name="文本框 1"/>
          <p:cNvSpPr txBox="1"/>
          <p:nvPr/>
        </p:nvSpPr>
        <p:spPr>
          <a:xfrm>
            <a:off x="5878195" y="4494530"/>
            <a:ext cx="2364740" cy="5308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600" b="1"/>
              <a:t>生成式网络态势感知的切片</a:t>
            </a:r>
            <a:r>
              <a:rPr lang="en-US" altLang="zh-CN" sz="1600" b="1"/>
              <a:t>-MAC</a:t>
            </a:r>
            <a:r>
              <a:rPr lang="zh-CN" altLang="en-US" sz="1600" b="1"/>
              <a:t>分层协作优化</a:t>
            </a:r>
            <a:r>
              <a:rPr lang="zh-CN" altLang="en-US" sz="1600" b="1"/>
              <a:t>框架（第四章</a:t>
            </a:r>
            <a:r>
              <a:rPr lang="zh-CN" altLang="en-US" sz="1200" b="1"/>
              <a:t>）</a:t>
            </a:r>
            <a:endParaRPr lang="zh-CN" altLang="en-US" sz="1200" b="1"/>
          </a:p>
        </p:txBody>
      </p:sp>
      <p:sp>
        <p:nvSpPr>
          <p:cNvPr id="3" name="文本框 2"/>
          <p:cNvSpPr txBox="1"/>
          <p:nvPr/>
        </p:nvSpPr>
        <p:spPr>
          <a:xfrm>
            <a:off x="8391525" y="4494530"/>
            <a:ext cx="2364740" cy="53086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600" b="1"/>
              <a:t>基于任务反馈与协同增量重传的轻量化语义传输机制（第</a:t>
            </a:r>
            <a:r>
              <a:rPr lang="zh-CN" altLang="en-US" sz="1600" b="1"/>
              <a:t>五章）</a:t>
            </a:r>
            <a:endParaRPr lang="zh-CN" altLang="en-US" sz="1600" b="1"/>
          </a:p>
        </p:txBody>
      </p:sp>
      <p:cxnSp>
        <p:nvCxnSpPr>
          <p:cNvPr id="78" name="直接箭头连接符 77"/>
          <p:cNvCxnSpPr/>
          <p:nvPr/>
        </p:nvCxnSpPr>
        <p:spPr>
          <a:xfrm>
            <a:off x="7124065" y="4039870"/>
            <a:ext cx="2540" cy="412750"/>
          </a:xfrm>
          <a:prstGeom prst="straightConnector1">
            <a:avLst/>
          </a:prstGeom>
          <a:ln w="19050">
            <a:solidFill>
              <a:schemeClr val="tx2">
                <a:lumMod val="60000"/>
                <a:lumOff val="40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79" name="直接箭头连接符 78"/>
          <p:cNvCxnSpPr/>
          <p:nvPr/>
        </p:nvCxnSpPr>
        <p:spPr>
          <a:xfrm>
            <a:off x="9598660" y="4009390"/>
            <a:ext cx="2540" cy="412750"/>
          </a:xfrm>
          <a:prstGeom prst="straightConnector1">
            <a:avLst/>
          </a:prstGeom>
          <a:ln w="19050">
            <a:solidFill>
              <a:schemeClr val="tx2">
                <a:lumMod val="60000"/>
                <a:lumOff val="40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39" name="圆角矩形 38"/>
          <p:cNvSpPr/>
          <p:nvPr/>
        </p:nvSpPr>
        <p:spPr>
          <a:xfrm>
            <a:off x="4181475" y="1089660"/>
            <a:ext cx="5926455" cy="331470"/>
          </a:xfrm>
          <a:prstGeom prst="roundRect">
            <a:avLst/>
          </a:prstGeom>
          <a:solidFill>
            <a:schemeClr val="accent4">
              <a:lumMod val="20000"/>
              <a:lumOff val="80000"/>
              <a:alpha val="65000"/>
            </a:schemeClr>
          </a:solidFill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4314190" y="1045210"/>
            <a:ext cx="58375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b="1">
                <a:solidFill>
                  <a:schemeClr val="tx1"/>
                </a:solidFill>
              </a:rPr>
              <a:t>面向端到端</a:t>
            </a:r>
            <a:r>
              <a:rPr lang="en-US" altLang="zh-CN" b="1">
                <a:solidFill>
                  <a:schemeClr val="tx1"/>
                </a:solidFill>
              </a:rPr>
              <a:t>QoS</a:t>
            </a:r>
            <a:r>
              <a:rPr lang="zh-CN" altLang="en-US" b="1">
                <a:solidFill>
                  <a:schemeClr val="tx1"/>
                </a:solidFill>
              </a:rPr>
              <a:t>保障的</a:t>
            </a:r>
            <a:r>
              <a:rPr lang="zh-CN" altLang="en-US" b="1">
                <a:solidFill>
                  <a:srgbClr val="C00000"/>
                </a:solidFill>
              </a:rPr>
              <a:t>公平、高效、高可靠</a:t>
            </a:r>
            <a:r>
              <a:rPr lang="zh-CN" altLang="en-US" b="1">
                <a:solidFill>
                  <a:schemeClr val="tx1"/>
                </a:solidFill>
              </a:rPr>
              <a:t>分布式管控</a:t>
            </a:r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47" name="右箭头 46"/>
          <p:cNvSpPr/>
          <p:nvPr/>
        </p:nvSpPr>
        <p:spPr>
          <a:xfrm rot="5400000">
            <a:off x="7032625" y="1445260"/>
            <a:ext cx="192405" cy="14414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8" name="右箭头 57"/>
          <p:cNvSpPr/>
          <p:nvPr/>
        </p:nvSpPr>
        <p:spPr>
          <a:xfrm rot="5400000">
            <a:off x="8996045" y="1445260"/>
            <a:ext cx="192405" cy="14414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9" name="右箭头 58"/>
          <p:cNvSpPr/>
          <p:nvPr/>
        </p:nvSpPr>
        <p:spPr>
          <a:xfrm rot="5400000">
            <a:off x="4824730" y="1445260"/>
            <a:ext cx="192405" cy="144145"/>
          </a:xfrm>
          <a:prstGeom prst="rightArrow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68" name="圆角矩形 67"/>
          <p:cNvSpPr/>
          <p:nvPr/>
        </p:nvSpPr>
        <p:spPr>
          <a:xfrm>
            <a:off x="4999355" y="3345180"/>
            <a:ext cx="5873115" cy="736600"/>
          </a:xfrm>
          <a:prstGeom prst="roundRect">
            <a:avLst>
              <a:gd name="adj" fmla="val 7642"/>
            </a:avLst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76" name="文本框 75"/>
          <p:cNvSpPr txBox="1"/>
          <p:nvPr/>
        </p:nvSpPr>
        <p:spPr>
          <a:xfrm>
            <a:off x="3930650" y="4197985"/>
            <a:ext cx="100838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 b="1"/>
              <a:t>--</a:t>
            </a:r>
            <a:r>
              <a:rPr lang="zh-CN" altLang="en-US" sz="1000" b="1"/>
              <a:t>分布式</a:t>
            </a:r>
            <a:r>
              <a:rPr lang="zh-CN" altLang="en-US" sz="1000" b="1"/>
              <a:t>决策</a:t>
            </a:r>
            <a:endParaRPr lang="zh-CN" altLang="en-US" sz="1000" b="1"/>
          </a:p>
        </p:txBody>
      </p:sp>
      <p:sp>
        <p:nvSpPr>
          <p:cNvPr id="77" name="流程图: 延期 76"/>
          <p:cNvSpPr/>
          <p:nvPr/>
        </p:nvSpPr>
        <p:spPr>
          <a:xfrm rot="5400000">
            <a:off x="5280660" y="3135630"/>
            <a:ext cx="158750" cy="647700"/>
          </a:xfrm>
          <a:prstGeom prst="flowChartDelay">
            <a:avLst/>
          </a:prstGeom>
          <a:noFill/>
          <a:ln>
            <a:solidFill>
              <a:schemeClr val="bg1">
                <a:lumMod val="50000"/>
              </a:schemeClr>
            </a:solidFill>
            <a:prstDash val="sysDash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82" name="文本框 81"/>
          <p:cNvSpPr txBox="1"/>
          <p:nvPr/>
        </p:nvSpPr>
        <p:spPr>
          <a:xfrm>
            <a:off x="5624195" y="3345180"/>
            <a:ext cx="101219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000" b="1"/>
              <a:t>--</a:t>
            </a:r>
            <a:r>
              <a:rPr lang="zh-CN" altLang="en-US" sz="1000" b="1"/>
              <a:t>分布式</a:t>
            </a:r>
            <a:r>
              <a:rPr lang="zh-CN" altLang="en-US" sz="1000" b="1"/>
              <a:t>感知</a:t>
            </a:r>
            <a:endParaRPr lang="zh-CN" altLang="en-US" sz="1000" b="1"/>
          </a:p>
        </p:txBody>
      </p:sp>
      <p:sp>
        <p:nvSpPr>
          <p:cNvPr id="95" name="文本框 94"/>
          <p:cNvSpPr txBox="1"/>
          <p:nvPr/>
        </p:nvSpPr>
        <p:spPr>
          <a:xfrm>
            <a:off x="5003165" y="3319780"/>
            <a:ext cx="1012190" cy="24511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000" b="1"/>
              <a:t>技术</a:t>
            </a:r>
            <a:r>
              <a:rPr lang="zh-CN" altLang="en-US" sz="1000" b="1"/>
              <a:t>方案</a:t>
            </a:r>
            <a:endParaRPr lang="zh-CN" altLang="en-US" sz="1000" b="1"/>
          </a:p>
        </p:txBody>
      </p:sp>
      <p:cxnSp>
        <p:nvCxnSpPr>
          <p:cNvPr id="98" name="直接箭头连接符 97"/>
          <p:cNvCxnSpPr/>
          <p:nvPr/>
        </p:nvCxnSpPr>
        <p:spPr>
          <a:xfrm flipH="1">
            <a:off x="9580880" y="3223895"/>
            <a:ext cx="0" cy="85725"/>
          </a:xfrm>
          <a:prstGeom prst="straightConnector1">
            <a:avLst/>
          </a:prstGeom>
          <a:ln w="19050">
            <a:solidFill>
              <a:schemeClr val="tx2">
                <a:lumMod val="60000"/>
                <a:lumOff val="40000"/>
              </a:schemeClr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8" name="直接箭头连接符 107"/>
          <p:cNvCxnSpPr/>
          <p:nvPr/>
        </p:nvCxnSpPr>
        <p:spPr>
          <a:xfrm flipH="1">
            <a:off x="7126605" y="3223895"/>
            <a:ext cx="0" cy="85725"/>
          </a:xfrm>
          <a:prstGeom prst="straightConnector1">
            <a:avLst/>
          </a:prstGeom>
          <a:ln w="19050">
            <a:solidFill>
              <a:schemeClr val="tx2">
                <a:lumMod val="60000"/>
                <a:lumOff val="40000"/>
              </a:schemeClr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109" name="直接箭头连接符 108"/>
          <p:cNvCxnSpPr/>
          <p:nvPr/>
        </p:nvCxnSpPr>
        <p:spPr>
          <a:xfrm flipH="1">
            <a:off x="4755515" y="3223895"/>
            <a:ext cx="0" cy="85725"/>
          </a:xfrm>
          <a:prstGeom prst="straightConnector1">
            <a:avLst/>
          </a:prstGeom>
          <a:ln w="19050">
            <a:solidFill>
              <a:schemeClr val="tx2">
                <a:lumMod val="60000"/>
                <a:lumOff val="40000"/>
              </a:schemeClr>
            </a:solidFill>
            <a:tailEnd type="none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111" name="文本框 110"/>
          <p:cNvSpPr txBox="1"/>
          <p:nvPr/>
        </p:nvSpPr>
        <p:spPr>
          <a:xfrm>
            <a:off x="5338445" y="3538855"/>
            <a:ext cx="5194300" cy="3003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algn="ctr"/>
            <a:r>
              <a:rPr lang="zh-CN" altLang="en-US" sz="1600" b="1"/>
              <a:t>多源置信度调控的分布式网络状态感知框架（第</a:t>
            </a:r>
            <a:r>
              <a:rPr lang="zh-CN" altLang="en-US" sz="1600" b="1"/>
              <a:t>二章）</a:t>
            </a:r>
            <a:endParaRPr lang="zh-CN" altLang="en-US" sz="1600" b="1"/>
          </a:p>
          <a:p>
            <a:pPr algn="ctr"/>
            <a:endParaRPr lang="zh-CN" altLang="en-US" sz="1600" b="1"/>
          </a:p>
        </p:txBody>
      </p:sp>
      <p:sp>
        <p:nvSpPr>
          <p:cNvPr id="6" name="矩形 5"/>
          <p:cNvSpPr/>
          <p:nvPr/>
        </p:nvSpPr>
        <p:spPr>
          <a:xfrm>
            <a:off x="3314065" y="3380105"/>
            <a:ext cx="1339850" cy="70167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 sz="1200">
                <a:solidFill>
                  <a:schemeClr val="tx1"/>
                </a:solidFill>
              </a:rPr>
              <a:t>退化</a:t>
            </a:r>
            <a:r>
              <a:rPr lang="zh-CN" altLang="en-US" sz="1200">
                <a:solidFill>
                  <a:schemeClr val="tx1"/>
                </a:solidFill>
              </a:rPr>
              <a:t>遥测下</a:t>
            </a:r>
            <a:endParaRPr lang="zh-CN" altLang="en-US" sz="1200">
              <a:solidFill>
                <a:schemeClr val="tx1"/>
              </a:solidFill>
            </a:endParaRPr>
          </a:p>
          <a:p>
            <a:pPr algn="ctr"/>
            <a:r>
              <a:rPr lang="zh-CN" altLang="en-US" sz="1200" b="1">
                <a:solidFill>
                  <a:srgbClr val="C00000"/>
                </a:solidFill>
              </a:rPr>
              <a:t>本地视图不</a:t>
            </a:r>
            <a:r>
              <a:rPr lang="zh-CN" altLang="en-US" sz="1200" b="1">
                <a:solidFill>
                  <a:srgbClr val="C00000"/>
                </a:solidFill>
              </a:rPr>
              <a:t>可信</a:t>
            </a:r>
            <a:endParaRPr lang="zh-CN" altLang="en-US" sz="1200" b="1">
              <a:solidFill>
                <a:srgbClr val="C00000"/>
              </a:solidFill>
            </a:endParaRPr>
          </a:p>
        </p:txBody>
      </p:sp>
      <p:sp>
        <p:nvSpPr>
          <p:cNvPr id="113" name="文本框 112"/>
          <p:cNvSpPr txBox="1"/>
          <p:nvPr/>
        </p:nvSpPr>
        <p:spPr>
          <a:xfrm>
            <a:off x="3864610" y="3081020"/>
            <a:ext cx="428625" cy="4298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200" b="1"/>
              <a:t>+</a:t>
            </a:r>
            <a:endParaRPr lang="en-US" altLang="zh-CN" sz="2200" b="1"/>
          </a:p>
        </p:txBody>
      </p:sp>
      <p:cxnSp>
        <p:nvCxnSpPr>
          <p:cNvPr id="114" name="直接箭头连接符 113"/>
          <p:cNvCxnSpPr>
            <a:endCxn id="68" idx="1"/>
          </p:cNvCxnSpPr>
          <p:nvPr/>
        </p:nvCxnSpPr>
        <p:spPr>
          <a:xfrm>
            <a:off x="4653915" y="3669030"/>
            <a:ext cx="345440" cy="0"/>
          </a:xfrm>
          <a:prstGeom prst="straightConnector1">
            <a:avLst/>
          </a:prstGeom>
          <a:ln w="19050">
            <a:solidFill>
              <a:schemeClr val="tx2">
                <a:lumMod val="60000"/>
                <a:lumOff val="40000"/>
              </a:schemeClr>
            </a:solidFill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336</Words>
  <Application>WPS 演示</Application>
  <PresentationFormat>宽屏</PresentationFormat>
  <Paragraphs>74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Arial</vt:lpstr>
      <vt:lpstr>宋体</vt:lpstr>
      <vt:lpstr>Wingdings</vt:lpstr>
      <vt:lpstr>微软雅黑</vt:lpstr>
      <vt:lpstr>Calibri</vt:lpstr>
      <vt:lpstr>Arial Unicode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郎修璞</dc:creator>
  <cp:lastModifiedBy>Lawyer He</cp:lastModifiedBy>
  <cp:revision>513</cp:revision>
  <dcterms:created xsi:type="dcterms:W3CDTF">2023-08-09T12:44:00Z</dcterms:created>
  <dcterms:modified xsi:type="dcterms:W3CDTF">2026-06-23T15:20:54Z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62735A0042EF4AEEA24D51B7AFDBD72A_12</vt:lpwstr>
  </property>
</Properties>
</file>