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4" userDrawn="1">
          <p15:clr>
            <a:srgbClr val="A4A3A4"/>
          </p15:clr>
        </p15:guide>
        <p15:guide id="2" pos="37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00D"/>
    <a:srgbClr val="31859B"/>
    <a:srgbClr val="9DBB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074"/>
        <p:guide pos="37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5090795" y="327660"/>
            <a:ext cx="2995295" cy="553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第一章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zh-CN" altLang="en-US" sz="1600" b="1">
                <a:solidFill>
                  <a:schemeClr val="tx1"/>
                </a:solidFill>
              </a:rPr>
              <a:t>绪论</a:t>
            </a:r>
            <a:endParaRPr lang="zh-CN" altLang="en-US" sz="1600">
              <a:solidFill>
                <a:schemeClr val="tx1"/>
              </a:solidFill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2973070" y="4147820"/>
            <a:ext cx="2391410" cy="918845"/>
            <a:chOff x="-5602" y="9142"/>
            <a:chExt cx="3766" cy="1447"/>
          </a:xfrm>
        </p:grpSpPr>
        <p:sp>
          <p:nvSpPr>
            <p:cNvPr id="49" name="圆角矩形 48"/>
            <p:cNvSpPr/>
            <p:nvPr/>
          </p:nvSpPr>
          <p:spPr>
            <a:xfrm>
              <a:off x="-5602" y="9142"/>
              <a:ext cx="3741" cy="1447"/>
            </a:xfrm>
            <a:prstGeom prst="roundRect">
              <a:avLst>
                <a:gd name="adj" fmla="val 6084"/>
              </a:avLst>
            </a:prstGeom>
            <a:solidFill>
              <a:srgbClr val="9DBB61">
                <a:alpha val="77000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-5560" y="9185"/>
              <a:ext cx="3724" cy="140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600" b="1">
                  <a:sym typeface="+mn-ea"/>
                </a:rPr>
                <a:t>第四章</a:t>
              </a:r>
              <a:r>
                <a:rPr lang="en-US" altLang="zh-CN" sz="1600" b="1">
                  <a:sym typeface="+mn-ea"/>
                </a:rPr>
                <a:t> </a:t>
              </a:r>
              <a:r>
                <a:rPr lang="zh-CN" altLang="en-US" sz="1600" b="1"/>
                <a:t>基于局部公平性估计的分布式协作接入切换机制</a:t>
              </a:r>
              <a:endParaRPr lang="zh-CN" altLang="en-US" sz="1600" b="1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5475605" y="4151630"/>
            <a:ext cx="2374900" cy="915670"/>
            <a:chOff x="-1661" y="9148"/>
            <a:chExt cx="3740" cy="1442"/>
          </a:xfrm>
        </p:grpSpPr>
        <p:sp>
          <p:nvSpPr>
            <p:cNvPr id="60" name="圆角矩形 59"/>
            <p:cNvSpPr/>
            <p:nvPr/>
          </p:nvSpPr>
          <p:spPr>
            <a:xfrm>
              <a:off x="-1661" y="9148"/>
              <a:ext cx="3741" cy="1442"/>
            </a:xfrm>
            <a:prstGeom prst="roundRect">
              <a:avLst>
                <a:gd name="adj" fmla="val 6084"/>
              </a:avLst>
            </a:prstGeom>
            <a:solidFill>
              <a:srgbClr val="31859B">
                <a:alpha val="61000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-1661" y="9185"/>
              <a:ext cx="3724" cy="8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600" b="1">
                  <a:sym typeface="+mn-ea"/>
                </a:rPr>
                <a:t>第五章</a:t>
              </a:r>
              <a:r>
                <a:rPr lang="en-US" altLang="zh-CN" sz="1600" b="1">
                  <a:sym typeface="+mn-ea"/>
                </a:rPr>
                <a:t> </a:t>
              </a:r>
              <a:r>
                <a:rPr lang="zh-CN" altLang="en-US" sz="1600" b="1"/>
                <a:t>生成式网络态势感知的切片</a:t>
              </a:r>
              <a:r>
                <a:rPr lang="en-US" altLang="zh-CN" sz="1600" b="1"/>
                <a:t>-MAC</a:t>
              </a:r>
              <a:r>
                <a:rPr lang="zh-CN" altLang="en-US" sz="1600" b="1"/>
                <a:t>分层协作优化框架</a:t>
              </a:r>
              <a:endParaRPr lang="zh-CN" altLang="en-US" sz="1200" b="1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978140" y="4129405"/>
            <a:ext cx="2375535" cy="937260"/>
            <a:chOff x="2280" y="9113"/>
            <a:chExt cx="3741" cy="1476"/>
          </a:xfrm>
        </p:grpSpPr>
        <p:sp>
          <p:nvSpPr>
            <p:cNvPr id="61" name="圆角矩形 60"/>
            <p:cNvSpPr/>
            <p:nvPr/>
          </p:nvSpPr>
          <p:spPr>
            <a:xfrm>
              <a:off x="2280" y="9113"/>
              <a:ext cx="3741" cy="1476"/>
            </a:xfrm>
            <a:prstGeom prst="roundRect">
              <a:avLst>
                <a:gd name="adj" fmla="val 6084"/>
              </a:avLst>
            </a:prstGeom>
            <a:solidFill>
              <a:srgbClr val="EA700D">
                <a:alpha val="61000"/>
              </a:srgb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297" y="9185"/>
              <a:ext cx="3724" cy="83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600" b="1">
                  <a:sym typeface="+mn-ea"/>
                </a:rPr>
                <a:t>第六章</a:t>
              </a:r>
              <a:r>
                <a:rPr lang="en-US" altLang="zh-CN" sz="1600" b="1">
                  <a:sym typeface="+mn-ea"/>
                </a:rPr>
                <a:t> </a:t>
              </a:r>
              <a:r>
                <a:rPr lang="zh-CN" altLang="en-US" sz="1600" b="1"/>
                <a:t>基于任务反馈与协同增量重传的轻量化语义传输机制</a:t>
              </a:r>
              <a:endParaRPr lang="zh-CN" altLang="en-US" sz="1600" b="1"/>
            </a:p>
          </p:txBody>
        </p:sp>
      </p:grpSp>
      <p:sp>
        <p:nvSpPr>
          <p:cNvPr id="8" name="圆角矩形 7"/>
          <p:cNvSpPr/>
          <p:nvPr/>
        </p:nvSpPr>
        <p:spPr>
          <a:xfrm>
            <a:off x="5090795" y="1176020"/>
            <a:ext cx="2995295" cy="553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第二章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分布式管控关键技术分析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2800985" y="1986280"/>
            <a:ext cx="763524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651125" y="1561465"/>
            <a:ext cx="20955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研究背景及理论基础</a:t>
            </a:r>
            <a:endParaRPr lang="zh-CN" altLang="en-US" sz="1600"/>
          </a:p>
        </p:txBody>
      </p:sp>
      <p:cxnSp>
        <p:nvCxnSpPr>
          <p:cNvPr id="17" name="直接箭头连接符 16"/>
          <p:cNvCxnSpPr>
            <a:stCxn id="4" idx="2"/>
            <a:endCxn id="8" idx="0"/>
          </p:cNvCxnSpPr>
          <p:nvPr/>
        </p:nvCxnSpPr>
        <p:spPr>
          <a:xfrm>
            <a:off x="6588760" y="880745"/>
            <a:ext cx="0" cy="295275"/>
          </a:xfrm>
          <a:prstGeom prst="straightConnector1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6588760" y="1713230"/>
            <a:ext cx="0" cy="720090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5090795" y="2435860"/>
            <a:ext cx="2995295" cy="55308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第三章</a:t>
            </a:r>
            <a:r>
              <a:rPr lang="en-US" altLang="zh-CN" b="1">
                <a:solidFill>
                  <a:schemeClr val="tx1"/>
                </a:solidFill>
              </a:rPr>
              <a:t>  </a:t>
            </a:r>
            <a:r>
              <a:rPr lang="zh-CN" altLang="en-US" sz="1600" b="1">
                <a:solidFill>
                  <a:schemeClr val="tx1"/>
                </a:solidFill>
              </a:rPr>
              <a:t>多源置信度调控的分布式网络状态感知方法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6564630" y="2828290"/>
            <a:ext cx="0" cy="1321435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4233545" y="3486150"/>
            <a:ext cx="1270" cy="681990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4218940" y="3488690"/>
            <a:ext cx="4946400" cy="0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549525" y="1986280"/>
            <a:ext cx="1627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/>
              <a:t>分布式管控的</a:t>
            </a:r>
            <a:endParaRPr lang="zh-CN" altLang="en-US" sz="1600"/>
          </a:p>
          <a:p>
            <a:pPr algn="ctr"/>
            <a:r>
              <a:rPr lang="zh-CN" altLang="en-US" sz="1600"/>
              <a:t>感知方法</a:t>
            </a:r>
            <a:endParaRPr lang="zh-CN" altLang="en-US" sz="1600"/>
          </a:p>
        </p:txBody>
      </p:sp>
      <p:cxnSp>
        <p:nvCxnSpPr>
          <p:cNvPr id="67" name="直接连接符 66"/>
          <p:cNvCxnSpPr/>
          <p:nvPr/>
        </p:nvCxnSpPr>
        <p:spPr>
          <a:xfrm>
            <a:off x="2800985" y="3063240"/>
            <a:ext cx="7635240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2549525" y="3063240"/>
            <a:ext cx="1627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/>
              <a:t>分布式管控的</a:t>
            </a:r>
            <a:endParaRPr lang="zh-CN" altLang="en-US" sz="1600"/>
          </a:p>
          <a:p>
            <a:pPr algn="ctr"/>
            <a:r>
              <a:rPr lang="zh-CN" altLang="en-US" sz="1600"/>
              <a:t>资源调度</a:t>
            </a:r>
            <a:r>
              <a:rPr lang="zh-CN" altLang="en-US" sz="1600"/>
              <a:t>方法</a:t>
            </a:r>
            <a:endParaRPr lang="zh-CN" altLang="en-US" sz="1600"/>
          </a:p>
        </p:txBody>
      </p:sp>
      <p:sp>
        <p:nvSpPr>
          <p:cNvPr id="70" name="右箭头 69"/>
          <p:cNvSpPr/>
          <p:nvPr/>
        </p:nvSpPr>
        <p:spPr>
          <a:xfrm rot="5400000">
            <a:off x="3079750" y="2750185"/>
            <a:ext cx="566420" cy="1441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1" name="直接箭头连接符 70"/>
          <p:cNvCxnSpPr/>
          <p:nvPr/>
        </p:nvCxnSpPr>
        <p:spPr>
          <a:xfrm>
            <a:off x="9164320" y="3497580"/>
            <a:ext cx="1270" cy="681990"/>
          </a:xfrm>
          <a:prstGeom prst="straightConnector1">
            <a:avLst/>
          </a:prstGeom>
          <a:ln w="317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4234815" y="3494405"/>
            <a:ext cx="1115695" cy="38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接入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覆盖连续性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6588760" y="3497580"/>
            <a:ext cx="1115695" cy="38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无线资源分配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QoS</a:t>
            </a:r>
            <a:r>
              <a:rPr lang="zh-CN" altLang="en-US" sz="1200" b="1">
                <a:solidFill>
                  <a:schemeClr val="tx1"/>
                </a:solidFill>
              </a:rPr>
              <a:t>保障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644640" y="2028190"/>
            <a:ext cx="1115695" cy="38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节点间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分布式协作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193530" y="3487420"/>
            <a:ext cx="1115695" cy="38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端到端传输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信息</a:t>
            </a:r>
            <a:r>
              <a:rPr lang="zh-CN" altLang="en-US" sz="1200" b="1">
                <a:solidFill>
                  <a:schemeClr val="tx1"/>
                </a:solidFill>
              </a:rPr>
              <a:t>保真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973070" y="5248275"/>
            <a:ext cx="7336790" cy="55308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第七章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zh-CN" altLang="en-US" sz="1600" b="1">
                <a:solidFill>
                  <a:schemeClr val="tx1"/>
                </a:solidFill>
              </a:rPr>
              <a:t>结论</a:t>
            </a:r>
            <a:r>
              <a:rPr lang="en-US" altLang="zh-CN" sz="1600" b="1">
                <a:solidFill>
                  <a:schemeClr val="tx1"/>
                </a:solidFill>
              </a:rPr>
              <a:t>    </a:t>
            </a:r>
            <a:r>
              <a:rPr lang="zh-CN" altLang="en-US" sz="1600" b="1">
                <a:solidFill>
                  <a:schemeClr val="tx1"/>
                </a:solidFill>
              </a:rPr>
              <a:t>全文总结</a:t>
            </a:r>
            <a:r>
              <a:rPr lang="en-US" altLang="zh-CN" sz="1600" b="1">
                <a:solidFill>
                  <a:schemeClr val="tx1"/>
                </a:solidFill>
              </a:rPr>
              <a:t> </a:t>
            </a:r>
            <a:r>
              <a:rPr lang="zh-CN" altLang="en-US" sz="1600" b="1">
                <a:solidFill>
                  <a:schemeClr val="tx1"/>
                </a:solidFill>
              </a:rPr>
              <a:t>研究与</a:t>
            </a:r>
            <a:r>
              <a:rPr lang="zh-CN" altLang="en-US" sz="1600" b="1">
                <a:solidFill>
                  <a:schemeClr val="tx1"/>
                </a:solidFill>
              </a:rPr>
              <a:t>展望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WPS 演示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576</cp:revision>
  <dcterms:created xsi:type="dcterms:W3CDTF">2023-08-09T12:44:00Z</dcterms:created>
  <dcterms:modified xsi:type="dcterms:W3CDTF">2026-06-29T10:45:47Z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62735A0042EF4AEEA24D51B7AFDBD72A_12</vt:lpwstr>
  </property>
</Properties>
</file>