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5" userDrawn="1">
          <p15:clr>
            <a:srgbClr val="A4A3A4"/>
          </p15:clr>
        </p15:guide>
        <p15:guide id="2" pos="37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25"/>
        <p:guide pos="37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" name="上箭头 67"/>
          <p:cNvSpPr/>
          <p:nvPr/>
        </p:nvSpPr>
        <p:spPr>
          <a:xfrm rot="5400000">
            <a:off x="5360670" y="-2726690"/>
            <a:ext cx="1706245" cy="9660255"/>
          </a:xfrm>
          <a:prstGeom prst="upArrow">
            <a:avLst/>
          </a:prstGeom>
          <a:solidFill>
            <a:schemeClr val="accent5">
              <a:lumMod val="20000"/>
              <a:lumOff val="80000"/>
              <a:alpha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圆角矩形 34"/>
          <p:cNvSpPr/>
          <p:nvPr/>
        </p:nvSpPr>
        <p:spPr>
          <a:xfrm>
            <a:off x="8700135" y="3187065"/>
            <a:ext cx="2177415" cy="172212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48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1528445" y="2957195"/>
            <a:ext cx="2177415" cy="1951990"/>
          </a:xfrm>
          <a:prstGeom prst="roundRect">
            <a:avLst/>
          </a:prstGeom>
          <a:solidFill>
            <a:schemeClr val="accent6">
              <a:lumMod val="40000"/>
              <a:lumOff val="60000"/>
              <a:alpha val="48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565910" y="5518150"/>
            <a:ext cx="2256155" cy="1227455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8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839595" y="5567045"/>
            <a:ext cx="1636395" cy="7067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切换</a:t>
            </a:r>
            <a:r>
              <a:rPr lang="zh-CN" altLang="en-US">
                <a:solidFill>
                  <a:schemeClr val="tx1"/>
                </a:solidFill>
              </a:rPr>
              <a:t>控制器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530600" y="486410"/>
            <a:ext cx="1636395" cy="70675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接入与移动性管理</a:t>
            </a:r>
            <a:r>
              <a:rPr lang="zh-CN" altLang="en-US">
                <a:solidFill>
                  <a:schemeClr val="tx1"/>
                </a:solidFill>
              </a:rPr>
              <a:t>功能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143250" y="99060"/>
            <a:ext cx="6553835" cy="137604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194050" y="79375"/>
            <a:ext cx="94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核心网</a:t>
            </a:r>
            <a:endParaRPr lang="zh-CN" altLang="en-US" b="1"/>
          </a:p>
        </p:txBody>
      </p:sp>
      <p:sp>
        <p:nvSpPr>
          <p:cNvPr id="28" name="右箭头 27"/>
          <p:cNvSpPr/>
          <p:nvPr/>
        </p:nvSpPr>
        <p:spPr>
          <a:xfrm>
            <a:off x="10812780" y="5730875"/>
            <a:ext cx="652780" cy="583565"/>
          </a:xfrm>
          <a:prstGeom prst="rightArrow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126365" y="5387975"/>
            <a:ext cx="923925" cy="1209675"/>
            <a:chOff x="102" y="5898"/>
            <a:chExt cx="1455" cy="1905"/>
          </a:xfrm>
        </p:grpSpPr>
        <p:sp>
          <p:nvSpPr>
            <p:cNvPr id="29" name="文本框 28"/>
            <p:cNvSpPr txBox="1"/>
            <p:nvPr/>
          </p:nvSpPr>
          <p:spPr>
            <a:xfrm>
              <a:off x="102" y="5898"/>
              <a:ext cx="14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/>
                <a:t>业务流</a:t>
              </a:r>
              <a:r>
                <a:rPr lang="zh-CN" altLang="en-US"/>
                <a:t>：</a:t>
              </a:r>
              <a:endParaRPr lang="en-US" altLang="zh-CN"/>
            </a:p>
            <a:p>
              <a:r>
                <a:rPr lang="en-US" altLang="zh-CN"/>
                <a:t>URLLC</a:t>
              </a:r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24" y="6768"/>
              <a:ext cx="12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eMBB</a:t>
              </a:r>
              <a:endParaRPr lang="en-US" altLang="zh-CN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4" y="7223"/>
              <a:ext cx="12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mMTC</a:t>
              </a:r>
              <a:endParaRPr lang="en-US" altLang="zh-CN"/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1984375" y="6314440"/>
            <a:ext cx="1491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发射端用户</a:t>
            </a:r>
            <a:endParaRPr lang="zh-CN" altLang="en-US" b="1"/>
          </a:p>
        </p:txBody>
      </p:sp>
      <p:sp>
        <p:nvSpPr>
          <p:cNvPr id="34" name="矩形 33"/>
          <p:cNvSpPr/>
          <p:nvPr/>
        </p:nvSpPr>
        <p:spPr>
          <a:xfrm>
            <a:off x="5612130" y="486410"/>
            <a:ext cx="1636395" cy="70675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拓扑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星历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管理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1465560" y="5669280"/>
            <a:ext cx="8197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下游</a:t>
            </a:r>
            <a:endParaRPr lang="zh-CN" altLang="en-US" b="1"/>
          </a:p>
          <a:p>
            <a:r>
              <a:rPr lang="zh-CN" altLang="en-US" b="1"/>
              <a:t>任务</a:t>
            </a:r>
            <a:endParaRPr lang="zh-CN" altLang="en-US" b="1"/>
          </a:p>
        </p:txBody>
      </p:sp>
      <p:sp>
        <p:nvSpPr>
          <p:cNvPr id="42" name="矩形 41"/>
          <p:cNvSpPr/>
          <p:nvPr/>
        </p:nvSpPr>
        <p:spPr>
          <a:xfrm>
            <a:off x="1758950" y="4149725"/>
            <a:ext cx="1636395" cy="706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MAC</a:t>
            </a:r>
            <a:r>
              <a:rPr lang="zh-CN" altLang="en-US">
                <a:solidFill>
                  <a:schemeClr val="tx1"/>
                </a:solidFill>
              </a:rPr>
              <a:t>调度器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528445" y="2957195"/>
            <a:ext cx="1179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接入</a:t>
            </a:r>
            <a:r>
              <a:rPr lang="zh-CN" altLang="en-US" b="1"/>
              <a:t>卫星</a:t>
            </a:r>
            <a:endParaRPr lang="zh-CN" altLang="en-US" b="1"/>
          </a:p>
        </p:txBody>
      </p:sp>
      <p:sp>
        <p:nvSpPr>
          <p:cNvPr id="45" name="矩形 44"/>
          <p:cNvSpPr/>
          <p:nvPr/>
        </p:nvSpPr>
        <p:spPr>
          <a:xfrm>
            <a:off x="1758950" y="3336290"/>
            <a:ext cx="1636395" cy="706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切片</a:t>
            </a:r>
            <a:r>
              <a:rPr lang="zh-CN" altLang="en-US">
                <a:solidFill>
                  <a:schemeClr val="tx1"/>
                </a:solidFill>
              </a:rPr>
              <a:t>调度器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936990" y="4138930"/>
            <a:ext cx="1636395" cy="706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MAC</a:t>
            </a:r>
            <a:r>
              <a:rPr lang="zh-CN" altLang="en-US">
                <a:solidFill>
                  <a:schemeClr val="tx1"/>
                </a:solidFill>
              </a:rPr>
              <a:t>调度器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700135" y="2818765"/>
            <a:ext cx="182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地面站</a:t>
            </a:r>
            <a:r>
              <a:rPr lang="zh-CN" altLang="en-US" b="1"/>
              <a:t>过顶卫星</a:t>
            </a:r>
            <a:endParaRPr lang="zh-CN" altLang="en-US" b="1"/>
          </a:p>
        </p:txBody>
      </p:sp>
      <p:sp>
        <p:nvSpPr>
          <p:cNvPr id="52" name="矩形 51"/>
          <p:cNvSpPr/>
          <p:nvPr/>
        </p:nvSpPr>
        <p:spPr>
          <a:xfrm>
            <a:off x="8936990" y="3325495"/>
            <a:ext cx="1636395" cy="7067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切片</a:t>
            </a:r>
            <a:r>
              <a:rPr lang="zh-CN" altLang="en-US">
                <a:solidFill>
                  <a:schemeClr val="tx1"/>
                </a:solidFill>
              </a:rPr>
              <a:t>调度器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8662670" y="1718310"/>
            <a:ext cx="1636395" cy="70675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重传判决与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解码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36990" y="5567045"/>
            <a:ext cx="1636395" cy="70675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地面站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86520" y="6273800"/>
            <a:ext cx="1712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接收端</a:t>
            </a:r>
            <a:endParaRPr lang="zh-CN" altLang="en-US" b="1"/>
          </a:p>
        </p:txBody>
      </p:sp>
      <p:sp>
        <p:nvSpPr>
          <p:cNvPr id="6" name="矩形 5"/>
          <p:cNvSpPr/>
          <p:nvPr/>
        </p:nvSpPr>
        <p:spPr>
          <a:xfrm>
            <a:off x="7693660" y="486410"/>
            <a:ext cx="1636395" cy="70675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网络切片管理</a:t>
            </a:r>
            <a:r>
              <a:rPr lang="zh-CN" altLang="en-US">
                <a:solidFill>
                  <a:schemeClr val="tx1"/>
                </a:solidFill>
              </a:rPr>
              <a:t>功能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75990" y="5626100"/>
            <a:ext cx="24199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rgbClr val="FF0000"/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en-US" altLang="zh-CN">
                <a:latin typeface="Calibri" panose="020F0502020204030204" charset="0"/>
              </a:rPr>
              <a:t> </a:t>
            </a:r>
            <a:r>
              <a:rPr lang="zh-CN" altLang="en-US" b="1">
                <a:latin typeface="Calibri" panose="020F0502020204030204" charset="0"/>
              </a:rPr>
              <a:t>接入切换</a:t>
            </a:r>
            <a:endParaRPr lang="zh-CN" altLang="en-US" b="1">
              <a:latin typeface="Calibri" panose="020F0502020204030204" charset="0"/>
            </a:endParaRPr>
          </a:p>
          <a:p>
            <a:pPr algn="ctr"/>
            <a:r>
              <a:rPr lang="zh-CN" altLang="en-US" b="1">
                <a:latin typeface="Calibri" panose="020F0502020204030204" charset="0"/>
              </a:rPr>
              <a:t>（移动性管理</a:t>
            </a:r>
            <a:r>
              <a:rPr lang="zh-CN" altLang="en-US" b="1">
                <a:latin typeface="Calibri" panose="020F0502020204030204" charset="0"/>
              </a:rPr>
              <a:t>功能）</a:t>
            </a:r>
            <a:endParaRPr lang="zh-CN" altLang="en-US">
              <a:latin typeface="Calibri" panose="020F0502020204030204" charset="0"/>
            </a:endParaRPr>
          </a:p>
          <a:p>
            <a:pPr algn="ctr"/>
            <a:endParaRPr lang="zh-CN" altLang="en-US" b="1">
              <a:solidFill>
                <a:srgbClr val="FF0000"/>
              </a:solidFill>
              <a:latin typeface="Calibri" panose="020F0502020204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63795" y="1779905"/>
            <a:ext cx="2527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④</a:t>
            </a:r>
            <a:r>
              <a:rPr lang="en-US" altLang="zh-CN">
                <a:latin typeface="Calibri" panose="020F0502020204030204" charset="0"/>
              </a:rPr>
              <a:t> </a:t>
            </a:r>
            <a:r>
              <a:rPr lang="zh-CN" altLang="en-US" b="1">
                <a:latin typeface="Calibri" panose="020F0502020204030204" charset="0"/>
              </a:rPr>
              <a:t>端到端可靠</a:t>
            </a:r>
            <a:r>
              <a:rPr lang="zh-CN" altLang="en-US" b="1">
                <a:latin typeface="Calibri" panose="020F0502020204030204" charset="0"/>
              </a:rPr>
              <a:t>传输</a:t>
            </a:r>
            <a:endParaRPr lang="zh-CN" altLang="en-US" b="1">
              <a:latin typeface="Calibri" panose="020F0502020204030204" charset="0"/>
            </a:endParaRPr>
          </a:p>
          <a:p>
            <a:pPr algn="ctr"/>
            <a:r>
              <a:rPr lang="zh-CN" altLang="en-US" b="1">
                <a:latin typeface="Calibri" panose="020F0502020204030204" charset="0"/>
              </a:rPr>
              <a:t>（用户面数据承载</a:t>
            </a:r>
            <a:r>
              <a:rPr lang="zh-CN" altLang="en-US" b="1">
                <a:latin typeface="Calibri" panose="020F0502020204030204" charset="0"/>
              </a:rPr>
              <a:t>功能）</a:t>
            </a:r>
            <a:endParaRPr lang="zh-CN" altLang="en-US" b="1">
              <a:latin typeface="Calibri" panose="020F0502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37815" y="2691130"/>
            <a:ext cx="25965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FF0000"/>
                </a:solidFill>
                <a:latin typeface="Calibri" panose="020F0502020204030204" charset="0"/>
                <a:sym typeface="+mn-ea"/>
              </a:rPr>
              <a:t>③</a:t>
            </a:r>
            <a:r>
              <a:rPr lang="en-US" altLang="zh-CN" b="1">
                <a:latin typeface="Calibri" panose="020F0502020204030204" charset="0"/>
              </a:rPr>
              <a:t> </a:t>
            </a:r>
            <a:r>
              <a:rPr lang="zh-CN" altLang="en-US" b="1">
                <a:latin typeface="Calibri" panose="020F0502020204030204" charset="0"/>
              </a:rPr>
              <a:t>接入</a:t>
            </a:r>
            <a:r>
              <a:rPr lang="zh-CN" altLang="en-US" b="1">
                <a:latin typeface="Calibri" panose="020F0502020204030204" charset="0"/>
              </a:rPr>
              <a:t>侧无线资源调度</a:t>
            </a:r>
            <a:endParaRPr lang="zh-CN" altLang="en-US" b="1">
              <a:latin typeface="Calibri" panose="020F0502020204030204" charset="0"/>
            </a:endParaRPr>
          </a:p>
          <a:p>
            <a:pPr algn="ctr"/>
            <a:r>
              <a:rPr lang="zh-CN" altLang="en-US" b="1">
                <a:latin typeface="Calibri" panose="020F0502020204030204" charset="0"/>
              </a:rPr>
              <a:t>（无线资源管理</a:t>
            </a:r>
            <a:r>
              <a:rPr lang="zh-CN" altLang="en-US" b="1">
                <a:latin typeface="Calibri" panose="020F0502020204030204" charset="0"/>
              </a:rPr>
              <a:t>功能）</a:t>
            </a:r>
            <a:endParaRPr lang="zh-CN" altLang="en-US" b="1">
              <a:latin typeface="Calibri" panose="020F0502020204030204" charset="0"/>
            </a:endParaRPr>
          </a:p>
        </p:txBody>
      </p:sp>
      <p:cxnSp>
        <p:nvCxnSpPr>
          <p:cNvPr id="17" name="直接连接符 16"/>
          <p:cNvCxnSpPr>
            <a:stCxn id="24" idx="1"/>
          </p:cNvCxnSpPr>
          <p:nvPr/>
        </p:nvCxnSpPr>
        <p:spPr>
          <a:xfrm flipH="1">
            <a:off x="1026795" y="787400"/>
            <a:ext cx="211645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29" idx="3"/>
          </p:cNvCxnSpPr>
          <p:nvPr/>
        </p:nvCxnSpPr>
        <p:spPr>
          <a:xfrm flipH="1" flipV="1">
            <a:off x="1024255" y="790575"/>
            <a:ext cx="0" cy="491998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 flipV="1">
            <a:off x="1050290" y="3950970"/>
            <a:ext cx="478155" cy="190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 flipV="1">
            <a:off x="1018540" y="5626100"/>
            <a:ext cx="478155" cy="190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H="1">
            <a:off x="9697085" y="790575"/>
            <a:ext cx="170942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10920730" y="3949065"/>
            <a:ext cx="478155" cy="190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0575290" y="5705475"/>
            <a:ext cx="82359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9842500" y="433705"/>
            <a:ext cx="1071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监控</a:t>
            </a:r>
            <a:r>
              <a:rPr lang="en-US" altLang="zh-CN"/>
              <a:t>/</a:t>
            </a:r>
            <a:r>
              <a:rPr lang="zh-CN" altLang="en-US"/>
              <a:t>离线配置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838440" y="1158240"/>
            <a:ext cx="1491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切片</a:t>
            </a:r>
            <a:r>
              <a:rPr lang="zh-CN" altLang="en-US" sz="1400"/>
              <a:t>调度器</a:t>
            </a:r>
            <a:endParaRPr lang="zh-CN" altLang="en-US" sz="1400"/>
          </a:p>
        </p:txBody>
      </p:sp>
      <p:sp>
        <p:nvSpPr>
          <p:cNvPr id="9" name="文本框 8"/>
          <p:cNvSpPr txBox="1"/>
          <p:nvPr/>
        </p:nvSpPr>
        <p:spPr>
          <a:xfrm>
            <a:off x="5763895" y="1165225"/>
            <a:ext cx="1491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路由控制</a:t>
            </a:r>
            <a:r>
              <a:rPr lang="zh-CN" altLang="en-US" sz="1400"/>
              <a:t>面</a:t>
            </a:r>
            <a:endParaRPr lang="zh-CN" altLang="en-US" sz="1400"/>
          </a:p>
        </p:txBody>
      </p:sp>
      <p:sp>
        <p:nvSpPr>
          <p:cNvPr id="16" name="文本框 15"/>
          <p:cNvSpPr txBox="1"/>
          <p:nvPr/>
        </p:nvSpPr>
        <p:spPr>
          <a:xfrm>
            <a:off x="3602990" y="1168400"/>
            <a:ext cx="14916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切换控制</a:t>
            </a:r>
            <a:r>
              <a:rPr lang="zh-CN" altLang="en-US" sz="1400"/>
              <a:t>器</a:t>
            </a:r>
            <a:endParaRPr lang="zh-CN" altLang="en-US" sz="1400"/>
          </a:p>
        </p:txBody>
      </p:sp>
      <p:sp>
        <p:nvSpPr>
          <p:cNvPr id="36" name="文本框 35"/>
          <p:cNvSpPr txBox="1"/>
          <p:nvPr/>
        </p:nvSpPr>
        <p:spPr>
          <a:xfrm>
            <a:off x="1839595" y="447675"/>
            <a:ext cx="1071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监控</a:t>
            </a:r>
            <a:r>
              <a:rPr lang="en-US" altLang="zh-CN"/>
              <a:t>/</a:t>
            </a:r>
            <a:r>
              <a:rPr lang="zh-CN" altLang="en-US"/>
              <a:t>离线配置</a:t>
            </a:r>
            <a:endParaRPr lang="zh-CN" altLang="en-US"/>
          </a:p>
        </p:txBody>
      </p:sp>
      <p:sp>
        <p:nvSpPr>
          <p:cNvPr id="33" name="圆柱形 32"/>
          <p:cNvSpPr/>
          <p:nvPr/>
        </p:nvSpPr>
        <p:spPr>
          <a:xfrm rot="16200000">
            <a:off x="5502275" y="1992630"/>
            <a:ext cx="1325245" cy="4403725"/>
          </a:xfrm>
          <a:prstGeom prst="can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6015990" y="3872230"/>
            <a:ext cx="2921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星间</a:t>
            </a:r>
            <a:endParaRPr lang="zh-CN" altLang="en-US"/>
          </a:p>
          <a:p>
            <a:pPr algn="ctr"/>
            <a:r>
              <a:rPr lang="zh-CN" altLang="en-US"/>
              <a:t>多跳传输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425315" y="3619500"/>
            <a:ext cx="1605915" cy="110553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  <a:latin typeface="Calibri" panose="020F0502020204030204" charset="0"/>
                <a:sym typeface="+mn-ea"/>
              </a:rPr>
              <a:t>①</a:t>
            </a:r>
            <a:r>
              <a:rPr lang="en-US" altLang="zh-CN" b="1">
                <a:solidFill>
                  <a:schemeClr val="tx1"/>
                </a:solidFill>
              </a:rPr>
              <a:t> </a:t>
            </a:r>
            <a:r>
              <a:rPr lang="zh-CN" altLang="en-US" b="1">
                <a:solidFill>
                  <a:schemeClr val="tx1"/>
                </a:solidFill>
              </a:rPr>
              <a:t>邻域感知模块（测量与上报</a:t>
            </a:r>
            <a:r>
              <a:rPr lang="zh-CN" altLang="en-US" b="1">
                <a:solidFill>
                  <a:schemeClr val="tx1"/>
                </a:solidFill>
              </a:rPr>
              <a:t>功能）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6205855" y="4172585"/>
            <a:ext cx="754380" cy="0"/>
          </a:xfrm>
          <a:prstGeom prst="straightConnector1">
            <a:avLst/>
          </a:prstGeom>
          <a:ln w="476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2708275" y="5029200"/>
            <a:ext cx="923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服务链</a:t>
            </a:r>
            <a:endParaRPr lang="zh-CN" altLang="en-US" sz="1400" b="1"/>
          </a:p>
        </p:txBody>
      </p:sp>
      <p:sp>
        <p:nvSpPr>
          <p:cNvPr id="63" name="文本框 62"/>
          <p:cNvSpPr txBox="1"/>
          <p:nvPr/>
        </p:nvSpPr>
        <p:spPr>
          <a:xfrm>
            <a:off x="9990455" y="5002530"/>
            <a:ext cx="923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馈电链</a:t>
            </a:r>
            <a:endParaRPr lang="zh-CN" altLang="en-US" sz="1400" b="1"/>
          </a:p>
        </p:txBody>
      </p:sp>
      <p:sp>
        <p:nvSpPr>
          <p:cNvPr id="21" name="矩形 20"/>
          <p:cNvSpPr/>
          <p:nvPr/>
        </p:nvSpPr>
        <p:spPr>
          <a:xfrm>
            <a:off x="1893570" y="1718310"/>
            <a:ext cx="1636395" cy="70675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增量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语义编码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0" name="圆柱形 69"/>
          <p:cNvSpPr/>
          <p:nvPr/>
        </p:nvSpPr>
        <p:spPr>
          <a:xfrm rot="10800000">
            <a:off x="2365375" y="4909820"/>
            <a:ext cx="342900" cy="478155"/>
          </a:xfrm>
          <a:prstGeom prst="can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圆柱形 70"/>
          <p:cNvSpPr/>
          <p:nvPr/>
        </p:nvSpPr>
        <p:spPr>
          <a:xfrm rot="10800000" flipH="1" flipV="1">
            <a:off x="9617710" y="4920615"/>
            <a:ext cx="342900" cy="478155"/>
          </a:xfrm>
          <a:prstGeom prst="can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矩形 71"/>
          <p:cNvSpPr/>
          <p:nvPr/>
        </p:nvSpPr>
        <p:spPr>
          <a:xfrm>
            <a:off x="1266825" y="2590800"/>
            <a:ext cx="10014585" cy="4258310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1293495" y="2590800"/>
            <a:ext cx="1071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网络侧</a:t>
            </a:r>
            <a:endParaRPr lang="zh-CN" altLang="en-US" b="1"/>
          </a:p>
        </p:txBody>
      </p:sp>
      <p:sp>
        <p:nvSpPr>
          <p:cNvPr id="74" name="文本框 73"/>
          <p:cNvSpPr txBox="1"/>
          <p:nvPr/>
        </p:nvSpPr>
        <p:spPr>
          <a:xfrm>
            <a:off x="1386205" y="1602740"/>
            <a:ext cx="5981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应</a:t>
            </a:r>
            <a:endParaRPr lang="zh-CN" altLang="en-US" b="1"/>
          </a:p>
          <a:p>
            <a:r>
              <a:rPr lang="zh-CN" altLang="en-US" b="1"/>
              <a:t>用</a:t>
            </a:r>
            <a:endParaRPr lang="zh-CN" altLang="en-US" b="1"/>
          </a:p>
          <a:p>
            <a:r>
              <a:rPr lang="zh-CN" altLang="en-US" b="1"/>
              <a:t>侧</a:t>
            </a:r>
            <a:endParaRPr lang="zh-CN" altLang="en-US" b="1"/>
          </a:p>
        </p:txBody>
      </p:sp>
      <p:sp>
        <p:nvSpPr>
          <p:cNvPr id="75" name="右箭头 74"/>
          <p:cNvSpPr/>
          <p:nvPr/>
        </p:nvSpPr>
        <p:spPr>
          <a:xfrm>
            <a:off x="843915" y="5857875"/>
            <a:ext cx="652780" cy="583565"/>
          </a:xfrm>
          <a:prstGeom prst="rightArrow">
            <a:avLst/>
          </a:prstGeom>
          <a:solidFill>
            <a:schemeClr val="accent1">
              <a:alpha val="64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 flipH="1" flipV="1">
            <a:off x="11398885" y="787400"/>
            <a:ext cx="0" cy="491998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</Words>
  <Application>WPS 演示</Application>
  <PresentationFormat>宽屏</PresentationFormat>
  <Paragraphs>79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307</cp:revision>
  <dcterms:created xsi:type="dcterms:W3CDTF">2023-08-09T12:44:00Z</dcterms:created>
  <dcterms:modified xsi:type="dcterms:W3CDTF">2026-08-30T11:02:12Z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FED8C23AB2674FE1862B8267500BCE2E_12</vt:lpwstr>
  </property>
</Properties>
</file>