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25" userDrawn="1">
          <p15:clr>
            <a:srgbClr val="A4A3A4"/>
          </p15:clr>
        </p15:guide>
        <p15:guide id="2" pos="372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225"/>
        <p:guide pos="372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4" name="圆角矩形 13"/>
          <p:cNvSpPr/>
          <p:nvPr/>
        </p:nvSpPr>
        <p:spPr>
          <a:xfrm>
            <a:off x="1528445" y="2044065"/>
            <a:ext cx="9203055" cy="1658620"/>
          </a:xfrm>
          <a:prstGeom prst="roundRect">
            <a:avLst/>
          </a:prstGeom>
          <a:solidFill>
            <a:schemeClr val="accent6">
              <a:lumMod val="40000"/>
              <a:lumOff val="60000"/>
              <a:alpha val="48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圆角矩形 11"/>
          <p:cNvSpPr/>
          <p:nvPr/>
        </p:nvSpPr>
        <p:spPr>
          <a:xfrm>
            <a:off x="1528445" y="3805555"/>
            <a:ext cx="9203055" cy="1658620"/>
          </a:xfrm>
          <a:prstGeom prst="roundRect">
            <a:avLst/>
          </a:prstGeom>
          <a:solidFill>
            <a:schemeClr val="accent5">
              <a:lumMod val="40000"/>
              <a:lumOff val="60000"/>
              <a:alpha val="48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圆角矩形 9"/>
          <p:cNvSpPr/>
          <p:nvPr/>
        </p:nvSpPr>
        <p:spPr>
          <a:xfrm>
            <a:off x="1565910" y="5518150"/>
            <a:ext cx="9203055" cy="930910"/>
          </a:xfrm>
          <a:prstGeom prst="roundRect">
            <a:avLst/>
          </a:prstGeom>
          <a:solidFill>
            <a:schemeClr val="accent4">
              <a:lumMod val="40000"/>
              <a:lumOff val="60000"/>
              <a:alpha val="48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矩形 20"/>
          <p:cNvSpPr/>
          <p:nvPr/>
        </p:nvSpPr>
        <p:spPr>
          <a:xfrm>
            <a:off x="1758950" y="4579620"/>
            <a:ext cx="1636395" cy="70675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信源信道</a:t>
            </a:r>
            <a:r>
              <a:rPr lang="zh-CN" altLang="en-US">
                <a:solidFill>
                  <a:schemeClr val="tx1"/>
                </a:solidFill>
              </a:rPr>
              <a:t>联合编码器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1758950" y="5567045"/>
            <a:ext cx="1636395" cy="70675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切换</a:t>
            </a:r>
            <a:r>
              <a:rPr lang="zh-CN" altLang="en-US">
                <a:solidFill>
                  <a:schemeClr val="tx1"/>
                </a:solidFill>
              </a:rPr>
              <a:t>控制器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3530600" y="486410"/>
            <a:ext cx="1636395" cy="70675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接入与移动性管理</a:t>
            </a:r>
            <a:r>
              <a:rPr lang="zh-CN" altLang="en-US">
                <a:solidFill>
                  <a:schemeClr val="tx1"/>
                </a:solidFill>
              </a:rPr>
              <a:t>功能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3143250" y="99060"/>
            <a:ext cx="6553835" cy="1376045"/>
          </a:xfrm>
          <a:prstGeom prst="rect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/>
        </p:nvSpPr>
        <p:spPr>
          <a:xfrm>
            <a:off x="3194050" y="79375"/>
            <a:ext cx="9486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/>
              <a:t>核心网</a:t>
            </a:r>
            <a:endParaRPr lang="zh-CN" altLang="en-US" b="1"/>
          </a:p>
        </p:txBody>
      </p:sp>
      <p:sp>
        <p:nvSpPr>
          <p:cNvPr id="27" name="矩形 26"/>
          <p:cNvSpPr/>
          <p:nvPr/>
        </p:nvSpPr>
        <p:spPr>
          <a:xfrm>
            <a:off x="1528445" y="4458335"/>
            <a:ext cx="2001520" cy="225044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右箭头 27"/>
          <p:cNvSpPr/>
          <p:nvPr/>
        </p:nvSpPr>
        <p:spPr>
          <a:xfrm>
            <a:off x="792480" y="4625340"/>
            <a:ext cx="923290" cy="583565"/>
          </a:xfrm>
          <a:prstGeom prst="rightArrow">
            <a:avLst/>
          </a:prstGeom>
          <a:solidFill>
            <a:schemeClr val="accent1">
              <a:alpha val="64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46" name="组合 45"/>
          <p:cNvGrpSpPr/>
          <p:nvPr/>
        </p:nvGrpSpPr>
        <p:grpSpPr>
          <a:xfrm>
            <a:off x="100965" y="4357370"/>
            <a:ext cx="923925" cy="1209675"/>
            <a:chOff x="102" y="5898"/>
            <a:chExt cx="1455" cy="1905"/>
          </a:xfrm>
        </p:grpSpPr>
        <p:sp>
          <p:nvSpPr>
            <p:cNvPr id="29" name="文本框 28"/>
            <p:cNvSpPr txBox="1"/>
            <p:nvPr/>
          </p:nvSpPr>
          <p:spPr>
            <a:xfrm>
              <a:off x="102" y="5898"/>
              <a:ext cx="1455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b="1"/>
                <a:t>业务流</a:t>
              </a:r>
              <a:r>
                <a:rPr lang="zh-CN" altLang="en-US"/>
                <a:t>：</a:t>
              </a:r>
              <a:endParaRPr lang="en-US" altLang="zh-CN"/>
            </a:p>
            <a:p>
              <a:r>
                <a:rPr lang="en-US" altLang="zh-CN"/>
                <a:t>URLLC</a:t>
              </a:r>
              <a:endParaRPr lang="zh-CN" altLang="en-US"/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124" y="6768"/>
              <a:ext cx="124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eMBB</a:t>
              </a:r>
              <a:endParaRPr lang="en-US" altLang="zh-CN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24" y="7223"/>
              <a:ext cx="124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mMTC</a:t>
              </a:r>
              <a:endParaRPr lang="en-US" altLang="zh-CN"/>
            </a:p>
          </p:txBody>
        </p:sp>
      </p:grpSp>
      <p:sp>
        <p:nvSpPr>
          <p:cNvPr id="32" name="文本框 31"/>
          <p:cNvSpPr txBox="1"/>
          <p:nvPr/>
        </p:nvSpPr>
        <p:spPr>
          <a:xfrm>
            <a:off x="1839595" y="6376670"/>
            <a:ext cx="14916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b="1"/>
              <a:t>发射端用户</a:t>
            </a:r>
            <a:endParaRPr lang="zh-CN" altLang="en-US" b="1"/>
          </a:p>
        </p:txBody>
      </p:sp>
      <p:sp>
        <p:nvSpPr>
          <p:cNvPr id="33" name="圆柱形 32"/>
          <p:cNvSpPr/>
          <p:nvPr/>
        </p:nvSpPr>
        <p:spPr>
          <a:xfrm rot="16200000">
            <a:off x="6161405" y="3606165"/>
            <a:ext cx="915670" cy="2739390"/>
          </a:xfrm>
          <a:prstGeom prst="can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矩形 33"/>
          <p:cNvSpPr/>
          <p:nvPr/>
        </p:nvSpPr>
        <p:spPr>
          <a:xfrm>
            <a:off x="5612130" y="486410"/>
            <a:ext cx="1636395" cy="70675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拓扑</a:t>
            </a:r>
            <a:r>
              <a:rPr lang="en-US" altLang="zh-CN">
                <a:solidFill>
                  <a:schemeClr val="tx1"/>
                </a:solidFill>
              </a:rPr>
              <a:t>/</a:t>
            </a:r>
            <a:r>
              <a:rPr lang="zh-CN" altLang="en-US">
                <a:solidFill>
                  <a:schemeClr val="tx1"/>
                </a:solidFill>
              </a:rPr>
              <a:t>星历</a:t>
            </a:r>
            <a:endParaRPr lang="zh-CN" altLang="en-US">
              <a:solidFill>
                <a:schemeClr val="tx1"/>
              </a:solidFill>
            </a:endParaRPr>
          </a:p>
          <a:p>
            <a:pPr algn="ctr"/>
            <a:r>
              <a:rPr lang="zh-CN" altLang="en-US">
                <a:solidFill>
                  <a:schemeClr val="tx1"/>
                </a:solidFill>
              </a:rPr>
              <a:t>管理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9" name="右箭头 38"/>
          <p:cNvSpPr/>
          <p:nvPr/>
        </p:nvSpPr>
        <p:spPr>
          <a:xfrm>
            <a:off x="10665460" y="4625340"/>
            <a:ext cx="923290" cy="583565"/>
          </a:xfrm>
          <a:prstGeom prst="rightArrow">
            <a:avLst/>
          </a:prstGeom>
          <a:solidFill>
            <a:schemeClr val="accent1">
              <a:alpha val="64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文本框 39"/>
          <p:cNvSpPr txBox="1"/>
          <p:nvPr/>
        </p:nvSpPr>
        <p:spPr>
          <a:xfrm>
            <a:off x="11532870" y="4641215"/>
            <a:ext cx="81978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下游</a:t>
            </a:r>
            <a:endParaRPr lang="zh-CN" altLang="en-US"/>
          </a:p>
          <a:p>
            <a:r>
              <a:rPr lang="zh-CN" altLang="en-US"/>
              <a:t>任务</a:t>
            </a:r>
            <a:endParaRPr lang="zh-CN" altLang="en-US"/>
          </a:p>
        </p:txBody>
      </p:sp>
      <p:sp>
        <p:nvSpPr>
          <p:cNvPr id="41" name="文本框 40"/>
          <p:cNvSpPr txBox="1"/>
          <p:nvPr/>
        </p:nvSpPr>
        <p:spPr>
          <a:xfrm>
            <a:off x="5462270" y="4725670"/>
            <a:ext cx="25266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/>
              <a:t>星间</a:t>
            </a:r>
            <a:r>
              <a:rPr lang="en-US" altLang="zh-CN"/>
              <a:t>/</a:t>
            </a:r>
            <a:r>
              <a:rPr lang="zh-CN" altLang="en-US"/>
              <a:t>星地多跳传输</a:t>
            </a:r>
            <a:endParaRPr lang="zh-CN" altLang="en-US"/>
          </a:p>
        </p:txBody>
      </p:sp>
      <p:sp>
        <p:nvSpPr>
          <p:cNvPr id="42" name="矩形 41"/>
          <p:cNvSpPr/>
          <p:nvPr/>
        </p:nvSpPr>
        <p:spPr>
          <a:xfrm>
            <a:off x="1758950" y="2943225"/>
            <a:ext cx="1636395" cy="70675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olidFill>
                  <a:schemeClr val="tx1"/>
                </a:solidFill>
              </a:rPr>
              <a:t>MAC</a:t>
            </a:r>
            <a:r>
              <a:rPr lang="zh-CN" altLang="en-US">
                <a:solidFill>
                  <a:schemeClr val="tx1"/>
                </a:solidFill>
              </a:rPr>
              <a:t>调度器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1484630" y="1682750"/>
            <a:ext cx="2221230" cy="2031365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4" name="文本框 43"/>
          <p:cNvSpPr txBox="1"/>
          <p:nvPr/>
        </p:nvSpPr>
        <p:spPr>
          <a:xfrm>
            <a:off x="1528445" y="1682750"/>
            <a:ext cx="11798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/>
              <a:t>接入</a:t>
            </a:r>
            <a:r>
              <a:rPr lang="zh-CN" altLang="en-US" b="1"/>
              <a:t>卫星</a:t>
            </a:r>
            <a:endParaRPr lang="zh-CN" altLang="en-US" b="1"/>
          </a:p>
        </p:txBody>
      </p:sp>
      <p:sp>
        <p:nvSpPr>
          <p:cNvPr id="45" name="矩形 44"/>
          <p:cNvSpPr/>
          <p:nvPr/>
        </p:nvSpPr>
        <p:spPr>
          <a:xfrm>
            <a:off x="1758950" y="2129790"/>
            <a:ext cx="1636395" cy="70675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切片</a:t>
            </a:r>
            <a:r>
              <a:rPr lang="zh-CN" altLang="en-US">
                <a:solidFill>
                  <a:schemeClr val="tx1"/>
                </a:solidFill>
              </a:rPr>
              <a:t>调度器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7" name="右箭头 46"/>
          <p:cNvSpPr/>
          <p:nvPr/>
        </p:nvSpPr>
        <p:spPr>
          <a:xfrm rot="16200000">
            <a:off x="2258060" y="3959225"/>
            <a:ext cx="534035" cy="583565"/>
          </a:xfrm>
          <a:prstGeom prst="rightArrow">
            <a:avLst/>
          </a:prstGeom>
          <a:solidFill>
            <a:schemeClr val="accent1">
              <a:alpha val="64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9" name="矩形 48"/>
          <p:cNvSpPr/>
          <p:nvPr/>
        </p:nvSpPr>
        <p:spPr>
          <a:xfrm>
            <a:off x="8973820" y="2918460"/>
            <a:ext cx="1636395" cy="70675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olidFill>
                  <a:schemeClr val="tx1"/>
                </a:solidFill>
              </a:rPr>
              <a:t>MAC</a:t>
            </a:r>
            <a:r>
              <a:rPr lang="zh-CN" altLang="en-US">
                <a:solidFill>
                  <a:schemeClr val="tx1"/>
                </a:solidFill>
              </a:rPr>
              <a:t>调度器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8699500" y="1657985"/>
            <a:ext cx="2221230" cy="2031365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1" name="文本框 50"/>
          <p:cNvSpPr txBox="1"/>
          <p:nvPr/>
        </p:nvSpPr>
        <p:spPr>
          <a:xfrm>
            <a:off x="8743315" y="1657985"/>
            <a:ext cx="11798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/>
              <a:t>接入</a:t>
            </a:r>
            <a:r>
              <a:rPr lang="zh-CN" altLang="en-US" b="1"/>
              <a:t>卫星</a:t>
            </a:r>
            <a:endParaRPr lang="zh-CN" altLang="en-US" b="1"/>
          </a:p>
        </p:txBody>
      </p:sp>
      <p:sp>
        <p:nvSpPr>
          <p:cNvPr id="52" name="矩形 51"/>
          <p:cNvSpPr/>
          <p:nvPr/>
        </p:nvSpPr>
        <p:spPr>
          <a:xfrm>
            <a:off x="8973820" y="2105025"/>
            <a:ext cx="1636395" cy="70675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切片</a:t>
            </a:r>
            <a:r>
              <a:rPr lang="zh-CN" altLang="en-US">
                <a:solidFill>
                  <a:schemeClr val="tx1"/>
                </a:solidFill>
              </a:rPr>
              <a:t>调度器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53" name="右箭头 52"/>
          <p:cNvSpPr/>
          <p:nvPr/>
        </p:nvSpPr>
        <p:spPr>
          <a:xfrm rot="19380000">
            <a:off x="7919720" y="3758565"/>
            <a:ext cx="1035685" cy="583565"/>
          </a:xfrm>
          <a:prstGeom prst="rightArrow">
            <a:avLst/>
          </a:prstGeom>
          <a:solidFill>
            <a:schemeClr val="accent1">
              <a:alpha val="64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矩形 1"/>
          <p:cNvSpPr/>
          <p:nvPr/>
        </p:nvSpPr>
        <p:spPr>
          <a:xfrm>
            <a:off x="8955405" y="4579620"/>
            <a:ext cx="1636395" cy="70675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  <a:sym typeface="+mn-ea"/>
              </a:rPr>
              <a:t>信源信道联合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解码器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8955405" y="5567045"/>
            <a:ext cx="1636395" cy="70675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切换</a:t>
            </a:r>
            <a:r>
              <a:rPr lang="zh-CN" altLang="en-US">
                <a:solidFill>
                  <a:schemeClr val="tx1"/>
                </a:solidFill>
              </a:rPr>
              <a:t>控制器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" name="矩形 3"/>
          <p:cNvSpPr/>
          <p:nvPr/>
        </p:nvSpPr>
        <p:spPr>
          <a:xfrm>
            <a:off x="8867775" y="4458335"/>
            <a:ext cx="2047875" cy="225044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9100185" y="6357620"/>
            <a:ext cx="14916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b="1"/>
              <a:t>接收端用户</a:t>
            </a:r>
            <a:endParaRPr lang="zh-CN" altLang="en-US" b="1"/>
          </a:p>
        </p:txBody>
      </p:sp>
      <p:sp>
        <p:nvSpPr>
          <p:cNvPr id="6" name="矩形 5"/>
          <p:cNvSpPr/>
          <p:nvPr/>
        </p:nvSpPr>
        <p:spPr>
          <a:xfrm>
            <a:off x="7693660" y="486410"/>
            <a:ext cx="1636395" cy="70675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网络切片管理</a:t>
            </a:r>
            <a:r>
              <a:rPr lang="zh-CN" altLang="en-US">
                <a:solidFill>
                  <a:schemeClr val="tx1"/>
                </a:solidFill>
              </a:rPr>
              <a:t>功能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8" name="右箭头 7"/>
          <p:cNvSpPr/>
          <p:nvPr/>
        </p:nvSpPr>
        <p:spPr>
          <a:xfrm rot="5400000" flipV="1">
            <a:off x="9542780" y="3990975"/>
            <a:ext cx="534035" cy="583565"/>
          </a:xfrm>
          <a:prstGeom prst="rightArrow">
            <a:avLst/>
          </a:prstGeom>
          <a:solidFill>
            <a:schemeClr val="accent1">
              <a:alpha val="64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3550285" y="5691505"/>
            <a:ext cx="554990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solidFill>
                  <a:srgbClr val="FF0000"/>
                </a:solidFill>
                <a:latin typeface="Calibri" panose="020F0502020204030204" charset="0"/>
                <a:sym typeface="+mn-ea"/>
              </a:rPr>
              <a:t>②</a:t>
            </a:r>
            <a:r>
              <a:rPr lang="en-US" altLang="zh-CN">
                <a:latin typeface="Calibri" panose="020F0502020204030204" charset="0"/>
              </a:rPr>
              <a:t> </a:t>
            </a:r>
            <a:r>
              <a:rPr lang="zh-CN" altLang="en-US" b="1">
                <a:latin typeface="Calibri" panose="020F0502020204030204" charset="0"/>
              </a:rPr>
              <a:t>接入切换</a:t>
            </a:r>
            <a:endParaRPr lang="zh-CN" altLang="en-US" b="1">
              <a:latin typeface="Calibri" panose="020F0502020204030204" charset="0"/>
            </a:endParaRPr>
          </a:p>
          <a:p>
            <a:pPr algn="ctr"/>
            <a:r>
              <a:rPr lang="zh-CN" altLang="en-US" b="1">
                <a:latin typeface="Calibri" panose="020F0502020204030204" charset="0"/>
              </a:rPr>
              <a:t>（移动性管理</a:t>
            </a:r>
            <a:r>
              <a:rPr lang="zh-CN" altLang="en-US" b="1">
                <a:latin typeface="Calibri" panose="020F0502020204030204" charset="0"/>
              </a:rPr>
              <a:t>功能）</a:t>
            </a:r>
            <a:endParaRPr lang="zh-CN" altLang="en-US">
              <a:latin typeface="Calibri" panose="020F0502020204030204" charset="0"/>
            </a:endParaRPr>
          </a:p>
          <a:p>
            <a:pPr algn="ctr"/>
            <a:endParaRPr lang="zh-CN" altLang="en-US" b="1">
              <a:solidFill>
                <a:srgbClr val="FF0000"/>
              </a:solidFill>
              <a:latin typeface="Calibri" panose="020F050202020403020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5462270" y="3803650"/>
            <a:ext cx="25273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</a:rPr>
              <a:t>④</a:t>
            </a:r>
            <a:r>
              <a:rPr lang="en-US" altLang="zh-CN">
                <a:latin typeface="Calibri" panose="020F0502020204030204" charset="0"/>
              </a:rPr>
              <a:t> </a:t>
            </a:r>
            <a:r>
              <a:rPr lang="zh-CN" altLang="en-US" b="1">
                <a:latin typeface="Calibri" panose="020F0502020204030204" charset="0"/>
              </a:rPr>
              <a:t>端到端可靠</a:t>
            </a:r>
            <a:r>
              <a:rPr lang="zh-CN" altLang="en-US" b="1">
                <a:latin typeface="Calibri" panose="020F0502020204030204" charset="0"/>
              </a:rPr>
              <a:t>传输</a:t>
            </a:r>
            <a:endParaRPr lang="zh-CN" altLang="en-US" b="1">
              <a:latin typeface="Calibri" panose="020F0502020204030204" charset="0"/>
            </a:endParaRPr>
          </a:p>
          <a:p>
            <a:pPr algn="ctr"/>
            <a:r>
              <a:rPr lang="zh-CN" altLang="en-US" b="1">
                <a:latin typeface="Calibri" panose="020F0502020204030204" charset="0"/>
              </a:rPr>
              <a:t>（用户面数据承载</a:t>
            </a:r>
            <a:r>
              <a:rPr lang="zh-CN" altLang="en-US" b="1">
                <a:latin typeface="Calibri" panose="020F0502020204030204" charset="0"/>
              </a:rPr>
              <a:t>功能）</a:t>
            </a:r>
            <a:endParaRPr lang="zh-CN" altLang="en-US" b="1">
              <a:latin typeface="Calibri" panose="020F050202020403020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4718050" y="2749550"/>
            <a:ext cx="348107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>
                <a:solidFill>
                  <a:srgbClr val="FF0000"/>
                </a:solidFill>
                <a:latin typeface="Calibri" panose="020F0502020204030204" charset="0"/>
                <a:sym typeface="+mn-ea"/>
              </a:rPr>
              <a:t>③</a:t>
            </a:r>
            <a:r>
              <a:rPr lang="en-US" altLang="zh-CN" b="1">
                <a:latin typeface="Calibri" panose="020F0502020204030204" charset="0"/>
              </a:rPr>
              <a:t> </a:t>
            </a:r>
            <a:r>
              <a:rPr lang="zh-CN" altLang="en-US" b="1">
                <a:latin typeface="Calibri" panose="020F0502020204030204" charset="0"/>
              </a:rPr>
              <a:t>接入</a:t>
            </a:r>
            <a:r>
              <a:rPr lang="zh-CN" altLang="en-US" b="1">
                <a:latin typeface="Calibri" panose="020F0502020204030204" charset="0"/>
              </a:rPr>
              <a:t>侧无线资源调度</a:t>
            </a:r>
            <a:endParaRPr lang="zh-CN" altLang="en-US" b="1">
              <a:latin typeface="Calibri" panose="020F0502020204030204" charset="0"/>
            </a:endParaRPr>
          </a:p>
          <a:p>
            <a:pPr algn="ctr"/>
            <a:r>
              <a:rPr lang="zh-CN" altLang="en-US" b="1">
                <a:latin typeface="Calibri" panose="020F0502020204030204" charset="0"/>
              </a:rPr>
              <a:t>（无线资源管理</a:t>
            </a:r>
            <a:r>
              <a:rPr lang="zh-CN" altLang="en-US" b="1">
                <a:latin typeface="Calibri" panose="020F0502020204030204" charset="0"/>
              </a:rPr>
              <a:t>功能）</a:t>
            </a:r>
            <a:endParaRPr lang="zh-CN" altLang="en-US" b="1">
              <a:latin typeface="Calibri" panose="020F0502020204030204" charset="0"/>
            </a:endParaRPr>
          </a:p>
        </p:txBody>
      </p:sp>
      <p:cxnSp>
        <p:nvCxnSpPr>
          <p:cNvPr id="17" name="直接连接符 16"/>
          <p:cNvCxnSpPr>
            <a:stCxn id="24" idx="1"/>
          </p:cNvCxnSpPr>
          <p:nvPr/>
        </p:nvCxnSpPr>
        <p:spPr>
          <a:xfrm flipH="1">
            <a:off x="1026795" y="787400"/>
            <a:ext cx="2116455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 flipV="1">
            <a:off x="1018540" y="790575"/>
            <a:ext cx="5715" cy="4678045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/>
        </p:nvCxnSpPr>
        <p:spPr>
          <a:xfrm flipH="1" flipV="1">
            <a:off x="1018540" y="2751455"/>
            <a:ext cx="478155" cy="1905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" name="直接连接符 25"/>
          <p:cNvCxnSpPr/>
          <p:nvPr/>
        </p:nvCxnSpPr>
        <p:spPr>
          <a:xfrm flipH="1" flipV="1">
            <a:off x="1018540" y="5469255"/>
            <a:ext cx="478155" cy="1905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4" name="直接连接符 53"/>
          <p:cNvCxnSpPr/>
          <p:nvPr/>
        </p:nvCxnSpPr>
        <p:spPr>
          <a:xfrm flipH="1">
            <a:off x="9697085" y="790575"/>
            <a:ext cx="170942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" name="直接连接符 54"/>
          <p:cNvCxnSpPr/>
          <p:nvPr/>
        </p:nvCxnSpPr>
        <p:spPr>
          <a:xfrm flipV="1">
            <a:off x="11393170" y="786130"/>
            <a:ext cx="5715" cy="4678045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6" name="直接连接符 55"/>
          <p:cNvCxnSpPr/>
          <p:nvPr/>
        </p:nvCxnSpPr>
        <p:spPr>
          <a:xfrm flipV="1">
            <a:off x="10920730" y="2749550"/>
            <a:ext cx="478155" cy="1905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7" name="直接连接符 56"/>
          <p:cNvCxnSpPr/>
          <p:nvPr/>
        </p:nvCxnSpPr>
        <p:spPr>
          <a:xfrm flipV="1">
            <a:off x="10915015" y="5462270"/>
            <a:ext cx="478155" cy="1905"/>
          </a:xfrm>
          <a:prstGeom prst="line">
            <a:avLst/>
          </a:prstGeom>
          <a:ln w="19050">
            <a:solidFill>
              <a:srgbClr val="C00000"/>
            </a:solidFill>
            <a:head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0" name="文本框 59"/>
          <p:cNvSpPr txBox="1"/>
          <p:nvPr/>
        </p:nvSpPr>
        <p:spPr>
          <a:xfrm>
            <a:off x="9842500" y="433705"/>
            <a:ext cx="107188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监控</a:t>
            </a:r>
            <a:r>
              <a:rPr lang="en-US" altLang="zh-CN"/>
              <a:t>/</a:t>
            </a:r>
            <a:r>
              <a:rPr lang="zh-CN" altLang="en-US"/>
              <a:t>离线配置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7838440" y="1158240"/>
            <a:ext cx="14916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400"/>
              <a:t>切片</a:t>
            </a:r>
            <a:r>
              <a:rPr lang="zh-CN" altLang="en-US" sz="1400"/>
              <a:t>调度器</a:t>
            </a:r>
            <a:endParaRPr lang="zh-CN" altLang="en-US" sz="1400"/>
          </a:p>
        </p:txBody>
      </p:sp>
      <p:sp>
        <p:nvSpPr>
          <p:cNvPr id="9" name="文本框 8"/>
          <p:cNvSpPr txBox="1"/>
          <p:nvPr/>
        </p:nvSpPr>
        <p:spPr>
          <a:xfrm>
            <a:off x="5763895" y="1165225"/>
            <a:ext cx="14916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400"/>
              <a:t>路由控制</a:t>
            </a:r>
            <a:r>
              <a:rPr lang="zh-CN" altLang="en-US" sz="1400"/>
              <a:t>面</a:t>
            </a:r>
            <a:endParaRPr lang="zh-CN" altLang="en-US" sz="1400"/>
          </a:p>
        </p:txBody>
      </p:sp>
      <p:sp>
        <p:nvSpPr>
          <p:cNvPr id="16" name="文本框 15"/>
          <p:cNvSpPr txBox="1"/>
          <p:nvPr/>
        </p:nvSpPr>
        <p:spPr>
          <a:xfrm>
            <a:off x="3602990" y="1168400"/>
            <a:ext cx="14916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400"/>
              <a:t>切换控制</a:t>
            </a:r>
            <a:r>
              <a:rPr lang="zh-CN" altLang="en-US" sz="1400"/>
              <a:t>器</a:t>
            </a:r>
            <a:endParaRPr lang="zh-CN" altLang="en-US" sz="1400"/>
          </a:p>
        </p:txBody>
      </p:sp>
      <p:sp>
        <p:nvSpPr>
          <p:cNvPr id="20" name="矩形 19"/>
          <p:cNvSpPr/>
          <p:nvPr/>
        </p:nvSpPr>
        <p:spPr>
          <a:xfrm>
            <a:off x="3653790" y="4357370"/>
            <a:ext cx="1389380" cy="1105535"/>
          </a:xfrm>
          <a:prstGeom prst="rect">
            <a:avLst/>
          </a:prstGeom>
          <a:solidFill>
            <a:schemeClr val="bg2">
              <a:lumMod val="9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rgbClr val="FF0000"/>
                </a:solidFill>
                <a:latin typeface="Calibri" panose="020F0502020204030204" charset="0"/>
                <a:sym typeface="+mn-ea"/>
              </a:rPr>
              <a:t>①</a:t>
            </a:r>
            <a:r>
              <a:rPr lang="en-US" altLang="zh-CN" b="1">
                <a:solidFill>
                  <a:schemeClr val="tx1"/>
                </a:solidFill>
              </a:rPr>
              <a:t> </a:t>
            </a:r>
            <a:r>
              <a:rPr lang="zh-CN" altLang="en-US" b="1">
                <a:solidFill>
                  <a:schemeClr val="tx1"/>
                </a:solidFill>
              </a:rPr>
              <a:t>邻域感知模块（测量与上报</a:t>
            </a:r>
            <a:r>
              <a:rPr lang="zh-CN" altLang="en-US" b="1">
                <a:solidFill>
                  <a:schemeClr val="tx1"/>
                </a:solidFill>
              </a:rPr>
              <a:t>功能）</a:t>
            </a:r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1839595" y="447675"/>
            <a:ext cx="107188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监控</a:t>
            </a:r>
            <a:r>
              <a:rPr lang="en-US" altLang="zh-CN"/>
              <a:t>/</a:t>
            </a:r>
            <a:r>
              <a:rPr lang="zh-CN" altLang="en-US"/>
              <a:t>离线配置</a:t>
            </a:r>
            <a:endParaRPr lang="zh-CN" altLang="en-US"/>
          </a:p>
        </p:txBody>
      </p:sp>
      <p:cxnSp>
        <p:nvCxnSpPr>
          <p:cNvPr id="37" name="直接箭头连接符 36"/>
          <p:cNvCxnSpPr/>
          <p:nvPr/>
        </p:nvCxnSpPr>
        <p:spPr>
          <a:xfrm flipV="1">
            <a:off x="5094605" y="4985385"/>
            <a:ext cx="280670" cy="0"/>
          </a:xfrm>
          <a:prstGeom prst="straightConnector1">
            <a:avLst/>
          </a:prstGeom>
          <a:ln w="4762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8" name="右箭头 47"/>
          <p:cNvSpPr/>
          <p:nvPr/>
        </p:nvSpPr>
        <p:spPr>
          <a:xfrm rot="2220000">
            <a:off x="3966210" y="3914775"/>
            <a:ext cx="1562100" cy="583565"/>
          </a:xfrm>
          <a:prstGeom prst="rightArrow">
            <a:avLst/>
          </a:prstGeom>
          <a:solidFill>
            <a:schemeClr val="accent1">
              <a:alpha val="64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228</Words>
  <Application>WPS 演示</Application>
  <PresentationFormat>宽屏</PresentationFormat>
  <Paragraphs>67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Arial</vt:lpstr>
      <vt:lpstr>宋体</vt:lpstr>
      <vt:lpstr>Wingdings</vt:lpstr>
      <vt:lpstr>Calibri</vt:lpstr>
      <vt:lpstr>微软雅黑</vt:lpstr>
      <vt:lpstr>Arial Unicode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郎修璞</dc:creator>
  <cp:lastModifiedBy>Lawyer He</cp:lastModifiedBy>
  <cp:revision>260</cp:revision>
  <dcterms:created xsi:type="dcterms:W3CDTF">2023-08-09T12:44:00Z</dcterms:created>
  <dcterms:modified xsi:type="dcterms:W3CDTF">2026-07-01T16:06:16Z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FED8C23AB2674FE1862B8267500BCE2E_12</vt:lpwstr>
  </property>
</Properties>
</file>