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8" userDrawn="1">
          <p15:clr>
            <a:srgbClr val="A4A3A4"/>
          </p15:clr>
        </p15:guide>
        <p15:guide id="2" pos="381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78"/>
        <p:guide pos="381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2981325" y="235585"/>
            <a:ext cx="5760720" cy="4540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3429635" y="277495"/>
            <a:ext cx="4863465" cy="33718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zh-CN" altLang="en-US" sz="1600" b="1"/>
              <a:t>端到端 </a:t>
            </a:r>
            <a:r>
              <a:rPr lang="en-US" altLang="zh-CN" sz="1600" b="1"/>
              <a:t>QoS </a:t>
            </a:r>
            <a:r>
              <a:rPr lang="zh-CN" altLang="en-US" sz="1600" b="1"/>
              <a:t>保障的</a:t>
            </a:r>
            <a:r>
              <a:rPr lang="en-US" altLang="zh-CN" sz="1600" b="1">
                <a:sym typeface="+mn-ea"/>
              </a:rPr>
              <a:t>LEO</a:t>
            </a:r>
            <a:r>
              <a:rPr lang="zh-CN" altLang="en-US" sz="1600" b="1">
                <a:sym typeface="+mn-ea"/>
              </a:rPr>
              <a:t>卫星</a:t>
            </a:r>
            <a:r>
              <a:rPr lang="zh-CN" altLang="en-US" sz="1600" b="1"/>
              <a:t>分布式</a:t>
            </a:r>
            <a:r>
              <a:rPr lang="zh-CN" altLang="en-US" sz="1600" b="1"/>
              <a:t>智能资源管控研究</a:t>
            </a:r>
            <a:endParaRPr lang="zh-CN" altLang="en-US" sz="1600" b="1"/>
          </a:p>
        </p:txBody>
      </p:sp>
      <p:sp>
        <p:nvSpPr>
          <p:cNvPr id="7" name="文本框 6"/>
          <p:cNvSpPr txBox="1"/>
          <p:nvPr/>
        </p:nvSpPr>
        <p:spPr>
          <a:xfrm>
            <a:off x="667385" y="1207135"/>
            <a:ext cx="1863725" cy="583565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zh-CN" altLang="en-US" sz="1600" b="1"/>
              <a:t>研究</a:t>
            </a:r>
            <a:r>
              <a:rPr lang="zh-CN" altLang="en-US" sz="1600" b="1"/>
              <a:t>场景</a:t>
            </a:r>
            <a:endParaRPr lang="zh-CN" altLang="en-US" sz="1600" b="1"/>
          </a:p>
          <a:p>
            <a:pPr algn="ctr"/>
            <a:r>
              <a:rPr lang="zh-CN" altLang="en-US" sz="1600" b="1"/>
              <a:t>（端到端业务</a:t>
            </a:r>
            <a:r>
              <a:rPr lang="zh-CN" altLang="en-US" sz="1600" b="1"/>
              <a:t>承载）</a:t>
            </a:r>
            <a:endParaRPr lang="zh-CN" altLang="en-US" sz="1600" b="1"/>
          </a:p>
        </p:txBody>
      </p:sp>
      <p:sp>
        <p:nvSpPr>
          <p:cNvPr id="9" name="矩形 8"/>
          <p:cNvSpPr/>
          <p:nvPr/>
        </p:nvSpPr>
        <p:spPr>
          <a:xfrm>
            <a:off x="2981325" y="1162685"/>
            <a:ext cx="5760720" cy="69151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3622040" y="1162685"/>
            <a:ext cx="4863465" cy="33718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zh-CN" altLang="en-US" sz="1600"/>
              <a:t>单层</a:t>
            </a:r>
            <a:r>
              <a:rPr lang="en-US" altLang="zh-CN" sz="1600"/>
              <a:t>LEO</a:t>
            </a:r>
            <a:r>
              <a:rPr lang="zh-CN" altLang="en-US" sz="1600"/>
              <a:t>星座</a:t>
            </a:r>
            <a:r>
              <a:rPr lang="zh-CN" altLang="en-US" sz="1600"/>
              <a:t>下，海量用户对地发起异构业务传输</a:t>
            </a:r>
            <a:endParaRPr lang="zh-CN" altLang="en-US" sz="1600"/>
          </a:p>
        </p:txBody>
      </p:sp>
      <p:sp>
        <p:nvSpPr>
          <p:cNvPr id="11" name="文本框 10"/>
          <p:cNvSpPr txBox="1"/>
          <p:nvPr/>
        </p:nvSpPr>
        <p:spPr>
          <a:xfrm>
            <a:off x="3429635" y="1482725"/>
            <a:ext cx="4863465" cy="33718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zh-CN" altLang="en-US" sz="1600"/>
              <a:t>（状态感知</a:t>
            </a:r>
            <a:r>
              <a:rPr lang="en-US" altLang="zh-CN" sz="1600"/>
              <a:t> </a:t>
            </a:r>
            <a:r>
              <a:rPr lang="zh-CN" altLang="en-US" sz="1600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n-US" altLang="zh-CN" sz="16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zh-CN" altLang="en-US" sz="1600">
                <a:latin typeface="Arial" panose="020B0604020202020204" pitchFamily="34" charset="0"/>
                <a:cs typeface="Arial" panose="020B0604020202020204" pitchFamily="34" charset="0"/>
              </a:rPr>
              <a:t>接入切换</a:t>
            </a:r>
            <a:r>
              <a:rPr lang="en-US" altLang="zh-CN" sz="1600">
                <a:latin typeface="Arial" panose="020B0604020202020204" pitchFamily="34" charset="0"/>
                <a:cs typeface="Arial" panose="020B0604020202020204" pitchFamily="34" charset="0"/>
              </a:rPr>
              <a:t> → </a:t>
            </a:r>
            <a:r>
              <a:rPr lang="zh-CN" altLang="en-US" sz="1600">
                <a:latin typeface="Arial" panose="020B0604020202020204" pitchFamily="34" charset="0"/>
                <a:cs typeface="Arial" panose="020B0604020202020204" pitchFamily="34" charset="0"/>
              </a:rPr>
              <a:t>资源调度</a:t>
            </a:r>
            <a:r>
              <a:rPr lang="en-US" altLang="zh-CN" sz="1600">
                <a:latin typeface="Arial" panose="020B0604020202020204" pitchFamily="34" charset="0"/>
                <a:cs typeface="Arial" panose="020B0604020202020204" pitchFamily="34" charset="0"/>
              </a:rPr>
              <a:t> → </a:t>
            </a:r>
            <a:r>
              <a:rPr lang="zh-CN" altLang="en-US" sz="1600">
                <a:latin typeface="Arial" panose="020B0604020202020204" pitchFamily="34" charset="0"/>
                <a:cs typeface="Arial" panose="020B0604020202020204" pitchFamily="34" charset="0"/>
              </a:rPr>
              <a:t>端到端</a:t>
            </a:r>
            <a:r>
              <a:rPr lang="zh-CN" altLang="en-US" sz="1600">
                <a:latin typeface="Arial" panose="020B0604020202020204" pitchFamily="34" charset="0"/>
                <a:cs typeface="Arial" panose="020B0604020202020204" pitchFamily="34" charset="0"/>
              </a:rPr>
              <a:t>传输）</a:t>
            </a:r>
            <a:endParaRPr lang="zh-CN" alt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953135" y="2748915"/>
            <a:ext cx="1294130" cy="33718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zh-CN" altLang="en-US" sz="1600" b="1"/>
              <a:t>问题与</a:t>
            </a:r>
            <a:r>
              <a:rPr lang="zh-CN" altLang="en-US" sz="1600" b="1"/>
              <a:t>挑战</a:t>
            </a:r>
            <a:endParaRPr lang="zh-CN" altLang="en-US" sz="1600" b="1"/>
          </a:p>
        </p:txBody>
      </p:sp>
      <p:sp>
        <p:nvSpPr>
          <p:cNvPr id="13" name="矩形 12"/>
          <p:cNvSpPr/>
          <p:nvPr/>
        </p:nvSpPr>
        <p:spPr>
          <a:xfrm>
            <a:off x="2653030" y="2381885"/>
            <a:ext cx="1586230" cy="10655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2590165" y="2381885"/>
            <a:ext cx="1734820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/>
              <a:t>不可靠的控制面传输导致协作时对邻居</a:t>
            </a:r>
            <a:r>
              <a:rPr lang="zh-CN" altLang="en-US" sz="1600"/>
              <a:t>状态的错误估计</a:t>
            </a:r>
            <a:endParaRPr lang="zh-CN" altLang="en-US" sz="1600"/>
          </a:p>
        </p:txBody>
      </p:sp>
      <p:grpSp>
        <p:nvGrpSpPr>
          <p:cNvPr id="21" name="组合 20"/>
          <p:cNvGrpSpPr/>
          <p:nvPr/>
        </p:nvGrpSpPr>
        <p:grpSpPr>
          <a:xfrm>
            <a:off x="4238625" y="2381885"/>
            <a:ext cx="1734820" cy="1065530"/>
            <a:chOff x="8434" y="7576"/>
            <a:chExt cx="2732" cy="1678"/>
          </a:xfrm>
        </p:grpSpPr>
        <p:sp>
          <p:nvSpPr>
            <p:cNvPr id="19" name="文本框 18"/>
            <p:cNvSpPr txBox="1"/>
            <p:nvPr/>
          </p:nvSpPr>
          <p:spPr>
            <a:xfrm>
              <a:off x="8434" y="7689"/>
              <a:ext cx="2732" cy="13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1600"/>
                <a:t>用户利己性导致卫星拥塞，切换频繁</a:t>
              </a:r>
              <a:r>
                <a:rPr lang="zh-CN" altLang="en-US" sz="1600"/>
                <a:t>碰撞</a:t>
              </a:r>
              <a:endParaRPr lang="zh-CN" altLang="en-US" sz="1600"/>
            </a:p>
          </p:txBody>
        </p:sp>
        <p:sp>
          <p:nvSpPr>
            <p:cNvPr id="20" name="矩形 19"/>
            <p:cNvSpPr/>
            <p:nvPr/>
          </p:nvSpPr>
          <p:spPr>
            <a:xfrm>
              <a:off x="8544" y="7576"/>
              <a:ext cx="2498" cy="167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2" name="组合 21"/>
          <p:cNvGrpSpPr/>
          <p:nvPr/>
        </p:nvGrpSpPr>
        <p:grpSpPr>
          <a:xfrm>
            <a:off x="5965825" y="2381885"/>
            <a:ext cx="1734820" cy="1065530"/>
            <a:chOff x="8456" y="7576"/>
            <a:chExt cx="2732" cy="1678"/>
          </a:xfrm>
        </p:grpSpPr>
        <p:sp>
          <p:nvSpPr>
            <p:cNvPr id="23" name="文本框 22"/>
            <p:cNvSpPr txBox="1"/>
            <p:nvPr/>
          </p:nvSpPr>
          <p:spPr>
            <a:xfrm>
              <a:off x="8456" y="7689"/>
              <a:ext cx="2732" cy="13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1600"/>
                <a:t>切片</a:t>
              </a:r>
              <a:r>
                <a:rPr lang="en-US" altLang="zh-CN" sz="1600"/>
                <a:t>-MAC</a:t>
              </a:r>
              <a:r>
                <a:rPr lang="zh-CN" altLang="en-US" sz="1600"/>
                <a:t>的不</a:t>
              </a:r>
              <a:r>
                <a:rPr lang="zh-CN" altLang="en-US" sz="1600"/>
                <a:t>匹配难以保障卫星用户的长期</a:t>
              </a:r>
              <a:r>
                <a:rPr lang="en-US" altLang="zh-CN" sz="1600"/>
                <a:t>Q</a:t>
              </a:r>
              <a:r>
                <a:rPr lang="en-US" altLang="zh-CN" sz="1600"/>
                <a:t>oS</a:t>
              </a:r>
              <a:endParaRPr lang="en-US" altLang="zh-CN" sz="1600"/>
            </a:p>
          </p:txBody>
        </p:sp>
        <p:sp>
          <p:nvSpPr>
            <p:cNvPr id="24" name="矩形 23"/>
            <p:cNvSpPr/>
            <p:nvPr/>
          </p:nvSpPr>
          <p:spPr>
            <a:xfrm>
              <a:off x="8544" y="7576"/>
              <a:ext cx="2498" cy="167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5" name="组合 24"/>
          <p:cNvGrpSpPr/>
          <p:nvPr/>
        </p:nvGrpSpPr>
        <p:grpSpPr>
          <a:xfrm>
            <a:off x="7686040" y="2381885"/>
            <a:ext cx="1734820" cy="1148080"/>
            <a:chOff x="8467" y="7576"/>
            <a:chExt cx="2732" cy="1808"/>
          </a:xfrm>
        </p:grpSpPr>
        <p:sp>
          <p:nvSpPr>
            <p:cNvPr id="26" name="文本框 25"/>
            <p:cNvSpPr txBox="1"/>
            <p:nvPr/>
          </p:nvSpPr>
          <p:spPr>
            <a:xfrm>
              <a:off x="8467" y="7689"/>
              <a:ext cx="2732" cy="16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1600"/>
                <a:t>星上硬件与时延约束使传统语义编码与恢复</a:t>
              </a:r>
              <a:endParaRPr lang="zh-CN" altLang="en-US" sz="1600"/>
            </a:p>
            <a:p>
              <a:pPr algn="ctr"/>
              <a:r>
                <a:rPr lang="zh-CN" altLang="en-US" sz="1600"/>
                <a:t>不</a:t>
              </a:r>
              <a:r>
                <a:rPr lang="zh-CN" altLang="en-US" sz="1600"/>
                <a:t>可用</a:t>
              </a:r>
              <a:endParaRPr lang="zh-CN" altLang="en-US" sz="1600"/>
            </a:p>
          </p:txBody>
        </p:sp>
        <p:sp>
          <p:nvSpPr>
            <p:cNvPr id="27" name="矩形 26"/>
            <p:cNvSpPr/>
            <p:nvPr/>
          </p:nvSpPr>
          <p:spPr>
            <a:xfrm>
              <a:off x="8544" y="7576"/>
              <a:ext cx="2498" cy="167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33" name="文本框 32"/>
          <p:cNvSpPr txBox="1"/>
          <p:nvPr/>
        </p:nvSpPr>
        <p:spPr>
          <a:xfrm>
            <a:off x="695960" y="4307205"/>
            <a:ext cx="1807845" cy="583565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zh-CN" altLang="en-US" sz="1600" b="1"/>
              <a:t>研究</a:t>
            </a:r>
            <a:r>
              <a:rPr lang="zh-CN" altLang="en-US" sz="1600" b="1"/>
              <a:t>内容</a:t>
            </a:r>
            <a:endParaRPr lang="zh-CN" altLang="en-US" sz="1600" b="1"/>
          </a:p>
          <a:p>
            <a:pPr algn="ctr"/>
            <a:r>
              <a:rPr lang="zh-CN" altLang="en-US" sz="1600" b="1"/>
              <a:t>（感知</a:t>
            </a:r>
            <a:r>
              <a:rPr lang="en-US" altLang="zh-CN" sz="1600" b="1"/>
              <a:t>-</a:t>
            </a:r>
            <a:r>
              <a:rPr lang="zh-CN" altLang="en-US" sz="1600" b="1"/>
              <a:t>决策</a:t>
            </a:r>
            <a:r>
              <a:rPr lang="zh-CN" altLang="en-US" sz="1600" b="1"/>
              <a:t>闭环）</a:t>
            </a:r>
            <a:endParaRPr lang="zh-CN" altLang="en-US" sz="1600" b="1"/>
          </a:p>
        </p:txBody>
      </p:sp>
      <p:grpSp>
        <p:nvGrpSpPr>
          <p:cNvPr id="35" name="组合 34"/>
          <p:cNvGrpSpPr/>
          <p:nvPr/>
        </p:nvGrpSpPr>
        <p:grpSpPr>
          <a:xfrm>
            <a:off x="2562225" y="4099560"/>
            <a:ext cx="1734820" cy="1065530"/>
            <a:chOff x="8401" y="7576"/>
            <a:chExt cx="2732" cy="1678"/>
          </a:xfrm>
        </p:grpSpPr>
        <p:sp>
          <p:nvSpPr>
            <p:cNvPr id="36" name="文本框 35"/>
            <p:cNvSpPr txBox="1"/>
            <p:nvPr/>
          </p:nvSpPr>
          <p:spPr>
            <a:xfrm>
              <a:off x="8401" y="7689"/>
              <a:ext cx="2732" cy="13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1600" b="1"/>
                <a:t>多源置信度调控的分布式网络状态感知方法</a:t>
              </a:r>
              <a:endParaRPr lang="zh-CN" altLang="en-US" sz="1600" b="1"/>
            </a:p>
          </p:txBody>
        </p:sp>
        <p:sp>
          <p:nvSpPr>
            <p:cNvPr id="37" name="矩形 36"/>
            <p:cNvSpPr/>
            <p:nvPr/>
          </p:nvSpPr>
          <p:spPr>
            <a:xfrm>
              <a:off x="8544" y="7576"/>
              <a:ext cx="2498" cy="167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cxnSp>
        <p:nvCxnSpPr>
          <p:cNvPr id="38" name="直接箭头连接符 37"/>
          <p:cNvCxnSpPr>
            <a:endCxn id="16" idx="0"/>
          </p:cNvCxnSpPr>
          <p:nvPr/>
        </p:nvCxnSpPr>
        <p:spPr>
          <a:xfrm flipH="1">
            <a:off x="3457575" y="1861820"/>
            <a:ext cx="0" cy="520065"/>
          </a:xfrm>
          <a:prstGeom prst="straightConnector1">
            <a:avLst/>
          </a:prstGeom>
          <a:ln w="22225"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9" name="直接箭头连接符 38"/>
          <p:cNvCxnSpPr/>
          <p:nvPr/>
        </p:nvCxnSpPr>
        <p:spPr>
          <a:xfrm flipH="1">
            <a:off x="5101590" y="1840865"/>
            <a:ext cx="0" cy="520065"/>
          </a:xfrm>
          <a:prstGeom prst="straightConnector1">
            <a:avLst/>
          </a:prstGeom>
          <a:ln w="22225"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直接箭头连接符 39"/>
          <p:cNvCxnSpPr/>
          <p:nvPr/>
        </p:nvCxnSpPr>
        <p:spPr>
          <a:xfrm flipH="1">
            <a:off x="6814820" y="1858010"/>
            <a:ext cx="0" cy="520065"/>
          </a:xfrm>
          <a:prstGeom prst="straightConnector1">
            <a:avLst/>
          </a:prstGeom>
          <a:ln w="22225"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1" name="直接箭头连接符 40"/>
          <p:cNvCxnSpPr/>
          <p:nvPr/>
        </p:nvCxnSpPr>
        <p:spPr>
          <a:xfrm flipH="1">
            <a:off x="8528050" y="1840865"/>
            <a:ext cx="0" cy="520065"/>
          </a:xfrm>
          <a:prstGeom prst="straightConnector1">
            <a:avLst/>
          </a:prstGeom>
          <a:ln w="22225"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43" name="组合 42"/>
          <p:cNvGrpSpPr/>
          <p:nvPr/>
        </p:nvGrpSpPr>
        <p:grpSpPr>
          <a:xfrm>
            <a:off x="4234180" y="4108450"/>
            <a:ext cx="1734820" cy="1065530"/>
            <a:chOff x="8401" y="7576"/>
            <a:chExt cx="2732" cy="1678"/>
          </a:xfrm>
        </p:grpSpPr>
        <p:sp>
          <p:nvSpPr>
            <p:cNvPr id="44" name="文本框 43"/>
            <p:cNvSpPr txBox="1"/>
            <p:nvPr/>
          </p:nvSpPr>
          <p:spPr>
            <a:xfrm>
              <a:off x="8401" y="7689"/>
              <a:ext cx="2732" cy="13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1600" b="1"/>
                <a:t>基于局部公平性估计的分布式协作接入切换机制</a:t>
              </a:r>
              <a:endParaRPr lang="zh-CN" altLang="en-US" sz="1600" b="1"/>
            </a:p>
          </p:txBody>
        </p:sp>
        <p:sp>
          <p:nvSpPr>
            <p:cNvPr id="45" name="矩形 44"/>
            <p:cNvSpPr/>
            <p:nvPr/>
          </p:nvSpPr>
          <p:spPr>
            <a:xfrm>
              <a:off x="8544" y="7576"/>
              <a:ext cx="2498" cy="167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46" name="组合 45"/>
          <p:cNvGrpSpPr/>
          <p:nvPr/>
        </p:nvGrpSpPr>
        <p:grpSpPr>
          <a:xfrm>
            <a:off x="5933440" y="4108450"/>
            <a:ext cx="1734820" cy="1148080"/>
            <a:chOff x="8401" y="7576"/>
            <a:chExt cx="2732" cy="1808"/>
          </a:xfrm>
        </p:grpSpPr>
        <p:sp>
          <p:nvSpPr>
            <p:cNvPr id="47" name="文本框 46"/>
            <p:cNvSpPr txBox="1"/>
            <p:nvPr/>
          </p:nvSpPr>
          <p:spPr>
            <a:xfrm>
              <a:off x="8401" y="7689"/>
              <a:ext cx="2732" cy="16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1600" b="1"/>
                <a:t>基于生成式网络态势感知的切片--</a:t>
              </a:r>
              <a:r>
                <a:rPr lang="en-US" altLang="zh-CN" sz="1600" b="1"/>
                <a:t>MAC </a:t>
              </a:r>
              <a:r>
                <a:rPr lang="zh-CN" altLang="en-US" sz="1600" b="1"/>
                <a:t>分层协作</a:t>
              </a:r>
              <a:endParaRPr lang="zh-CN" altLang="en-US" sz="1600" b="1"/>
            </a:p>
            <a:p>
              <a:pPr algn="ctr"/>
              <a:r>
                <a:rPr lang="zh-CN" altLang="en-US" sz="1600" b="1"/>
                <a:t>优化</a:t>
              </a:r>
              <a:endParaRPr lang="zh-CN" altLang="en-US" sz="1600" b="1"/>
            </a:p>
          </p:txBody>
        </p:sp>
        <p:sp>
          <p:nvSpPr>
            <p:cNvPr id="48" name="矩形 47"/>
            <p:cNvSpPr/>
            <p:nvPr/>
          </p:nvSpPr>
          <p:spPr>
            <a:xfrm>
              <a:off x="8544" y="7576"/>
              <a:ext cx="2498" cy="167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cxnSp>
        <p:nvCxnSpPr>
          <p:cNvPr id="49" name="直接箭头连接符 48"/>
          <p:cNvCxnSpPr>
            <a:endCxn id="45" idx="0"/>
          </p:cNvCxnSpPr>
          <p:nvPr/>
        </p:nvCxnSpPr>
        <p:spPr>
          <a:xfrm>
            <a:off x="5101590" y="3447415"/>
            <a:ext cx="0" cy="661035"/>
          </a:xfrm>
          <a:prstGeom prst="straightConnector1">
            <a:avLst/>
          </a:prstGeom>
          <a:ln w="22225"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51" name="组合 50"/>
          <p:cNvGrpSpPr/>
          <p:nvPr/>
        </p:nvGrpSpPr>
        <p:grpSpPr>
          <a:xfrm>
            <a:off x="7670165" y="4108450"/>
            <a:ext cx="1734820" cy="1148080"/>
            <a:chOff x="8401" y="7576"/>
            <a:chExt cx="2732" cy="1808"/>
          </a:xfrm>
        </p:grpSpPr>
        <p:sp>
          <p:nvSpPr>
            <p:cNvPr id="52" name="文本框 51"/>
            <p:cNvSpPr txBox="1"/>
            <p:nvPr/>
          </p:nvSpPr>
          <p:spPr>
            <a:xfrm>
              <a:off x="8401" y="7689"/>
              <a:ext cx="2732" cy="16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1600" b="1"/>
                <a:t>基于任务反馈与协同增量重传的轻量化语义传输机制</a:t>
              </a:r>
              <a:endParaRPr lang="zh-CN" altLang="en-US" sz="1600" b="1"/>
            </a:p>
          </p:txBody>
        </p:sp>
        <p:sp>
          <p:nvSpPr>
            <p:cNvPr id="53" name="矩形 52"/>
            <p:cNvSpPr/>
            <p:nvPr/>
          </p:nvSpPr>
          <p:spPr>
            <a:xfrm>
              <a:off x="8544" y="7576"/>
              <a:ext cx="2498" cy="167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55" name="文本框 54"/>
          <p:cNvSpPr txBox="1"/>
          <p:nvPr/>
        </p:nvSpPr>
        <p:spPr>
          <a:xfrm>
            <a:off x="1078230" y="5653405"/>
            <a:ext cx="1042035" cy="33718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zh-CN" altLang="en-US" sz="1600" b="1"/>
              <a:t>研究</a:t>
            </a:r>
            <a:r>
              <a:rPr lang="zh-CN" altLang="en-US" sz="1600" b="1"/>
              <a:t>目标</a:t>
            </a:r>
            <a:endParaRPr lang="zh-CN" altLang="en-US" sz="1600" b="1"/>
          </a:p>
        </p:txBody>
      </p:sp>
      <p:sp>
        <p:nvSpPr>
          <p:cNvPr id="56" name="矩形 55"/>
          <p:cNvSpPr/>
          <p:nvPr/>
        </p:nvSpPr>
        <p:spPr>
          <a:xfrm>
            <a:off x="2530475" y="1040130"/>
            <a:ext cx="6890385" cy="4294505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下箭头 5"/>
          <p:cNvSpPr/>
          <p:nvPr/>
        </p:nvSpPr>
        <p:spPr>
          <a:xfrm>
            <a:off x="5568950" y="727710"/>
            <a:ext cx="396875" cy="396875"/>
          </a:xfrm>
          <a:prstGeom prst="downArrow">
            <a:avLst/>
          </a:prstGeom>
          <a:gradFill>
            <a:gsLst>
              <a:gs pos="50000">
                <a:schemeClr val="accent1"/>
              </a:gs>
              <a:gs pos="0">
                <a:schemeClr val="accent1">
                  <a:lumMod val="25000"/>
                  <a:lumOff val="75000"/>
                </a:schemeClr>
              </a:gs>
              <a:gs pos="100000">
                <a:schemeClr val="accent1">
                  <a:lumMod val="85000"/>
                </a:schemeClr>
              </a:gs>
            </a:gsLst>
            <a:lin ang="5400000" scaled="1"/>
          </a:gra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7" name="下箭头 56"/>
          <p:cNvSpPr/>
          <p:nvPr/>
        </p:nvSpPr>
        <p:spPr>
          <a:xfrm>
            <a:off x="3321685" y="5256530"/>
            <a:ext cx="396875" cy="396875"/>
          </a:xfrm>
          <a:prstGeom prst="downArrow">
            <a:avLst/>
          </a:prstGeom>
          <a:gradFill>
            <a:gsLst>
              <a:gs pos="50000">
                <a:schemeClr val="accent1"/>
              </a:gs>
              <a:gs pos="0">
                <a:schemeClr val="accent1">
                  <a:lumMod val="25000"/>
                  <a:lumOff val="75000"/>
                </a:schemeClr>
              </a:gs>
              <a:gs pos="100000">
                <a:schemeClr val="accent1">
                  <a:lumMod val="85000"/>
                </a:schemeClr>
              </a:gs>
            </a:gsLst>
            <a:lin ang="5400000" scaled="1"/>
          </a:gra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8" name="下箭头 57"/>
          <p:cNvSpPr/>
          <p:nvPr/>
        </p:nvSpPr>
        <p:spPr>
          <a:xfrm>
            <a:off x="4919980" y="5256530"/>
            <a:ext cx="396875" cy="396875"/>
          </a:xfrm>
          <a:prstGeom prst="downArrow">
            <a:avLst/>
          </a:prstGeom>
          <a:gradFill>
            <a:gsLst>
              <a:gs pos="50000">
                <a:schemeClr val="accent1"/>
              </a:gs>
              <a:gs pos="0">
                <a:schemeClr val="accent1">
                  <a:lumMod val="25000"/>
                  <a:lumOff val="75000"/>
                </a:schemeClr>
              </a:gs>
              <a:gs pos="100000">
                <a:schemeClr val="accent1">
                  <a:lumMod val="85000"/>
                </a:schemeClr>
              </a:gs>
            </a:gsLst>
            <a:lin ang="5400000" scaled="1"/>
          </a:gra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9" name="下箭头 58"/>
          <p:cNvSpPr/>
          <p:nvPr/>
        </p:nvSpPr>
        <p:spPr>
          <a:xfrm>
            <a:off x="6635115" y="5279390"/>
            <a:ext cx="396875" cy="396875"/>
          </a:xfrm>
          <a:prstGeom prst="downArrow">
            <a:avLst/>
          </a:prstGeom>
          <a:gradFill>
            <a:gsLst>
              <a:gs pos="50000">
                <a:schemeClr val="accent1"/>
              </a:gs>
              <a:gs pos="0">
                <a:schemeClr val="accent1">
                  <a:lumMod val="25000"/>
                  <a:lumOff val="75000"/>
                </a:schemeClr>
              </a:gs>
              <a:gs pos="100000">
                <a:schemeClr val="accent1">
                  <a:lumMod val="85000"/>
                </a:schemeClr>
              </a:gs>
            </a:gsLst>
            <a:lin ang="5400000" scaled="1"/>
          </a:gra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0" name="下箭头 59"/>
          <p:cNvSpPr/>
          <p:nvPr/>
        </p:nvSpPr>
        <p:spPr>
          <a:xfrm>
            <a:off x="8350250" y="5256530"/>
            <a:ext cx="396875" cy="396875"/>
          </a:xfrm>
          <a:prstGeom prst="downArrow">
            <a:avLst/>
          </a:prstGeom>
          <a:gradFill>
            <a:gsLst>
              <a:gs pos="50000">
                <a:schemeClr val="accent1"/>
              </a:gs>
              <a:gs pos="0">
                <a:schemeClr val="accent1">
                  <a:lumMod val="25000"/>
                  <a:lumOff val="75000"/>
                </a:schemeClr>
              </a:gs>
              <a:gs pos="100000">
                <a:schemeClr val="accent1">
                  <a:lumMod val="85000"/>
                </a:schemeClr>
              </a:gs>
            </a:gsLst>
            <a:lin ang="5400000" scaled="1"/>
          </a:gra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1" name="矩形 60"/>
          <p:cNvSpPr/>
          <p:nvPr/>
        </p:nvSpPr>
        <p:spPr>
          <a:xfrm>
            <a:off x="2503805" y="5684520"/>
            <a:ext cx="6900545" cy="6559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2" name="文本框 61"/>
          <p:cNvSpPr txBox="1"/>
          <p:nvPr/>
        </p:nvSpPr>
        <p:spPr>
          <a:xfrm>
            <a:off x="2562225" y="5742940"/>
            <a:ext cx="6682105" cy="583565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zh-CN" altLang="en-US" sz="1600" b="1"/>
              <a:t>构建感知</a:t>
            </a:r>
            <a:r>
              <a:rPr lang="en-US" altLang="zh-CN" sz="1600" b="1"/>
              <a:t>-</a:t>
            </a:r>
            <a:r>
              <a:rPr lang="zh-CN" altLang="en-US" sz="1600" b="1"/>
              <a:t>决策闭环的分布式管控框架，提升在轨自适应资源分配</a:t>
            </a:r>
            <a:r>
              <a:rPr lang="zh-CN" altLang="en-US" sz="1600" b="1"/>
              <a:t>能力并保障用户级端到端业务 </a:t>
            </a:r>
            <a:r>
              <a:rPr lang="en-US" altLang="zh-CN" sz="1600" b="1"/>
              <a:t>QoS</a:t>
            </a:r>
            <a:endParaRPr lang="en-US" altLang="zh-CN" sz="1600" b="1"/>
          </a:p>
        </p:txBody>
      </p:sp>
      <p:sp>
        <p:nvSpPr>
          <p:cNvPr id="2" name="矩形 1"/>
          <p:cNvSpPr/>
          <p:nvPr/>
        </p:nvSpPr>
        <p:spPr>
          <a:xfrm>
            <a:off x="4272280" y="4005580"/>
            <a:ext cx="5112385" cy="12433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环形箭头 2"/>
          <p:cNvSpPr/>
          <p:nvPr/>
        </p:nvSpPr>
        <p:spPr>
          <a:xfrm>
            <a:off x="4003040" y="3768090"/>
            <a:ext cx="409575" cy="497205"/>
          </a:xfrm>
          <a:prstGeom prst="circularArrow">
            <a:avLst/>
          </a:prstGeom>
          <a:gradFill>
            <a:gsLst>
              <a:gs pos="51300">
                <a:srgbClr val="FE5F4A"/>
              </a:gs>
              <a:gs pos="0">
                <a:srgbClr val="DF0303"/>
              </a:gs>
              <a:gs pos="100000">
                <a:srgbClr val="FEA06E"/>
              </a:gs>
            </a:gsLst>
            <a:lin ang="5400000" scaled="1"/>
          </a:gra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3576320" y="3430905"/>
            <a:ext cx="1294130" cy="460375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zh-CN" altLang="en-US" sz="1200" b="1"/>
              <a:t>面向协作</a:t>
            </a:r>
            <a:endParaRPr lang="zh-CN" altLang="en-US" sz="1200" b="1"/>
          </a:p>
          <a:p>
            <a:pPr algn="ctr"/>
            <a:r>
              <a:rPr lang="zh-CN" altLang="en-US" sz="1200" b="1"/>
              <a:t>提供感知能力</a:t>
            </a:r>
            <a:endParaRPr lang="zh-CN" altLang="en-US" sz="1200" b="1"/>
          </a:p>
        </p:txBody>
      </p:sp>
      <p:cxnSp>
        <p:nvCxnSpPr>
          <p:cNvPr id="14" name="直接箭头连接符 13"/>
          <p:cNvCxnSpPr/>
          <p:nvPr/>
        </p:nvCxnSpPr>
        <p:spPr>
          <a:xfrm>
            <a:off x="3519805" y="3430905"/>
            <a:ext cx="0" cy="661035"/>
          </a:xfrm>
          <a:prstGeom prst="straightConnector1">
            <a:avLst/>
          </a:prstGeom>
          <a:ln w="22225"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直接箭头连接符 14"/>
          <p:cNvCxnSpPr/>
          <p:nvPr/>
        </p:nvCxnSpPr>
        <p:spPr>
          <a:xfrm>
            <a:off x="6814820" y="3458210"/>
            <a:ext cx="0" cy="661035"/>
          </a:xfrm>
          <a:prstGeom prst="straightConnector1">
            <a:avLst/>
          </a:prstGeom>
          <a:ln w="22225"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直接箭头连接符 16"/>
          <p:cNvCxnSpPr/>
          <p:nvPr/>
        </p:nvCxnSpPr>
        <p:spPr>
          <a:xfrm>
            <a:off x="8554085" y="3458210"/>
            <a:ext cx="0" cy="661035"/>
          </a:xfrm>
          <a:prstGeom prst="straightConnector1">
            <a:avLst/>
          </a:prstGeom>
          <a:ln w="22225"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346</Words>
  <Application>WPS 演示</Application>
  <PresentationFormat>宽屏</PresentationFormat>
  <Paragraphs>39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Calibri</vt:lpstr>
      <vt:lpstr>微软雅黑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郎修璞</dc:creator>
  <cp:lastModifiedBy>Lawyer He</cp:lastModifiedBy>
  <cp:revision>65</cp:revision>
  <dcterms:created xsi:type="dcterms:W3CDTF">2023-08-09T12:44:00Z</dcterms:created>
  <dcterms:modified xsi:type="dcterms:W3CDTF">2026-06-30T03:00:53Z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82E270E24820429391A6C26D26E19FB8_12</vt:lpwstr>
  </property>
</Properties>
</file>