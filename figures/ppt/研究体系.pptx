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2789555" y="842645"/>
            <a:ext cx="5760720" cy="4540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237865" y="884555"/>
            <a:ext cx="486346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/>
              <a:t>端到端 </a:t>
            </a:r>
            <a:r>
              <a:rPr lang="en-US" altLang="zh-CN" sz="1600" b="1"/>
              <a:t>QoS </a:t>
            </a:r>
            <a:r>
              <a:rPr lang="zh-CN" altLang="en-US" sz="1600" b="1"/>
              <a:t>保障的</a:t>
            </a:r>
            <a:r>
              <a:rPr lang="en-US" altLang="zh-CN" sz="1600" b="1">
                <a:sym typeface="+mn-ea"/>
              </a:rPr>
              <a:t>LEO</a:t>
            </a:r>
            <a:r>
              <a:rPr lang="zh-CN" altLang="en-US" sz="1600" b="1">
                <a:sym typeface="+mn-ea"/>
              </a:rPr>
              <a:t>卫星</a:t>
            </a:r>
            <a:r>
              <a:rPr lang="zh-CN" altLang="en-US" sz="1600" b="1"/>
              <a:t>分布式协同资源管控研究</a:t>
            </a:r>
            <a:endParaRPr lang="zh-CN" altLang="en-US" sz="1600" b="1"/>
          </a:p>
        </p:txBody>
      </p:sp>
      <p:sp>
        <p:nvSpPr>
          <p:cNvPr id="7" name="文本框 6"/>
          <p:cNvSpPr txBox="1"/>
          <p:nvPr/>
        </p:nvSpPr>
        <p:spPr>
          <a:xfrm>
            <a:off x="475615" y="1814195"/>
            <a:ext cx="1863725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1600" b="1"/>
              <a:t>研究</a:t>
            </a:r>
            <a:r>
              <a:rPr lang="zh-CN" altLang="en-US" sz="1600" b="1"/>
              <a:t>场景</a:t>
            </a:r>
            <a:endParaRPr lang="zh-CN" altLang="en-US" sz="1600" b="1"/>
          </a:p>
          <a:p>
            <a:pPr algn="ctr"/>
            <a:r>
              <a:rPr lang="zh-CN" altLang="en-US" sz="1600" b="1"/>
              <a:t>（端到端业务</a:t>
            </a:r>
            <a:r>
              <a:rPr lang="zh-CN" altLang="en-US" sz="1600" b="1"/>
              <a:t>承载）</a:t>
            </a:r>
            <a:endParaRPr lang="zh-CN" altLang="en-US" sz="1600" b="1"/>
          </a:p>
        </p:txBody>
      </p:sp>
      <p:sp>
        <p:nvSpPr>
          <p:cNvPr id="9" name="矩形 8"/>
          <p:cNvSpPr/>
          <p:nvPr/>
        </p:nvSpPr>
        <p:spPr>
          <a:xfrm>
            <a:off x="2789555" y="1769745"/>
            <a:ext cx="5760720" cy="6915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430270" y="1769745"/>
            <a:ext cx="486346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单层</a:t>
            </a:r>
            <a:r>
              <a:rPr lang="en-US" altLang="zh-CN" sz="1600"/>
              <a:t>LEO</a:t>
            </a:r>
            <a:r>
              <a:rPr lang="zh-CN" altLang="en-US" sz="1600"/>
              <a:t>星座</a:t>
            </a:r>
            <a:r>
              <a:rPr lang="zh-CN" altLang="en-US" sz="1600"/>
              <a:t>下，海量用户对地发起异构业务传输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3237865" y="2089785"/>
            <a:ext cx="486346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（状态感知</a:t>
            </a:r>
            <a:r>
              <a:rPr lang="en-US" altLang="zh-CN" sz="1600"/>
              <a:t> 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</a:rPr>
              <a:t>接入切换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</a:rPr>
              <a:t>资源调度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</a:rPr>
              <a:t>端到端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</a:rPr>
              <a:t>传输）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9180" y="3355975"/>
            <a:ext cx="129413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/>
              <a:t>问题与</a:t>
            </a:r>
            <a:r>
              <a:rPr lang="zh-CN" altLang="en-US" sz="1600" b="1"/>
              <a:t>挑战</a:t>
            </a:r>
            <a:endParaRPr lang="zh-CN" altLang="en-US" sz="1600" b="1"/>
          </a:p>
        </p:txBody>
      </p:sp>
      <p:sp>
        <p:nvSpPr>
          <p:cNvPr id="13" name="矩形 12"/>
          <p:cNvSpPr/>
          <p:nvPr/>
        </p:nvSpPr>
        <p:spPr>
          <a:xfrm>
            <a:off x="2461260" y="2988945"/>
            <a:ext cx="1586230" cy="10655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398395" y="2988945"/>
            <a:ext cx="173482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/>
              <a:t>不可靠的控制面传输导致协作时对邻居</a:t>
            </a:r>
            <a:r>
              <a:rPr lang="zh-CN" altLang="en-US" sz="1600"/>
              <a:t>状态的错误估计</a:t>
            </a:r>
            <a:endParaRPr lang="zh-CN" altLang="en-US" sz="1600"/>
          </a:p>
        </p:txBody>
      </p:sp>
      <p:grpSp>
        <p:nvGrpSpPr>
          <p:cNvPr id="21" name="组合 20"/>
          <p:cNvGrpSpPr/>
          <p:nvPr/>
        </p:nvGrpSpPr>
        <p:grpSpPr>
          <a:xfrm>
            <a:off x="4046855" y="2988945"/>
            <a:ext cx="1734820" cy="1065530"/>
            <a:chOff x="8434" y="7576"/>
            <a:chExt cx="2732" cy="1678"/>
          </a:xfrm>
        </p:grpSpPr>
        <p:sp>
          <p:nvSpPr>
            <p:cNvPr id="19" name="文本框 18"/>
            <p:cNvSpPr txBox="1"/>
            <p:nvPr/>
          </p:nvSpPr>
          <p:spPr>
            <a:xfrm>
              <a:off x="8434" y="7689"/>
              <a:ext cx="27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/>
                <a:t>用户利己性导致卫星拥塞，切换频繁</a:t>
              </a:r>
              <a:r>
                <a:rPr lang="zh-CN" altLang="en-US" sz="1600"/>
                <a:t>碰撞</a:t>
              </a:r>
              <a:endParaRPr lang="zh-CN" altLang="en-US" sz="1600"/>
            </a:p>
          </p:txBody>
        </p:sp>
        <p:sp>
          <p:nvSpPr>
            <p:cNvPr id="20" name="矩形 19"/>
            <p:cNvSpPr/>
            <p:nvPr/>
          </p:nvSpPr>
          <p:spPr>
            <a:xfrm>
              <a:off x="8544" y="7576"/>
              <a:ext cx="2498" cy="16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774055" y="2988945"/>
            <a:ext cx="1734820" cy="1065530"/>
            <a:chOff x="8456" y="7576"/>
            <a:chExt cx="2732" cy="1678"/>
          </a:xfrm>
        </p:grpSpPr>
        <p:sp>
          <p:nvSpPr>
            <p:cNvPr id="23" name="文本框 22"/>
            <p:cNvSpPr txBox="1"/>
            <p:nvPr/>
          </p:nvSpPr>
          <p:spPr>
            <a:xfrm>
              <a:off x="8456" y="7689"/>
              <a:ext cx="27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/>
                <a:t>切片</a:t>
              </a:r>
              <a:r>
                <a:rPr lang="en-US" altLang="zh-CN" sz="1600"/>
                <a:t>-MAC</a:t>
              </a:r>
              <a:r>
                <a:rPr lang="zh-CN" altLang="en-US" sz="1600"/>
                <a:t>的不</a:t>
              </a:r>
              <a:r>
                <a:rPr lang="zh-CN" altLang="en-US" sz="1600"/>
                <a:t>匹配难以保障卫星用户的长期</a:t>
              </a:r>
              <a:r>
                <a:rPr lang="en-US" altLang="zh-CN" sz="1600"/>
                <a:t>Q</a:t>
              </a:r>
              <a:r>
                <a:rPr lang="en-US" altLang="zh-CN" sz="1600"/>
                <a:t>oS</a:t>
              </a:r>
              <a:endParaRPr lang="en-US" altLang="zh-CN" sz="1600"/>
            </a:p>
          </p:txBody>
        </p:sp>
        <p:sp>
          <p:nvSpPr>
            <p:cNvPr id="24" name="矩形 23"/>
            <p:cNvSpPr/>
            <p:nvPr/>
          </p:nvSpPr>
          <p:spPr>
            <a:xfrm>
              <a:off x="8544" y="7576"/>
              <a:ext cx="2498" cy="16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494270" y="2988945"/>
            <a:ext cx="1734820" cy="1148080"/>
            <a:chOff x="8467" y="7576"/>
            <a:chExt cx="2732" cy="1808"/>
          </a:xfrm>
        </p:grpSpPr>
        <p:sp>
          <p:nvSpPr>
            <p:cNvPr id="26" name="文本框 25"/>
            <p:cNvSpPr txBox="1"/>
            <p:nvPr/>
          </p:nvSpPr>
          <p:spPr>
            <a:xfrm>
              <a:off x="8467" y="7689"/>
              <a:ext cx="2732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/>
                <a:t>星上硬件与时延约束使传统语义编码与恢复不</a:t>
              </a:r>
              <a:r>
                <a:rPr lang="zh-CN" altLang="en-US" sz="1600"/>
                <a:t>可用</a:t>
              </a:r>
              <a:endParaRPr lang="zh-CN" altLang="en-US" sz="1600"/>
            </a:p>
          </p:txBody>
        </p:sp>
        <p:sp>
          <p:nvSpPr>
            <p:cNvPr id="27" name="矩形 26"/>
            <p:cNvSpPr/>
            <p:nvPr/>
          </p:nvSpPr>
          <p:spPr>
            <a:xfrm>
              <a:off x="8544" y="7576"/>
              <a:ext cx="2498" cy="16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1241425" y="4688840"/>
            <a:ext cx="104203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/>
              <a:t>研究</a:t>
            </a:r>
            <a:r>
              <a:rPr lang="zh-CN" altLang="en-US" sz="1600" b="1"/>
              <a:t>内容</a:t>
            </a:r>
            <a:endParaRPr lang="zh-CN" altLang="en-US" sz="1600" b="1"/>
          </a:p>
        </p:txBody>
      </p:sp>
      <p:grpSp>
        <p:nvGrpSpPr>
          <p:cNvPr id="35" name="组合 34"/>
          <p:cNvGrpSpPr/>
          <p:nvPr/>
        </p:nvGrpSpPr>
        <p:grpSpPr>
          <a:xfrm>
            <a:off x="2370455" y="4378325"/>
            <a:ext cx="1734820" cy="1065530"/>
            <a:chOff x="8401" y="7576"/>
            <a:chExt cx="2732" cy="1678"/>
          </a:xfrm>
        </p:grpSpPr>
        <p:sp>
          <p:nvSpPr>
            <p:cNvPr id="36" name="文本框 35"/>
            <p:cNvSpPr txBox="1"/>
            <p:nvPr/>
          </p:nvSpPr>
          <p:spPr>
            <a:xfrm>
              <a:off x="8401" y="7689"/>
              <a:ext cx="27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 b="1"/>
                <a:t>多源置信度调控的分布式网络状态感知方法</a:t>
              </a:r>
              <a:endParaRPr lang="zh-CN" altLang="en-US" sz="1600" b="1"/>
            </a:p>
          </p:txBody>
        </p:sp>
        <p:sp>
          <p:nvSpPr>
            <p:cNvPr id="37" name="矩形 36"/>
            <p:cNvSpPr/>
            <p:nvPr/>
          </p:nvSpPr>
          <p:spPr>
            <a:xfrm>
              <a:off x="8544" y="7576"/>
              <a:ext cx="2498" cy="16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38" name="直接箭头连接符 37"/>
          <p:cNvCxnSpPr>
            <a:endCxn id="16" idx="0"/>
          </p:cNvCxnSpPr>
          <p:nvPr/>
        </p:nvCxnSpPr>
        <p:spPr>
          <a:xfrm flipH="1">
            <a:off x="3265805" y="2468880"/>
            <a:ext cx="0" cy="520065"/>
          </a:xfrm>
          <a:prstGeom prst="straightConnector1">
            <a:avLst/>
          </a:prstGeom>
          <a:ln w="222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H="1">
            <a:off x="4909820" y="2447925"/>
            <a:ext cx="0" cy="520065"/>
          </a:xfrm>
          <a:prstGeom prst="straightConnector1">
            <a:avLst/>
          </a:prstGeom>
          <a:ln w="222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>
            <a:off x="6623050" y="2465070"/>
            <a:ext cx="0" cy="520065"/>
          </a:xfrm>
          <a:prstGeom prst="straightConnector1">
            <a:avLst/>
          </a:prstGeom>
          <a:ln w="222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>
            <a:off x="8336280" y="2447925"/>
            <a:ext cx="0" cy="520065"/>
          </a:xfrm>
          <a:prstGeom prst="straightConnector1">
            <a:avLst/>
          </a:prstGeom>
          <a:ln w="222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>
            <a:off x="3328670" y="4066540"/>
            <a:ext cx="0" cy="320675"/>
          </a:xfrm>
          <a:prstGeom prst="straightConnector1">
            <a:avLst/>
          </a:prstGeom>
          <a:ln w="222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4042410" y="4387215"/>
            <a:ext cx="1734820" cy="1065530"/>
            <a:chOff x="8401" y="7576"/>
            <a:chExt cx="2732" cy="1678"/>
          </a:xfrm>
        </p:grpSpPr>
        <p:sp>
          <p:nvSpPr>
            <p:cNvPr id="44" name="文本框 43"/>
            <p:cNvSpPr txBox="1"/>
            <p:nvPr/>
          </p:nvSpPr>
          <p:spPr>
            <a:xfrm>
              <a:off x="8401" y="7689"/>
              <a:ext cx="27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 b="1"/>
                <a:t>基于局部公平性估计的分布式协作接入切换机制</a:t>
              </a:r>
              <a:endParaRPr lang="zh-CN" altLang="en-US" sz="1600" b="1"/>
            </a:p>
          </p:txBody>
        </p:sp>
        <p:sp>
          <p:nvSpPr>
            <p:cNvPr id="45" name="矩形 44"/>
            <p:cNvSpPr/>
            <p:nvPr/>
          </p:nvSpPr>
          <p:spPr>
            <a:xfrm>
              <a:off x="8544" y="7576"/>
              <a:ext cx="2498" cy="16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5741670" y="4387215"/>
            <a:ext cx="1734820" cy="1148080"/>
            <a:chOff x="8401" y="7576"/>
            <a:chExt cx="2732" cy="1808"/>
          </a:xfrm>
        </p:grpSpPr>
        <p:sp>
          <p:nvSpPr>
            <p:cNvPr id="47" name="文本框 46"/>
            <p:cNvSpPr txBox="1"/>
            <p:nvPr/>
          </p:nvSpPr>
          <p:spPr>
            <a:xfrm>
              <a:off x="8401" y="7689"/>
              <a:ext cx="2732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 b="1"/>
                <a:t>基于生成式网络态势感知的切片--</a:t>
              </a:r>
              <a:r>
                <a:rPr lang="en-US" altLang="zh-CN" sz="1600" b="1"/>
                <a:t>MAC </a:t>
              </a:r>
              <a:r>
                <a:rPr lang="zh-CN" altLang="en-US" sz="1600" b="1"/>
                <a:t>分层协作</a:t>
              </a:r>
              <a:endParaRPr lang="zh-CN" altLang="en-US" sz="1600" b="1"/>
            </a:p>
            <a:p>
              <a:pPr algn="ctr"/>
              <a:r>
                <a:rPr lang="zh-CN" altLang="en-US" sz="1600" b="1"/>
                <a:t>优化</a:t>
              </a:r>
              <a:endParaRPr lang="zh-CN" altLang="en-US" sz="1600" b="1"/>
            </a:p>
          </p:txBody>
        </p:sp>
        <p:sp>
          <p:nvSpPr>
            <p:cNvPr id="48" name="矩形 47"/>
            <p:cNvSpPr/>
            <p:nvPr/>
          </p:nvSpPr>
          <p:spPr>
            <a:xfrm>
              <a:off x="8544" y="7576"/>
              <a:ext cx="2498" cy="16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49" name="直接箭头连接符 48"/>
          <p:cNvCxnSpPr/>
          <p:nvPr/>
        </p:nvCxnSpPr>
        <p:spPr>
          <a:xfrm flipH="1">
            <a:off x="4909820" y="4054475"/>
            <a:ext cx="0" cy="320675"/>
          </a:xfrm>
          <a:prstGeom prst="straightConnector1">
            <a:avLst/>
          </a:prstGeom>
          <a:ln w="222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H="1">
            <a:off x="6641465" y="4054475"/>
            <a:ext cx="0" cy="320675"/>
          </a:xfrm>
          <a:prstGeom prst="straightConnector1">
            <a:avLst/>
          </a:prstGeom>
          <a:ln w="222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1" name="组合 50"/>
          <p:cNvGrpSpPr/>
          <p:nvPr/>
        </p:nvGrpSpPr>
        <p:grpSpPr>
          <a:xfrm>
            <a:off x="7478395" y="4387215"/>
            <a:ext cx="1734820" cy="1148080"/>
            <a:chOff x="8401" y="7576"/>
            <a:chExt cx="2732" cy="1808"/>
          </a:xfrm>
        </p:grpSpPr>
        <p:sp>
          <p:nvSpPr>
            <p:cNvPr id="52" name="文本框 51"/>
            <p:cNvSpPr txBox="1"/>
            <p:nvPr/>
          </p:nvSpPr>
          <p:spPr>
            <a:xfrm>
              <a:off x="8401" y="7689"/>
              <a:ext cx="2732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 b="1"/>
                <a:t>基于任务反馈与协同增量重传的轻量化语义传输机制</a:t>
              </a:r>
              <a:endParaRPr lang="zh-CN" altLang="en-US" sz="1600" b="1"/>
            </a:p>
          </p:txBody>
        </p:sp>
        <p:sp>
          <p:nvSpPr>
            <p:cNvPr id="53" name="矩形 52"/>
            <p:cNvSpPr/>
            <p:nvPr/>
          </p:nvSpPr>
          <p:spPr>
            <a:xfrm>
              <a:off x="8544" y="7576"/>
              <a:ext cx="2498" cy="16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54" name="直接箭头连接符 53"/>
          <p:cNvCxnSpPr/>
          <p:nvPr/>
        </p:nvCxnSpPr>
        <p:spPr>
          <a:xfrm flipH="1">
            <a:off x="8373110" y="4054475"/>
            <a:ext cx="0" cy="320675"/>
          </a:xfrm>
          <a:prstGeom prst="straightConnector1">
            <a:avLst/>
          </a:prstGeom>
          <a:ln w="222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1205865" y="5955030"/>
            <a:ext cx="104203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/>
              <a:t>研究</a:t>
            </a:r>
            <a:r>
              <a:rPr lang="zh-CN" altLang="en-US" sz="1600" b="1"/>
              <a:t>目标</a:t>
            </a:r>
            <a:endParaRPr lang="zh-CN" altLang="en-US" sz="1600" b="1"/>
          </a:p>
        </p:txBody>
      </p:sp>
      <p:sp>
        <p:nvSpPr>
          <p:cNvPr id="56" name="矩形 55"/>
          <p:cNvSpPr/>
          <p:nvPr/>
        </p:nvSpPr>
        <p:spPr>
          <a:xfrm>
            <a:off x="2338705" y="1647190"/>
            <a:ext cx="6890385" cy="3965575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下箭头 5"/>
          <p:cNvSpPr/>
          <p:nvPr/>
        </p:nvSpPr>
        <p:spPr>
          <a:xfrm>
            <a:off x="5377180" y="1334770"/>
            <a:ext cx="396875" cy="396875"/>
          </a:xfrm>
          <a:prstGeom prst="downArrow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下箭头 56"/>
          <p:cNvSpPr/>
          <p:nvPr/>
        </p:nvSpPr>
        <p:spPr>
          <a:xfrm>
            <a:off x="3129915" y="5535295"/>
            <a:ext cx="396875" cy="396875"/>
          </a:xfrm>
          <a:prstGeom prst="downArrow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下箭头 57"/>
          <p:cNvSpPr/>
          <p:nvPr/>
        </p:nvSpPr>
        <p:spPr>
          <a:xfrm>
            <a:off x="4728210" y="5535295"/>
            <a:ext cx="396875" cy="396875"/>
          </a:xfrm>
          <a:prstGeom prst="downArrow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下箭头 58"/>
          <p:cNvSpPr/>
          <p:nvPr/>
        </p:nvSpPr>
        <p:spPr>
          <a:xfrm>
            <a:off x="6443345" y="5558155"/>
            <a:ext cx="396875" cy="396875"/>
          </a:xfrm>
          <a:prstGeom prst="downArrow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下箭头 59"/>
          <p:cNvSpPr/>
          <p:nvPr/>
        </p:nvSpPr>
        <p:spPr>
          <a:xfrm>
            <a:off x="8158480" y="5535295"/>
            <a:ext cx="396875" cy="396875"/>
          </a:xfrm>
          <a:prstGeom prst="downArrow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2312035" y="5963285"/>
            <a:ext cx="6900545" cy="6559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2370455" y="6021705"/>
            <a:ext cx="6682105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1600" b="1"/>
              <a:t>构建感知</a:t>
            </a:r>
            <a:r>
              <a:rPr lang="en-US" altLang="zh-CN" sz="1600" b="1"/>
              <a:t>-</a:t>
            </a:r>
            <a:r>
              <a:rPr lang="zh-CN" altLang="en-US" sz="1600" b="1"/>
              <a:t>决策闭环的分布式管控框架，提升星上自治能力并保障用户级端到端业务 </a:t>
            </a:r>
            <a:r>
              <a:rPr lang="en-US" altLang="zh-CN" sz="1600" b="1"/>
              <a:t>QoS</a:t>
            </a:r>
            <a:endParaRPr lang="en-US" altLang="zh-CN" sz="16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WPS 演示</Application>
  <PresentationFormat>宽屏</PresentationFormat>
  <Paragraphs>34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51</cp:revision>
  <dcterms:created xsi:type="dcterms:W3CDTF">2023-08-09T12:44:00Z</dcterms:created>
  <dcterms:modified xsi:type="dcterms:W3CDTF">2026-06-29T16:14:56Z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82E270E24820429391A6C26D26E19FB8_12</vt:lpwstr>
  </property>
</Properties>
</file>