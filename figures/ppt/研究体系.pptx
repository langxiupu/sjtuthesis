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0" r:id="rId1"/>
  </p:sldMasterIdLst>
  <p:notesMasterIdLst>
    <p:notesMasterId r:id="rId3"/>
  </p:notesMasterIdLst>
  <p:sldIdLst>
    <p:sldId id="257" r:id="rId2"/>
  </p:sldIdLst>
  <p:sldSz cx="89995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65B2"/>
    <a:srgbClr val="016AC0"/>
    <a:srgbClr val="E6E6E6"/>
    <a:srgbClr val="0137A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-590" y="1121"/>
      </p:cViewPr>
      <p:guideLst>
        <p:guide orient="horz" pos="2160"/>
        <p:guide pos="281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403350" y="1143000"/>
            <a:ext cx="40513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528B0-F467-F5FE-DDFE-03B64142F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20E89F6-98AF-2AEE-036D-99CFE9E328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403350" y="1143000"/>
            <a:ext cx="4051300" cy="3086100"/>
          </a:xfrm>
        </p:spPr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98A96A9-5907-E5F6-2A1C-8CE0F08D3A46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0903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74966" y="1122363"/>
            <a:ext cx="7649607" cy="2387600"/>
          </a:xfrm>
        </p:spPr>
        <p:txBody>
          <a:bodyPr anchor="b"/>
          <a:lstStyle>
            <a:lvl1pPr algn="ctr">
              <a:defRPr sz="590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4942" y="3602038"/>
            <a:ext cx="6749654" cy="1655762"/>
          </a:xfrm>
        </p:spPr>
        <p:txBody>
          <a:bodyPr/>
          <a:lstStyle>
            <a:lvl1pPr marL="0" indent="0" algn="ctr">
              <a:buNone/>
              <a:defRPr sz="2362"/>
            </a:lvl1pPr>
            <a:lvl2pPr marL="449976" indent="0" algn="ctr">
              <a:buNone/>
              <a:defRPr sz="1968"/>
            </a:lvl2pPr>
            <a:lvl3pPr marL="899952" indent="0" algn="ctr">
              <a:buNone/>
              <a:defRPr sz="1772"/>
            </a:lvl3pPr>
            <a:lvl4pPr marL="1349929" indent="0" algn="ctr">
              <a:buNone/>
              <a:defRPr sz="1575"/>
            </a:lvl4pPr>
            <a:lvl5pPr marL="1799905" indent="0" algn="ctr">
              <a:buNone/>
              <a:defRPr sz="1575"/>
            </a:lvl5pPr>
            <a:lvl6pPr marL="2249881" indent="0" algn="ctr">
              <a:buNone/>
              <a:defRPr sz="1575"/>
            </a:lvl6pPr>
            <a:lvl7pPr marL="2699857" indent="0" algn="ctr">
              <a:buNone/>
              <a:defRPr sz="1575"/>
            </a:lvl7pPr>
            <a:lvl8pPr marL="3149834" indent="0" algn="ctr">
              <a:buNone/>
              <a:defRPr sz="1575"/>
            </a:lvl8pPr>
            <a:lvl9pPr marL="3599810" indent="0" algn="ctr">
              <a:buNone/>
              <a:defRPr sz="1575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2011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26933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031" y="1709740"/>
            <a:ext cx="7762102" cy="2852737"/>
          </a:xfrm>
        </p:spPr>
        <p:txBody>
          <a:bodyPr anchor="b"/>
          <a:lstStyle>
            <a:lvl1pPr>
              <a:defRPr sz="590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4031" y="4589465"/>
            <a:ext cx="7762102" cy="1500187"/>
          </a:xfrm>
        </p:spPr>
        <p:txBody>
          <a:bodyPr/>
          <a:lstStyle>
            <a:lvl1pPr marL="0" indent="0">
              <a:buNone/>
              <a:defRPr sz="2362">
                <a:solidFill>
                  <a:schemeClr val="tx1"/>
                </a:solidFill>
              </a:defRPr>
            </a:lvl1pPr>
            <a:lvl2pPr marL="449976" indent="0">
              <a:buNone/>
              <a:defRPr sz="1968">
                <a:solidFill>
                  <a:schemeClr val="tx1">
                    <a:tint val="75000"/>
                  </a:schemeClr>
                </a:solidFill>
              </a:defRPr>
            </a:lvl2pPr>
            <a:lvl3pPr marL="899952" indent="0">
              <a:buNone/>
              <a:defRPr sz="1772">
                <a:solidFill>
                  <a:schemeClr val="tx1">
                    <a:tint val="75000"/>
                  </a:schemeClr>
                </a:solidFill>
              </a:defRPr>
            </a:lvl3pPr>
            <a:lvl4pPr marL="1349929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4pPr>
            <a:lvl5pPr marL="1799905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5pPr>
            <a:lvl6pPr marL="2249881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6pPr>
            <a:lvl7pPr marL="2699857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7pPr>
            <a:lvl8pPr marL="3149834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8pPr>
            <a:lvl9pPr marL="3599810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5832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8718" y="1825625"/>
            <a:ext cx="3824804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56016" y="1825625"/>
            <a:ext cx="3824804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3158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0" y="365127"/>
            <a:ext cx="7762102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9891" y="1681163"/>
            <a:ext cx="3807226" cy="823912"/>
          </a:xfrm>
        </p:spPr>
        <p:txBody>
          <a:bodyPr anchor="b"/>
          <a:lstStyle>
            <a:lvl1pPr marL="0" indent="0">
              <a:buNone/>
              <a:defRPr sz="2362" b="1"/>
            </a:lvl1pPr>
            <a:lvl2pPr marL="449976" indent="0">
              <a:buNone/>
              <a:defRPr sz="1968" b="1"/>
            </a:lvl2pPr>
            <a:lvl3pPr marL="899952" indent="0">
              <a:buNone/>
              <a:defRPr sz="1772" b="1"/>
            </a:lvl3pPr>
            <a:lvl4pPr marL="1349929" indent="0">
              <a:buNone/>
              <a:defRPr sz="1575" b="1"/>
            </a:lvl4pPr>
            <a:lvl5pPr marL="1799905" indent="0">
              <a:buNone/>
              <a:defRPr sz="1575" b="1"/>
            </a:lvl5pPr>
            <a:lvl6pPr marL="2249881" indent="0">
              <a:buNone/>
              <a:defRPr sz="1575" b="1"/>
            </a:lvl6pPr>
            <a:lvl7pPr marL="2699857" indent="0">
              <a:buNone/>
              <a:defRPr sz="1575" b="1"/>
            </a:lvl7pPr>
            <a:lvl8pPr marL="3149834" indent="0">
              <a:buNone/>
              <a:defRPr sz="1575" b="1"/>
            </a:lvl8pPr>
            <a:lvl9pPr marL="3599810" indent="0">
              <a:buNone/>
              <a:defRPr sz="1575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891" y="2505075"/>
            <a:ext cx="3807226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6017" y="1681163"/>
            <a:ext cx="3825976" cy="823912"/>
          </a:xfrm>
        </p:spPr>
        <p:txBody>
          <a:bodyPr anchor="b"/>
          <a:lstStyle>
            <a:lvl1pPr marL="0" indent="0">
              <a:buNone/>
              <a:defRPr sz="2362" b="1"/>
            </a:lvl1pPr>
            <a:lvl2pPr marL="449976" indent="0">
              <a:buNone/>
              <a:defRPr sz="1968" b="1"/>
            </a:lvl2pPr>
            <a:lvl3pPr marL="899952" indent="0">
              <a:buNone/>
              <a:defRPr sz="1772" b="1"/>
            </a:lvl3pPr>
            <a:lvl4pPr marL="1349929" indent="0">
              <a:buNone/>
              <a:defRPr sz="1575" b="1"/>
            </a:lvl4pPr>
            <a:lvl5pPr marL="1799905" indent="0">
              <a:buNone/>
              <a:defRPr sz="1575" b="1"/>
            </a:lvl5pPr>
            <a:lvl6pPr marL="2249881" indent="0">
              <a:buNone/>
              <a:defRPr sz="1575" b="1"/>
            </a:lvl6pPr>
            <a:lvl7pPr marL="2699857" indent="0">
              <a:buNone/>
              <a:defRPr sz="1575" b="1"/>
            </a:lvl7pPr>
            <a:lvl8pPr marL="3149834" indent="0">
              <a:buNone/>
              <a:defRPr sz="1575" b="1"/>
            </a:lvl8pPr>
            <a:lvl9pPr marL="3599810" indent="0">
              <a:buNone/>
              <a:defRPr sz="1575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56017" y="2505075"/>
            <a:ext cx="3825976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6174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94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0001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457200"/>
            <a:ext cx="2902585" cy="1600200"/>
          </a:xfrm>
        </p:spPr>
        <p:txBody>
          <a:bodyPr anchor="b"/>
          <a:lstStyle>
            <a:lvl1pPr>
              <a:defRPr sz="314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5976" y="987427"/>
            <a:ext cx="4556016" cy="4873625"/>
          </a:xfrm>
        </p:spPr>
        <p:txBody>
          <a:bodyPr/>
          <a:lstStyle>
            <a:lvl1pPr>
              <a:defRPr sz="3149"/>
            </a:lvl1pPr>
            <a:lvl2pPr>
              <a:defRPr sz="2756"/>
            </a:lvl2pPr>
            <a:lvl3pPr>
              <a:defRPr sz="2362"/>
            </a:lvl3pPr>
            <a:lvl4pPr>
              <a:defRPr sz="1968"/>
            </a:lvl4pPr>
            <a:lvl5pPr>
              <a:defRPr sz="1968"/>
            </a:lvl5pPr>
            <a:lvl6pPr>
              <a:defRPr sz="1968"/>
            </a:lvl6pPr>
            <a:lvl7pPr>
              <a:defRPr sz="1968"/>
            </a:lvl7pPr>
            <a:lvl8pPr>
              <a:defRPr sz="1968"/>
            </a:lvl8pPr>
            <a:lvl9pPr>
              <a:defRPr sz="1968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2057400"/>
            <a:ext cx="2902585" cy="3811588"/>
          </a:xfrm>
        </p:spPr>
        <p:txBody>
          <a:bodyPr/>
          <a:lstStyle>
            <a:lvl1pPr marL="0" indent="0">
              <a:buNone/>
              <a:defRPr sz="1575"/>
            </a:lvl1pPr>
            <a:lvl2pPr marL="449976" indent="0">
              <a:buNone/>
              <a:defRPr sz="1378"/>
            </a:lvl2pPr>
            <a:lvl3pPr marL="899952" indent="0">
              <a:buNone/>
              <a:defRPr sz="1181"/>
            </a:lvl3pPr>
            <a:lvl4pPr marL="1349929" indent="0">
              <a:buNone/>
              <a:defRPr sz="984"/>
            </a:lvl4pPr>
            <a:lvl5pPr marL="1799905" indent="0">
              <a:buNone/>
              <a:defRPr sz="984"/>
            </a:lvl5pPr>
            <a:lvl6pPr marL="2249881" indent="0">
              <a:buNone/>
              <a:defRPr sz="984"/>
            </a:lvl6pPr>
            <a:lvl7pPr marL="2699857" indent="0">
              <a:buNone/>
              <a:defRPr sz="984"/>
            </a:lvl7pPr>
            <a:lvl8pPr marL="3149834" indent="0">
              <a:buNone/>
              <a:defRPr sz="984"/>
            </a:lvl8pPr>
            <a:lvl9pPr marL="3599810" indent="0">
              <a:buNone/>
              <a:defRPr sz="98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9205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457200"/>
            <a:ext cx="2902585" cy="1600200"/>
          </a:xfrm>
        </p:spPr>
        <p:txBody>
          <a:bodyPr anchor="b"/>
          <a:lstStyle>
            <a:lvl1pPr>
              <a:defRPr sz="314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25976" y="987427"/>
            <a:ext cx="4556016" cy="4873625"/>
          </a:xfrm>
        </p:spPr>
        <p:txBody>
          <a:bodyPr anchor="t"/>
          <a:lstStyle>
            <a:lvl1pPr marL="0" indent="0">
              <a:buNone/>
              <a:defRPr sz="3149"/>
            </a:lvl1pPr>
            <a:lvl2pPr marL="449976" indent="0">
              <a:buNone/>
              <a:defRPr sz="2756"/>
            </a:lvl2pPr>
            <a:lvl3pPr marL="899952" indent="0">
              <a:buNone/>
              <a:defRPr sz="2362"/>
            </a:lvl3pPr>
            <a:lvl4pPr marL="1349929" indent="0">
              <a:buNone/>
              <a:defRPr sz="1968"/>
            </a:lvl4pPr>
            <a:lvl5pPr marL="1799905" indent="0">
              <a:buNone/>
              <a:defRPr sz="1968"/>
            </a:lvl5pPr>
            <a:lvl6pPr marL="2249881" indent="0">
              <a:buNone/>
              <a:defRPr sz="1968"/>
            </a:lvl6pPr>
            <a:lvl7pPr marL="2699857" indent="0">
              <a:buNone/>
              <a:defRPr sz="1968"/>
            </a:lvl7pPr>
            <a:lvl8pPr marL="3149834" indent="0">
              <a:buNone/>
              <a:defRPr sz="1968"/>
            </a:lvl8pPr>
            <a:lvl9pPr marL="3599810" indent="0">
              <a:buNone/>
              <a:defRPr sz="1968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2057400"/>
            <a:ext cx="2902585" cy="3811588"/>
          </a:xfrm>
        </p:spPr>
        <p:txBody>
          <a:bodyPr/>
          <a:lstStyle>
            <a:lvl1pPr marL="0" indent="0">
              <a:buNone/>
              <a:defRPr sz="1575"/>
            </a:lvl1pPr>
            <a:lvl2pPr marL="449976" indent="0">
              <a:buNone/>
              <a:defRPr sz="1378"/>
            </a:lvl2pPr>
            <a:lvl3pPr marL="899952" indent="0">
              <a:buNone/>
              <a:defRPr sz="1181"/>
            </a:lvl3pPr>
            <a:lvl4pPr marL="1349929" indent="0">
              <a:buNone/>
              <a:defRPr sz="984"/>
            </a:lvl4pPr>
            <a:lvl5pPr marL="1799905" indent="0">
              <a:buNone/>
              <a:defRPr sz="984"/>
            </a:lvl5pPr>
            <a:lvl6pPr marL="2249881" indent="0">
              <a:buNone/>
              <a:defRPr sz="984"/>
            </a:lvl6pPr>
            <a:lvl7pPr marL="2699857" indent="0">
              <a:buNone/>
              <a:defRPr sz="984"/>
            </a:lvl7pPr>
            <a:lvl8pPr marL="3149834" indent="0">
              <a:buNone/>
              <a:defRPr sz="984"/>
            </a:lvl8pPr>
            <a:lvl9pPr marL="3599810" indent="0">
              <a:buNone/>
              <a:defRPr sz="98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6069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7821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40295" y="365125"/>
            <a:ext cx="1940525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18719" y="365125"/>
            <a:ext cx="5709082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4003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718" y="365127"/>
            <a:ext cx="776210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8718" y="1825625"/>
            <a:ext cx="776210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8718" y="6356352"/>
            <a:ext cx="20248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8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81097" y="6356352"/>
            <a:ext cx="30373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8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355924" y="6356352"/>
            <a:ext cx="20248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8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6869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899952" rtl="0" eaLnBrk="1" latinLnBrk="0" hangingPunct="1">
        <a:lnSpc>
          <a:spcPct val="90000"/>
        </a:lnSpc>
        <a:spcBef>
          <a:spcPct val="0"/>
        </a:spcBef>
        <a:buNone/>
        <a:defRPr sz="43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4988" indent="-224988" algn="l" defTabSz="899952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2756" kern="1200">
          <a:solidFill>
            <a:schemeClr val="tx1"/>
          </a:solidFill>
          <a:latin typeface="+mn-lt"/>
          <a:ea typeface="+mn-ea"/>
          <a:cs typeface="+mn-cs"/>
        </a:defRPr>
      </a:lvl1pPr>
      <a:lvl2pPr marL="674964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2pPr>
      <a:lvl3pPr marL="1124941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968" kern="1200">
          <a:solidFill>
            <a:schemeClr val="tx1"/>
          </a:solidFill>
          <a:latin typeface="+mn-lt"/>
          <a:ea typeface="+mn-ea"/>
          <a:cs typeface="+mn-cs"/>
        </a:defRPr>
      </a:lvl3pPr>
      <a:lvl4pPr marL="1574917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4pPr>
      <a:lvl5pPr marL="2024893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5pPr>
      <a:lvl6pPr marL="2474869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6pPr>
      <a:lvl7pPr marL="2924846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7pPr>
      <a:lvl8pPr marL="3374822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8pPr>
      <a:lvl9pPr marL="3824798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1pPr>
      <a:lvl2pPr marL="449976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2pPr>
      <a:lvl3pPr marL="899952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3pPr>
      <a:lvl4pPr marL="1349929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4pPr>
      <a:lvl5pPr marL="1799905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5pPr>
      <a:lvl6pPr marL="2249881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6pPr>
      <a:lvl7pPr marL="2699857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7pPr>
      <a:lvl8pPr marL="3149834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8pPr>
      <a:lvl9pPr marL="3599810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D4B3A-62A0-537F-41ED-7B7E36DE0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xmlns:a16="http://schemas.microsoft.com/office/drawing/2014/main" id="{004A41BC-0D42-838A-F750-DC849582180D}"/>
              </a:ext>
            </a:extLst>
          </p:cNvPr>
          <p:cNvGrpSpPr/>
          <p:nvPr/>
        </p:nvGrpSpPr>
        <p:grpSpPr>
          <a:xfrm>
            <a:off x="1666843" y="-1077795"/>
            <a:ext cx="6744082" cy="3418410"/>
            <a:chOff x="3210022" y="-975052"/>
            <a:chExt cx="5146578" cy="3611572"/>
          </a:xfrm>
        </p:grpSpPr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CB292D00-C865-6EA7-B978-A3496DC2CF26}"/>
                </a:ext>
              </a:extLst>
            </p:cNvPr>
            <p:cNvGrpSpPr/>
            <p:nvPr/>
          </p:nvGrpSpPr>
          <p:grpSpPr>
            <a:xfrm>
              <a:off x="3210022" y="-975052"/>
              <a:ext cx="5146578" cy="3611572"/>
              <a:chOff x="2746847" y="-855822"/>
              <a:chExt cx="5972560" cy="4367876"/>
            </a:xfrm>
          </p:grpSpPr>
          <p:sp>
            <p:nvSpPr>
              <p:cNvPr id="30" name="椭圆 29">
                <a:extLst>
                  <a:ext uri="{FF2B5EF4-FFF2-40B4-BE49-F238E27FC236}">
                    <a16:creationId xmlns:a16="http://schemas.microsoft.com/office/drawing/2014/main" id="{DC3E16CB-FF20-B32D-E3BF-C043CF85583C}"/>
                  </a:ext>
                </a:extLst>
              </p:cNvPr>
              <p:cNvSpPr/>
              <p:nvPr/>
            </p:nvSpPr>
            <p:spPr>
              <a:xfrm>
                <a:off x="2746847" y="-855822"/>
                <a:ext cx="5972560" cy="4367876"/>
              </a:xfrm>
              <a:prstGeom prst="ellipse">
                <a:avLst/>
              </a:prstGeom>
              <a:gradFill>
                <a:gsLst>
                  <a:gs pos="5000">
                    <a:srgbClr val="1976E7">
                      <a:alpha val="0"/>
                    </a:srgbClr>
                  </a:gs>
                  <a:gs pos="100000">
                    <a:srgbClr val="0134A3">
                      <a:alpha val="18000"/>
                    </a:srgbClr>
                  </a:gs>
                </a:gsLst>
                <a:lin ang="5400000" scaled="1"/>
              </a:gradFill>
              <a:ln w="66675" cap="flat" cmpd="sng" algn="ctr">
                <a:noFill/>
                <a:prstDash val="solid"/>
                <a:miter lim="800000"/>
              </a:ln>
              <a:effectLst/>
              <a:scene3d>
                <a:camera prst="perspectiveRelaxedModerately">
                  <a:rot lat="16490628" lon="0" rev="0"/>
                </a:camera>
                <a:lightRig rig="threePt" dir="t"/>
              </a:scene3d>
            </p:spPr>
            <p:txBody>
              <a:bodyPr rtlCol="0" anchor="ctr"/>
              <a:lstStyle/>
              <a:p>
                <a:pPr algn="ctr">
                  <a:defRPr/>
                </a:pPr>
                <a:endParaRPr lang="en-US" altLang="en-US" sz="2000" kern="0" dirty="0">
                  <a:solidFill>
                    <a:prstClr val="white"/>
                  </a:solidFill>
                  <a:latin typeface="HarmonyOS Sans SC" panose="00000500000000000000" pitchFamily="2" charset="-122"/>
                  <a:ea typeface="HarmonyOS Sans SC" panose="00000500000000000000" pitchFamily="2" charset="-122"/>
                  <a:cs typeface="+mn-ea"/>
                  <a:sym typeface="Arial" panose="020B0604020202020204" pitchFamily="34" charset="0"/>
                </a:endParaRPr>
              </a:p>
            </p:txBody>
          </p:sp>
          <p:sp>
            <p:nvSpPr>
              <p:cNvPr id="31" name="等腰三角形 30">
                <a:extLst>
                  <a:ext uri="{FF2B5EF4-FFF2-40B4-BE49-F238E27FC236}">
                    <a16:creationId xmlns:a16="http://schemas.microsoft.com/office/drawing/2014/main" id="{14761D37-8347-A696-6861-04FFADEE93FD}"/>
                  </a:ext>
                </a:extLst>
              </p:cNvPr>
              <p:cNvSpPr/>
              <p:nvPr/>
            </p:nvSpPr>
            <p:spPr>
              <a:xfrm rot="10800000">
                <a:off x="5509235" y="1261035"/>
                <a:ext cx="447785" cy="174240"/>
              </a:xfrm>
              <a:prstGeom prst="triangle">
                <a:avLst/>
              </a:prstGeom>
              <a:gradFill flip="none" rotWithShape="1">
                <a:gsLst>
                  <a:gs pos="0">
                    <a:srgbClr val="0134A3">
                      <a:alpha val="0"/>
                    </a:srgbClr>
                  </a:gs>
                  <a:gs pos="100000">
                    <a:srgbClr val="0134A3">
                      <a:alpha val="30000"/>
                    </a:srgbClr>
                  </a:gs>
                </a:gsLst>
                <a:lin ang="16200000" scaled="1"/>
                <a:tileRect/>
              </a:gra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>
                  <a:defRPr/>
                </a:pPr>
                <a:endParaRPr lang="en-US" altLang="en-US" sz="2000" kern="0" dirty="0">
                  <a:solidFill>
                    <a:prstClr val="white"/>
                  </a:solidFill>
                  <a:latin typeface="HarmonyOS Sans SC" panose="00000500000000000000" pitchFamily="2" charset="-122"/>
                  <a:ea typeface="HarmonyOS Sans SC" panose="00000500000000000000" pitchFamily="2" charset="-122"/>
                  <a:cs typeface="+mn-ea"/>
                  <a:sym typeface="Arial" panose="020B0604020202020204" pitchFamily="34" charset="0"/>
                </a:endParaRPr>
              </a:p>
            </p:txBody>
          </p:sp>
        </p:grp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B6024499-2638-A1E5-D58D-ECDEFA1CB2E5}"/>
                </a:ext>
              </a:extLst>
            </p:cNvPr>
            <p:cNvSpPr/>
            <p:nvPr/>
          </p:nvSpPr>
          <p:spPr>
            <a:xfrm>
              <a:off x="3533597" y="509634"/>
              <a:ext cx="4499428" cy="35768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/>
              <a:r>
                <a:rPr lang="zh-CN" altLang="en-US" sz="1600" b="1" dirty="0">
                  <a:solidFill>
                    <a:srgbClr val="0070C0"/>
                  </a:solidFill>
                  <a:effectLst>
                    <a:glow rad="101600">
                      <a:schemeClr val="bg1"/>
                    </a:glow>
                    <a:outerShdw blurRad="50800" dist="38100" algn="l" rotWithShape="0">
                      <a:srgbClr val="002EA1"/>
                    </a:outerShdw>
                  </a:effectLst>
                  <a:latin typeface="微软雅黑" panose="020B0503020204020204" pitchFamily="34" charset="-122"/>
                  <a:ea typeface="微软雅黑" panose="020B0503020204020204" pitchFamily="34" charset="-122"/>
                  <a:sym typeface="Arial" panose="020B0604020202020204" pitchFamily="34" charset="0"/>
                </a:rPr>
                <a:t>端到端 </a:t>
              </a:r>
              <a:r>
                <a:rPr lang="en-US" altLang="zh-CN" sz="1600" b="1" dirty="0">
                  <a:solidFill>
                    <a:srgbClr val="0070C0"/>
                  </a:solidFill>
                  <a:effectLst>
                    <a:glow rad="101600">
                      <a:schemeClr val="bg1"/>
                    </a:glow>
                    <a:outerShdw blurRad="50800" dist="38100" algn="l" rotWithShape="0">
                      <a:srgbClr val="002EA1"/>
                    </a:outerShdw>
                  </a:effectLst>
                  <a:latin typeface="微软雅黑" panose="020B0503020204020204" pitchFamily="34" charset="-122"/>
                  <a:ea typeface="微软雅黑" panose="020B0503020204020204" pitchFamily="34" charset="-122"/>
                  <a:sym typeface="Arial" panose="020B0604020202020204" pitchFamily="34" charset="0"/>
                </a:rPr>
                <a:t>QoS </a:t>
              </a:r>
              <a:r>
                <a:rPr lang="zh-CN" altLang="en-US" sz="1600" b="1" dirty="0">
                  <a:solidFill>
                    <a:srgbClr val="0070C0"/>
                  </a:solidFill>
                  <a:effectLst>
                    <a:glow rad="101600">
                      <a:schemeClr val="bg1"/>
                    </a:glow>
                    <a:outerShdw blurRad="50800" dist="38100" algn="l" rotWithShape="0">
                      <a:srgbClr val="002EA1"/>
                    </a:outerShdw>
                  </a:effectLst>
                  <a:latin typeface="微软雅黑" panose="020B0503020204020204" pitchFamily="34" charset="-122"/>
                  <a:ea typeface="微软雅黑" panose="020B0503020204020204" pitchFamily="34" charset="-122"/>
                  <a:sym typeface="Arial" panose="020B0604020202020204" pitchFamily="34" charset="0"/>
                </a:rPr>
                <a:t>保障的</a:t>
              </a:r>
              <a:r>
                <a:rPr lang="en-US" altLang="zh-CN" sz="1600" b="1" dirty="0">
                  <a:solidFill>
                    <a:srgbClr val="0070C0"/>
                  </a:solidFill>
                  <a:effectLst>
                    <a:glow rad="101600">
                      <a:schemeClr val="bg1"/>
                    </a:glow>
                    <a:outerShdw blurRad="50800" dist="38100" algn="l" rotWithShape="0">
                      <a:srgbClr val="002EA1"/>
                    </a:outerShdw>
                  </a:effectLst>
                  <a:latin typeface="微软雅黑" panose="020B0503020204020204" pitchFamily="34" charset="-122"/>
                  <a:ea typeface="微软雅黑" panose="020B0503020204020204" pitchFamily="34" charset="-122"/>
                  <a:sym typeface="Arial" panose="020B0604020202020204" pitchFamily="34" charset="0"/>
                </a:rPr>
                <a:t>LEO</a:t>
              </a:r>
              <a:r>
                <a:rPr lang="zh-CN" altLang="en-US" sz="1600" b="1" dirty="0">
                  <a:solidFill>
                    <a:srgbClr val="0070C0"/>
                  </a:solidFill>
                  <a:effectLst>
                    <a:glow rad="101600">
                      <a:schemeClr val="bg1"/>
                    </a:glow>
                    <a:outerShdw blurRad="50800" dist="38100" algn="l" rotWithShape="0">
                      <a:srgbClr val="002EA1"/>
                    </a:outerShdw>
                  </a:effectLst>
                  <a:latin typeface="微软雅黑" panose="020B0503020204020204" pitchFamily="34" charset="-122"/>
                  <a:ea typeface="微软雅黑" panose="020B0503020204020204" pitchFamily="34" charset="-122"/>
                  <a:sym typeface="Arial" panose="020B0604020202020204" pitchFamily="34" charset="0"/>
                </a:rPr>
                <a:t>卫星分布式智能资源管控研究</a:t>
              </a:r>
            </a:p>
          </p:txBody>
        </p:sp>
      </p:grp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CA2478B1-0444-0058-D0D1-A1752E0EC9C4}"/>
              </a:ext>
            </a:extLst>
          </p:cNvPr>
          <p:cNvGrpSpPr/>
          <p:nvPr/>
        </p:nvGrpSpPr>
        <p:grpSpPr>
          <a:xfrm>
            <a:off x="347450" y="5728660"/>
            <a:ext cx="830684" cy="830682"/>
            <a:chOff x="-1724733" y="5330972"/>
            <a:chExt cx="639284" cy="639282"/>
          </a:xfrm>
        </p:grpSpPr>
        <p:sp>
          <p:nvSpPr>
            <p:cNvPr id="64" name="Oval 40-mask">
              <a:extLst>
                <a:ext uri="{FF2B5EF4-FFF2-40B4-BE49-F238E27FC236}">
                  <a16:creationId xmlns:a16="http://schemas.microsoft.com/office/drawing/2014/main" id="{57FC109F-65DD-8D61-054C-8914CA2A2935}"/>
                </a:ext>
              </a:extLst>
            </p:cNvPr>
            <p:cNvSpPr/>
            <p:nvPr/>
          </p:nvSpPr>
          <p:spPr>
            <a:xfrm>
              <a:off x="-1724733" y="5330972"/>
              <a:ext cx="639284" cy="639282"/>
            </a:xfrm>
            <a:prstGeom prst="ellipse">
              <a:avLst/>
            </a:prstGeom>
            <a:gradFill flip="none" rotWithShape="1">
              <a:gsLst>
                <a:gs pos="72000">
                  <a:srgbClr val="0070C0"/>
                </a:gs>
                <a:gs pos="0">
                  <a:srgbClr val="1976E7">
                    <a:lumMod val="60000"/>
                    <a:lumOff val="40000"/>
                  </a:srgb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6350" cap="flat" cmpd="sng" algn="ctr">
              <a:noFill/>
              <a:prstDash val="solid"/>
              <a:miter lim="800000"/>
            </a:ln>
            <a:effectLst>
              <a:reflection blurRad="25400" stA="60000" endPos="5000" dir="5400000" sy="-100000" algn="bl" rotWithShape="0"/>
            </a:effectLst>
          </p:spPr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2000" kern="0" dirty="0">
                <a:solidFill>
                  <a:prstClr val="black"/>
                </a:solidFill>
                <a:latin typeface="HarmonyOS Sans SC" panose="00000500000000000000" pitchFamily="2" charset="-122"/>
                <a:ea typeface="HarmonyOS Sans SC" panose="00000500000000000000" pitchFamily="2" charset="-122"/>
                <a:cs typeface="+mn-ea"/>
                <a:sym typeface="+mn-lt"/>
              </a:endParaRPr>
            </a:p>
          </p:txBody>
        </p: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F2038267-98D3-E4DE-FFCC-9AC8540B42C2}"/>
                </a:ext>
              </a:extLst>
            </p:cNvPr>
            <p:cNvSpPr txBox="1"/>
            <p:nvPr/>
          </p:nvSpPr>
          <p:spPr>
            <a:xfrm>
              <a:off x="-1724733" y="5389003"/>
              <a:ext cx="639284" cy="4974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zh-CN" altLang="en-US" b="1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lt"/>
                </a:rPr>
                <a:t>研究目标</a:t>
              </a:r>
            </a:p>
          </p:txBody>
        </p:sp>
      </p:grp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259A5629-5A28-22D4-F1A1-C21EF8934A38}"/>
              </a:ext>
            </a:extLst>
          </p:cNvPr>
          <p:cNvSpPr/>
          <p:nvPr/>
        </p:nvSpPr>
        <p:spPr>
          <a:xfrm rot="10800000">
            <a:off x="1385094" y="1004464"/>
            <a:ext cx="7447788" cy="908791"/>
          </a:xfrm>
          <a:prstGeom prst="roundRect">
            <a:avLst>
              <a:gd name="adj" fmla="val 0"/>
            </a:avLst>
          </a:prstGeom>
          <a:gradFill>
            <a:gsLst>
              <a:gs pos="0">
                <a:sysClr val="window" lastClr="FFFFFF"/>
              </a:gs>
              <a:gs pos="100000">
                <a:sysClr val="window" lastClr="FFFFFF"/>
              </a:gs>
            </a:gsLst>
            <a:lin ang="0" scaled="1"/>
          </a:gradFill>
          <a:ln w="6350">
            <a:solidFill>
              <a:schemeClr val="accent5">
                <a:lumMod val="75000"/>
                <a:alpha val="50000"/>
              </a:schemeClr>
            </a:solidFill>
            <a:miter lim="800000"/>
          </a:ln>
          <a:effectLst>
            <a:outerShdw blurRad="203200" sx="101000" sy="101000" algn="ctr" rotWithShape="0">
              <a:sysClr val="windowText" lastClr="000000">
                <a:lumMod val="65000"/>
                <a:lumOff val="35000"/>
                <a:alpha val="7000"/>
              </a:sysClr>
            </a:outerShdw>
          </a:effectLst>
        </p:spPr>
        <p:txBody>
          <a:bodyPr rot="10800000" wrap="none" anchor="ctr"/>
          <a:lstStyle/>
          <a:p>
            <a:pPr algn="ctr">
              <a:defRPr/>
            </a:pPr>
            <a:endParaRPr lang="zh-CN" altLang="en-US" kern="0" dirty="0">
              <a:solidFill>
                <a:prstClr val="black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grpSp>
        <p:nvGrpSpPr>
          <p:cNvPr id="86" name="组合 85">
            <a:extLst>
              <a:ext uri="{FF2B5EF4-FFF2-40B4-BE49-F238E27FC236}">
                <a16:creationId xmlns:a16="http://schemas.microsoft.com/office/drawing/2014/main" id="{A7AA9DA1-4CCA-FB82-47A4-ABD169DB7A39}"/>
              </a:ext>
            </a:extLst>
          </p:cNvPr>
          <p:cNvGrpSpPr/>
          <p:nvPr/>
        </p:nvGrpSpPr>
        <p:grpSpPr>
          <a:xfrm>
            <a:off x="347450" y="1004465"/>
            <a:ext cx="830684" cy="830682"/>
            <a:chOff x="-1578580" y="511336"/>
            <a:chExt cx="639284" cy="639282"/>
          </a:xfrm>
        </p:grpSpPr>
        <p:sp>
          <p:nvSpPr>
            <p:cNvPr id="32" name="Oval 40-mask">
              <a:extLst>
                <a:ext uri="{FF2B5EF4-FFF2-40B4-BE49-F238E27FC236}">
                  <a16:creationId xmlns:a16="http://schemas.microsoft.com/office/drawing/2014/main" id="{BC6CDBD8-6CAE-41A4-A097-BA74CE6B95D3}"/>
                </a:ext>
              </a:extLst>
            </p:cNvPr>
            <p:cNvSpPr/>
            <p:nvPr/>
          </p:nvSpPr>
          <p:spPr>
            <a:xfrm>
              <a:off x="-1578580" y="511336"/>
              <a:ext cx="639284" cy="639282"/>
            </a:xfrm>
            <a:prstGeom prst="ellipse">
              <a:avLst/>
            </a:prstGeom>
            <a:gradFill flip="none" rotWithShape="1">
              <a:gsLst>
                <a:gs pos="54000">
                  <a:srgbClr val="0075C4"/>
                </a:gs>
                <a:gs pos="0">
                  <a:srgbClr val="0134A3">
                    <a:lumMod val="60000"/>
                    <a:lumOff val="40000"/>
                  </a:srgbClr>
                </a:gs>
                <a:gs pos="100000">
                  <a:srgbClr val="0134A3">
                    <a:lumMod val="75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 w="6350" cap="flat" cmpd="sng" algn="ctr">
              <a:noFill/>
              <a:prstDash val="solid"/>
              <a:miter lim="800000"/>
            </a:ln>
            <a:effectLst>
              <a:reflection blurRad="25400" stA="60000" endPos="5000" dir="5400000" sy="-100000" algn="bl" rotWithShape="0"/>
            </a:effectLst>
          </p:spPr>
          <p:txBody>
            <a:bodyPr rtlCol="0" anchor="ctr"/>
            <a:lstStyle/>
            <a:p>
              <a:pPr algn="ctr">
                <a:lnSpc>
                  <a:spcPct val="120000"/>
                </a:lnSpc>
                <a:defRPr/>
              </a:pPr>
              <a:endParaRPr lang="zh-CN" altLang="en-US" sz="2000" kern="0" dirty="0">
                <a:solidFill>
                  <a:prstClr val="black"/>
                </a:solidFill>
                <a:latin typeface="HarmonyOS Sans SC" panose="00000500000000000000" pitchFamily="2" charset="-122"/>
                <a:ea typeface="HarmonyOS Sans SC" panose="00000500000000000000" pitchFamily="2" charset="-122"/>
                <a:cs typeface="+mn-ea"/>
                <a:sym typeface="+mn-lt"/>
              </a:endParaRPr>
            </a:p>
          </p:txBody>
        </p:sp>
        <p:sp>
          <p:nvSpPr>
            <p:cNvPr id="85" name="文本框 84">
              <a:extLst>
                <a:ext uri="{FF2B5EF4-FFF2-40B4-BE49-F238E27FC236}">
                  <a16:creationId xmlns:a16="http://schemas.microsoft.com/office/drawing/2014/main" id="{6CC1667D-9F8B-7D3F-74F7-DEA90158F862}"/>
                </a:ext>
              </a:extLst>
            </p:cNvPr>
            <p:cNvSpPr txBox="1"/>
            <p:nvPr/>
          </p:nvSpPr>
          <p:spPr>
            <a:xfrm>
              <a:off x="-1578580" y="569367"/>
              <a:ext cx="639284" cy="4974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zh-CN" altLang="en-US" b="1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lt"/>
                </a:rPr>
                <a:t>研究场景</a:t>
              </a:r>
            </a:p>
          </p:txBody>
        </p:sp>
      </p:grpSp>
      <p:sp>
        <p:nvSpPr>
          <p:cNvPr id="95" name="矩形: 圆角 94">
            <a:extLst>
              <a:ext uri="{FF2B5EF4-FFF2-40B4-BE49-F238E27FC236}">
                <a16:creationId xmlns:a16="http://schemas.microsoft.com/office/drawing/2014/main" id="{B4D3487D-F408-6533-8D58-F4131D24B7C8}"/>
              </a:ext>
            </a:extLst>
          </p:cNvPr>
          <p:cNvSpPr/>
          <p:nvPr/>
        </p:nvSpPr>
        <p:spPr>
          <a:xfrm rot="10800000">
            <a:off x="1385094" y="5804064"/>
            <a:ext cx="7447788" cy="679872"/>
          </a:xfrm>
          <a:prstGeom prst="roundRect">
            <a:avLst>
              <a:gd name="adj" fmla="val 12809"/>
            </a:avLst>
          </a:prstGeom>
          <a:solidFill>
            <a:srgbClr val="016AC0"/>
          </a:solidFill>
          <a:ln w="34925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0"/>
            </a:lightRig>
          </a:scene3d>
          <a:sp3d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 defTabSz="468004">
              <a:buClr>
                <a:srgbClr val="000000"/>
              </a:buClr>
              <a:buFont typeface="Arial"/>
            </a:pPr>
            <a:endParaRPr lang="zh-CN" altLang="en-US" sz="1401" b="1" spc="100" dirty="0">
              <a:solidFill>
                <a:schemeClr val="bg1"/>
              </a:solidFill>
              <a:effectLst>
                <a:reflection blurRad="6350" stA="17000" endPos="44000" dir="5400000" sy="-100000" algn="bl" rotWithShape="0"/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BF574A5-4984-CDFF-345A-BE2D3090D79A}"/>
              </a:ext>
            </a:extLst>
          </p:cNvPr>
          <p:cNvSpPr txBox="1"/>
          <p:nvPr/>
        </p:nvSpPr>
        <p:spPr>
          <a:xfrm>
            <a:off x="1669063" y="5820835"/>
            <a:ext cx="687985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构建感知</a:t>
            </a:r>
            <a:r>
              <a:rPr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决策闭环的分布式管控框架，提升在轨自适应资源分配能力并保障用户级端到端业务 </a:t>
            </a:r>
            <a:r>
              <a:rPr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QoS</a:t>
            </a:r>
          </a:p>
        </p:txBody>
      </p:sp>
      <p:grpSp>
        <p:nvGrpSpPr>
          <p:cNvPr id="126" name="组合 125">
            <a:extLst>
              <a:ext uri="{FF2B5EF4-FFF2-40B4-BE49-F238E27FC236}">
                <a16:creationId xmlns:a16="http://schemas.microsoft.com/office/drawing/2014/main" id="{8887EBA7-EB23-EB99-400C-9BFE94A8829F}"/>
              </a:ext>
            </a:extLst>
          </p:cNvPr>
          <p:cNvGrpSpPr/>
          <p:nvPr/>
        </p:nvGrpSpPr>
        <p:grpSpPr>
          <a:xfrm>
            <a:off x="347450" y="4090912"/>
            <a:ext cx="8485432" cy="1170538"/>
            <a:chOff x="277346" y="4090912"/>
            <a:chExt cx="8485432" cy="1170538"/>
          </a:xfrm>
        </p:grpSpPr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9A2AE43B-BED8-2A7E-D481-7997E58133F4}"/>
                </a:ext>
              </a:extLst>
            </p:cNvPr>
            <p:cNvGrpSpPr/>
            <p:nvPr/>
          </p:nvGrpSpPr>
          <p:grpSpPr>
            <a:xfrm>
              <a:off x="277346" y="4260840"/>
              <a:ext cx="830684" cy="830682"/>
              <a:chOff x="-1724733" y="3325426"/>
              <a:chExt cx="639284" cy="639282"/>
            </a:xfrm>
          </p:grpSpPr>
          <p:sp>
            <p:nvSpPr>
              <p:cNvPr id="54" name="Oval 40-mask">
                <a:extLst>
                  <a:ext uri="{FF2B5EF4-FFF2-40B4-BE49-F238E27FC236}">
                    <a16:creationId xmlns:a16="http://schemas.microsoft.com/office/drawing/2014/main" id="{AEA0FEB8-853D-4014-8411-D83436D75AC7}"/>
                  </a:ext>
                </a:extLst>
              </p:cNvPr>
              <p:cNvSpPr/>
              <p:nvPr/>
            </p:nvSpPr>
            <p:spPr>
              <a:xfrm>
                <a:off x="-1724733" y="3325426"/>
                <a:ext cx="639284" cy="639282"/>
              </a:xfrm>
              <a:prstGeom prst="ellipse">
                <a:avLst/>
              </a:prstGeom>
              <a:gradFill flip="none" rotWithShape="1">
                <a:gsLst>
                  <a:gs pos="100000">
                    <a:srgbClr val="005A9E"/>
                  </a:gs>
                  <a:gs pos="0">
                    <a:srgbClr val="0134A3">
                      <a:lumMod val="40000"/>
                      <a:lumOff val="60000"/>
                    </a:srgbClr>
                  </a:gs>
                  <a:gs pos="49000">
                    <a:srgbClr val="00A6E9"/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6350" cap="flat" cmpd="sng" algn="ctr">
                <a:noFill/>
                <a:prstDash val="solid"/>
                <a:miter lim="800000"/>
              </a:ln>
              <a:effectLst>
                <a:reflection blurRad="25400" stA="60000" endPos="5000" dir="5400000" sy="-100000" algn="bl" rotWithShape="0"/>
              </a:effectLst>
            </p:spPr>
            <p:txBody>
              <a:bodyPr rtlCol="0" anchor="ctr"/>
              <a:lstStyle/>
              <a:p>
                <a:pPr algn="ctr">
                  <a:lnSpc>
                    <a:spcPct val="120000"/>
                  </a:lnSpc>
                </a:pPr>
                <a:endParaRPr lang="zh-CN" altLang="en-US" sz="2000" kern="0" dirty="0">
                  <a:solidFill>
                    <a:prstClr val="black"/>
                  </a:solidFill>
                  <a:latin typeface="HarmonyOS Sans SC" panose="00000500000000000000" pitchFamily="2" charset="-122"/>
                  <a:ea typeface="HarmonyOS Sans SC" panose="00000500000000000000" pitchFamily="2" charset="-122"/>
                  <a:cs typeface="+mn-ea"/>
                  <a:sym typeface="+mn-lt"/>
                </a:endParaRPr>
              </a:p>
            </p:txBody>
          </p:sp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7E2889A5-A36B-80D1-B16D-434D1BC12D6A}"/>
                  </a:ext>
                </a:extLst>
              </p:cNvPr>
              <p:cNvSpPr txBox="1"/>
              <p:nvPr/>
            </p:nvSpPr>
            <p:spPr>
              <a:xfrm>
                <a:off x="-1724733" y="3383457"/>
                <a:ext cx="639284" cy="4974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defRPr/>
                </a:pPr>
                <a:r>
                  <a:rPr lang="zh-CN" altLang="en-US" b="1" kern="0" dirty="0">
                    <a:solidFill>
                      <a:prstClr val="white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lt"/>
                  </a:rPr>
                  <a:t>研究内容</a:t>
                </a:r>
              </a:p>
            </p:txBody>
          </p:sp>
        </p:grpSp>
        <p:sp>
          <p:nvSpPr>
            <p:cNvPr id="94" name="矩形: 圆角 93">
              <a:extLst>
                <a:ext uri="{FF2B5EF4-FFF2-40B4-BE49-F238E27FC236}">
                  <a16:creationId xmlns:a16="http://schemas.microsoft.com/office/drawing/2014/main" id="{45BCD5E1-BED3-A58A-E1A3-C8DB2C0EEBA0}"/>
                </a:ext>
              </a:extLst>
            </p:cNvPr>
            <p:cNvSpPr/>
            <p:nvPr/>
          </p:nvSpPr>
          <p:spPr>
            <a:xfrm rot="10800000">
              <a:off x="1314990" y="4090912"/>
              <a:ext cx="7447788" cy="1170538"/>
            </a:xfrm>
            <a:prstGeom prst="roundRect">
              <a:avLst>
                <a:gd name="adj" fmla="val 0"/>
              </a:avLst>
            </a:prstGeom>
            <a:gradFill>
              <a:gsLst>
                <a:gs pos="0">
                  <a:sysClr val="window" lastClr="FFFFFF"/>
                </a:gs>
                <a:gs pos="100000">
                  <a:sysClr val="window" lastClr="FFFFFF"/>
                </a:gs>
              </a:gsLst>
              <a:lin ang="0" scaled="1"/>
            </a:gradFill>
            <a:ln w="6350">
              <a:solidFill>
                <a:schemeClr val="accent5">
                  <a:lumMod val="75000"/>
                  <a:alpha val="50000"/>
                </a:schemeClr>
              </a:solidFill>
              <a:miter lim="800000"/>
            </a:ln>
            <a:effectLst>
              <a:outerShdw blurRad="203200" sx="101000" sy="101000" algn="ctr" rotWithShape="0">
                <a:sysClr val="windowText" lastClr="000000">
                  <a:lumMod val="65000"/>
                  <a:lumOff val="35000"/>
                  <a:alpha val="7000"/>
                </a:sysClr>
              </a:outerShdw>
            </a:effectLst>
          </p:spPr>
          <p:txBody>
            <a:bodyPr rot="10800000" wrap="none" anchor="ctr"/>
            <a:lstStyle/>
            <a:p>
              <a:pPr algn="ctr">
                <a:defRPr/>
              </a:pPr>
              <a:endParaRPr lang="zh-CN" altLang="en-US" kern="0" dirty="0">
                <a:solidFill>
                  <a:prstClr val="black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97" name="矩形: 圆角 96">
              <a:extLst>
                <a:ext uri="{FF2B5EF4-FFF2-40B4-BE49-F238E27FC236}">
                  <a16:creationId xmlns:a16="http://schemas.microsoft.com/office/drawing/2014/main" id="{8033E2BA-517E-E7E9-F6D6-D28E6F7566BB}"/>
                </a:ext>
              </a:extLst>
            </p:cNvPr>
            <p:cNvSpPr/>
            <p:nvPr/>
          </p:nvSpPr>
          <p:spPr>
            <a:xfrm>
              <a:off x="1385094" y="4198257"/>
              <a:ext cx="1775481" cy="955848"/>
            </a:xfrm>
            <a:prstGeom prst="roundRect">
              <a:avLst>
                <a:gd name="adj" fmla="val 6891"/>
              </a:avLst>
            </a:prstGeom>
            <a:solidFill>
              <a:schemeClr val="accent5">
                <a:lumMod val="20000"/>
                <a:lumOff val="80000"/>
                <a:alpha val="42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zh-CN" altLang="en-US" sz="1200" kern="0" dirty="0">
                <a:solidFill>
                  <a:prstClr val="white"/>
                </a:solidFill>
                <a:latin typeface="等线 Light" panose="02010600030101010101" pitchFamily="2" charset="-122"/>
                <a:ea typeface="等线 Light" panose="02010600030101010101" pitchFamily="2" charset="-122"/>
              </a:endParaRPr>
            </a:p>
          </p:txBody>
        </p:sp>
        <p:sp>
          <p:nvSpPr>
            <p:cNvPr id="98" name="矩形: 圆角 97">
              <a:extLst>
                <a:ext uri="{FF2B5EF4-FFF2-40B4-BE49-F238E27FC236}">
                  <a16:creationId xmlns:a16="http://schemas.microsoft.com/office/drawing/2014/main" id="{5620C660-7C13-ECBB-5EA7-506D82E7E014}"/>
                </a:ext>
              </a:extLst>
            </p:cNvPr>
            <p:cNvSpPr/>
            <p:nvPr/>
          </p:nvSpPr>
          <p:spPr>
            <a:xfrm>
              <a:off x="5052190" y="4198257"/>
              <a:ext cx="1775481" cy="955848"/>
            </a:xfrm>
            <a:prstGeom prst="roundRect">
              <a:avLst>
                <a:gd name="adj" fmla="val 6891"/>
              </a:avLst>
            </a:prstGeom>
            <a:solidFill>
              <a:schemeClr val="accent5">
                <a:lumMod val="20000"/>
                <a:lumOff val="80000"/>
                <a:alpha val="42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zh-CN" altLang="en-US" sz="1200" kern="0" dirty="0">
                <a:solidFill>
                  <a:prstClr val="white"/>
                </a:solidFill>
                <a:latin typeface="等线 Light" panose="02010600030101010101" pitchFamily="2" charset="-122"/>
                <a:ea typeface="等线 Light" panose="02010600030101010101" pitchFamily="2" charset="-122"/>
              </a:endParaRPr>
            </a:p>
          </p:txBody>
        </p:sp>
        <p:sp>
          <p:nvSpPr>
            <p:cNvPr id="99" name="矩形: 圆角 98">
              <a:extLst>
                <a:ext uri="{FF2B5EF4-FFF2-40B4-BE49-F238E27FC236}">
                  <a16:creationId xmlns:a16="http://schemas.microsoft.com/office/drawing/2014/main" id="{6B5BAF1B-5893-B03A-6968-DEE5F02C0D47}"/>
                </a:ext>
              </a:extLst>
            </p:cNvPr>
            <p:cNvSpPr/>
            <p:nvPr/>
          </p:nvSpPr>
          <p:spPr>
            <a:xfrm>
              <a:off x="3218642" y="4198257"/>
              <a:ext cx="1775481" cy="955848"/>
            </a:xfrm>
            <a:prstGeom prst="roundRect">
              <a:avLst>
                <a:gd name="adj" fmla="val 6891"/>
              </a:avLst>
            </a:prstGeom>
            <a:solidFill>
              <a:schemeClr val="accent5">
                <a:lumMod val="20000"/>
                <a:lumOff val="80000"/>
                <a:alpha val="42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zh-CN" altLang="en-US" sz="1200" kern="0" dirty="0">
                <a:solidFill>
                  <a:prstClr val="white"/>
                </a:solidFill>
                <a:latin typeface="等线 Light" panose="02010600030101010101" pitchFamily="2" charset="-122"/>
                <a:ea typeface="等线 Light" panose="02010600030101010101" pitchFamily="2" charset="-122"/>
              </a:endParaRPr>
            </a:p>
          </p:txBody>
        </p:sp>
        <p:sp>
          <p:nvSpPr>
            <p:cNvPr id="100" name="矩形: 圆角 99">
              <a:extLst>
                <a:ext uri="{FF2B5EF4-FFF2-40B4-BE49-F238E27FC236}">
                  <a16:creationId xmlns:a16="http://schemas.microsoft.com/office/drawing/2014/main" id="{145D48B8-0C3C-B7BB-601D-FD84AFD7396E}"/>
                </a:ext>
              </a:extLst>
            </p:cNvPr>
            <p:cNvSpPr/>
            <p:nvPr/>
          </p:nvSpPr>
          <p:spPr>
            <a:xfrm>
              <a:off x="6885739" y="4198257"/>
              <a:ext cx="1775481" cy="955848"/>
            </a:xfrm>
            <a:prstGeom prst="roundRect">
              <a:avLst>
                <a:gd name="adj" fmla="val 6891"/>
              </a:avLst>
            </a:prstGeom>
            <a:solidFill>
              <a:schemeClr val="accent5">
                <a:lumMod val="20000"/>
                <a:lumOff val="80000"/>
                <a:alpha val="42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zh-CN" altLang="en-US" sz="1200" kern="0" dirty="0">
                <a:solidFill>
                  <a:prstClr val="white"/>
                </a:solidFill>
                <a:latin typeface="等线 Light" panose="02010600030101010101" pitchFamily="2" charset="-122"/>
                <a:ea typeface="等线 Light" panose="02010600030101010101" pitchFamily="2" charset="-122"/>
              </a:endParaRPr>
            </a:p>
          </p:txBody>
        </p: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6E168EBC-A3BD-C403-45FE-A1F2EBC9434E}"/>
                </a:ext>
              </a:extLst>
            </p:cNvPr>
            <p:cNvSpPr txBox="1"/>
            <p:nvPr/>
          </p:nvSpPr>
          <p:spPr>
            <a:xfrm>
              <a:off x="1428584" y="4282804"/>
              <a:ext cx="1688500" cy="7867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1" algn="ctr">
                <a:lnSpc>
                  <a:spcPct val="110000"/>
                </a:lnSpc>
                <a:spcBef>
                  <a:spcPct val="0"/>
                </a:spcBef>
                <a:defRPr/>
              </a:pPr>
              <a:r>
                <a:rPr lang="zh-CN" altLang="en-US" sz="1400" b="1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阿里巴巴普惠体 2.0 105 Heavy" panose="00020600040101010101" pitchFamily="18" charset="-122"/>
                </a:rPr>
                <a:t>多源置信度调控的分布式网络状态感知方法</a:t>
              </a:r>
            </a:p>
          </p:txBody>
        </p:sp>
        <p:sp>
          <p:nvSpPr>
            <p:cNvPr id="102" name="文本框 101">
              <a:extLst>
                <a:ext uri="{FF2B5EF4-FFF2-40B4-BE49-F238E27FC236}">
                  <a16:creationId xmlns:a16="http://schemas.microsoft.com/office/drawing/2014/main" id="{B3A78CD4-9F12-8DDA-26DD-9A42BF8C52D1}"/>
                </a:ext>
              </a:extLst>
            </p:cNvPr>
            <p:cNvSpPr txBox="1"/>
            <p:nvPr/>
          </p:nvSpPr>
          <p:spPr>
            <a:xfrm>
              <a:off x="3262132" y="4282804"/>
              <a:ext cx="1688500" cy="7867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1" algn="ctr">
                <a:lnSpc>
                  <a:spcPct val="110000"/>
                </a:lnSpc>
                <a:spcBef>
                  <a:spcPct val="0"/>
                </a:spcBef>
                <a:defRPr/>
              </a:pPr>
              <a:r>
                <a:rPr lang="zh-CN" altLang="en-US" sz="1400" b="1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阿里巴巴普惠体 2.0 105 Heavy" panose="00020600040101010101" pitchFamily="18" charset="-122"/>
                </a:rPr>
                <a:t>基于局部公平性估计的分布式协作接入切换机制</a:t>
              </a:r>
            </a:p>
          </p:txBody>
        </p:sp>
        <p:sp>
          <p:nvSpPr>
            <p:cNvPr id="103" name="文本框 102">
              <a:extLst>
                <a:ext uri="{FF2B5EF4-FFF2-40B4-BE49-F238E27FC236}">
                  <a16:creationId xmlns:a16="http://schemas.microsoft.com/office/drawing/2014/main" id="{63ACCC9B-DE63-0256-75AA-C1D6A24FF6B1}"/>
                </a:ext>
              </a:extLst>
            </p:cNvPr>
            <p:cNvSpPr txBox="1"/>
            <p:nvPr/>
          </p:nvSpPr>
          <p:spPr>
            <a:xfrm>
              <a:off x="5037612" y="4282804"/>
              <a:ext cx="1804636" cy="7867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1" algn="ctr">
                <a:lnSpc>
                  <a:spcPct val="110000"/>
                </a:lnSpc>
                <a:spcBef>
                  <a:spcPct val="0"/>
                </a:spcBef>
                <a:defRPr/>
              </a:pPr>
              <a:r>
                <a:rPr lang="zh-CN" altLang="en-US" sz="1400" b="1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阿里巴巴普惠体 2.0 105 Heavy" panose="00020600040101010101" pitchFamily="18" charset="-122"/>
                </a:rPr>
                <a:t>基于生成式网络态势感知的切片</a:t>
              </a:r>
              <a:r>
                <a:rPr lang="en-US" altLang="zh-CN" sz="1400" b="1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阿里巴巴普惠体 2.0 105 Heavy" panose="00020600040101010101" pitchFamily="18" charset="-122"/>
                </a:rPr>
                <a:t>--MAC </a:t>
              </a:r>
              <a:r>
                <a:rPr lang="zh-CN" altLang="en-US" sz="1400" b="1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阿里巴巴普惠体 2.0 105 Heavy" panose="00020600040101010101" pitchFamily="18" charset="-122"/>
                </a:rPr>
                <a:t>分层协作优化</a:t>
              </a:r>
            </a:p>
          </p:txBody>
        </p:sp>
        <p:sp>
          <p:nvSpPr>
            <p:cNvPr id="104" name="文本框 103">
              <a:extLst>
                <a:ext uri="{FF2B5EF4-FFF2-40B4-BE49-F238E27FC236}">
                  <a16:creationId xmlns:a16="http://schemas.microsoft.com/office/drawing/2014/main" id="{DAF2CF6C-D970-242E-45CD-7A7E706672D1}"/>
                </a:ext>
              </a:extLst>
            </p:cNvPr>
            <p:cNvSpPr txBox="1"/>
            <p:nvPr/>
          </p:nvSpPr>
          <p:spPr>
            <a:xfrm>
              <a:off x="6929229" y="4282804"/>
              <a:ext cx="1688500" cy="7867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1" algn="ctr">
                <a:lnSpc>
                  <a:spcPct val="110000"/>
                </a:lnSpc>
                <a:spcBef>
                  <a:spcPct val="0"/>
                </a:spcBef>
                <a:defRPr/>
              </a:pPr>
              <a:r>
                <a:rPr lang="zh-CN" altLang="en-US" sz="1400" b="1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阿里巴巴普惠体 2.0 105 Heavy" panose="00020600040101010101" pitchFamily="18" charset="-122"/>
                </a:rPr>
                <a:t>基于任务反馈与协同增量重传的轻量化语义传输机制</a:t>
              </a:r>
            </a:p>
          </p:txBody>
        </p:sp>
      </p:grp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4294ADC9-427B-0840-ED74-B7FA948456F1}"/>
              </a:ext>
            </a:extLst>
          </p:cNvPr>
          <p:cNvGrpSpPr/>
          <p:nvPr/>
        </p:nvGrpSpPr>
        <p:grpSpPr>
          <a:xfrm>
            <a:off x="347450" y="2377761"/>
            <a:ext cx="8485432" cy="1170538"/>
            <a:chOff x="277346" y="2377761"/>
            <a:chExt cx="8485432" cy="1170538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99290AB1-98E9-A996-1F48-DD66958A0876}"/>
                </a:ext>
              </a:extLst>
            </p:cNvPr>
            <p:cNvGrpSpPr/>
            <p:nvPr/>
          </p:nvGrpSpPr>
          <p:grpSpPr>
            <a:xfrm>
              <a:off x="277346" y="2510543"/>
              <a:ext cx="830684" cy="830682"/>
              <a:chOff x="-1724733" y="2208353"/>
              <a:chExt cx="639284" cy="639282"/>
            </a:xfrm>
          </p:grpSpPr>
          <p:sp>
            <p:nvSpPr>
              <p:cNvPr id="42" name="Oval 40-mask">
                <a:extLst>
                  <a:ext uri="{FF2B5EF4-FFF2-40B4-BE49-F238E27FC236}">
                    <a16:creationId xmlns:a16="http://schemas.microsoft.com/office/drawing/2014/main" id="{BB7BE350-E9B2-A170-79B4-38A1AB80B36F}"/>
                  </a:ext>
                </a:extLst>
              </p:cNvPr>
              <p:cNvSpPr/>
              <p:nvPr/>
            </p:nvSpPr>
            <p:spPr>
              <a:xfrm>
                <a:off x="-1724733" y="2208353"/>
                <a:ext cx="639284" cy="639282"/>
              </a:xfrm>
              <a:prstGeom prst="ellipse">
                <a:avLst/>
              </a:prstGeom>
              <a:gradFill flip="none" rotWithShape="1">
                <a:gsLst>
                  <a:gs pos="72000">
                    <a:srgbClr val="0070C0"/>
                  </a:gs>
                  <a:gs pos="0">
                    <a:srgbClr val="1976E7">
                      <a:lumMod val="60000"/>
                      <a:lumOff val="40000"/>
                    </a:srgbClr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6350" cap="flat" cmpd="sng" algn="ctr">
                <a:noFill/>
                <a:prstDash val="solid"/>
                <a:miter lim="800000"/>
              </a:ln>
              <a:effectLst>
                <a:reflection blurRad="25400" stA="60000" endPos="5000" dir="5400000" sy="-100000" algn="bl" rotWithShape="0"/>
              </a:effectLst>
            </p:spPr>
            <p:txBody>
              <a:bodyPr rtlCol="0" anchor="ctr"/>
              <a:lstStyle/>
              <a:p>
                <a:pPr algn="ctr">
                  <a:lnSpc>
                    <a:spcPct val="120000"/>
                  </a:lnSpc>
                </a:pPr>
                <a:endParaRPr lang="zh-CN" altLang="en-US" sz="2000" kern="0" dirty="0">
                  <a:solidFill>
                    <a:prstClr val="black"/>
                  </a:solidFill>
                  <a:latin typeface="HarmonyOS Sans SC" panose="00000500000000000000" pitchFamily="2" charset="-122"/>
                  <a:ea typeface="HarmonyOS Sans SC" panose="00000500000000000000" pitchFamily="2" charset="-122"/>
                  <a:cs typeface="+mn-ea"/>
                  <a:sym typeface="+mn-lt"/>
                </a:endParaRPr>
              </a:p>
            </p:txBody>
          </p: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868252F2-A11C-C5BF-7D32-EFFD48E002CE}"/>
                  </a:ext>
                </a:extLst>
              </p:cNvPr>
              <p:cNvSpPr txBox="1"/>
              <p:nvPr/>
            </p:nvSpPr>
            <p:spPr>
              <a:xfrm>
                <a:off x="-1724733" y="2266384"/>
                <a:ext cx="639284" cy="4974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defRPr/>
                </a:pPr>
                <a:r>
                  <a:rPr lang="zh-CN" altLang="en-US" b="1" kern="0" dirty="0">
                    <a:solidFill>
                      <a:prstClr val="white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lt"/>
                  </a:rPr>
                  <a:t>问题挑战</a:t>
                </a:r>
              </a:p>
            </p:txBody>
          </p:sp>
        </p:grpSp>
        <p:sp>
          <p:nvSpPr>
            <p:cNvPr id="93" name="矩形: 圆角 92">
              <a:extLst>
                <a:ext uri="{FF2B5EF4-FFF2-40B4-BE49-F238E27FC236}">
                  <a16:creationId xmlns:a16="http://schemas.microsoft.com/office/drawing/2014/main" id="{9D64ABB0-5573-878A-2F5E-4DA66CEB381F}"/>
                </a:ext>
              </a:extLst>
            </p:cNvPr>
            <p:cNvSpPr/>
            <p:nvPr/>
          </p:nvSpPr>
          <p:spPr>
            <a:xfrm rot="10800000">
              <a:off x="1314990" y="2377761"/>
              <a:ext cx="7447788" cy="1170538"/>
            </a:xfrm>
            <a:prstGeom prst="roundRect">
              <a:avLst>
                <a:gd name="adj" fmla="val 0"/>
              </a:avLst>
            </a:prstGeom>
            <a:gradFill>
              <a:gsLst>
                <a:gs pos="0">
                  <a:sysClr val="window" lastClr="FFFFFF"/>
                </a:gs>
                <a:gs pos="100000">
                  <a:sysClr val="window" lastClr="FFFFFF"/>
                </a:gs>
              </a:gsLst>
              <a:lin ang="0" scaled="1"/>
            </a:gradFill>
            <a:ln w="6350">
              <a:solidFill>
                <a:schemeClr val="accent5">
                  <a:lumMod val="75000"/>
                  <a:alpha val="50000"/>
                </a:schemeClr>
              </a:solidFill>
              <a:miter lim="800000"/>
            </a:ln>
            <a:effectLst>
              <a:outerShdw blurRad="203200" sx="101000" sy="101000" algn="ctr" rotWithShape="0">
                <a:sysClr val="windowText" lastClr="000000">
                  <a:lumMod val="65000"/>
                  <a:lumOff val="35000"/>
                  <a:alpha val="7000"/>
                </a:sysClr>
              </a:outerShdw>
            </a:effectLst>
          </p:spPr>
          <p:txBody>
            <a:bodyPr rot="10800000" wrap="none" anchor="ctr"/>
            <a:lstStyle/>
            <a:p>
              <a:pPr algn="ctr">
                <a:defRPr/>
              </a:pPr>
              <a:endParaRPr lang="zh-CN" altLang="en-US" kern="0" dirty="0">
                <a:solidFill>
                  <a:prstClr val="black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05" name="矩形: 圆角 104">
              <a:extLst>
                <a:ext uri="{FF2B5EF4-FFF2-40B4-BE49-F238E27FC236}">
                  <a16:creationId xmlns:a16="http://schemas.microsoft.com/office/drawing/2014/main" id="{0D27DCDB-0B56-D848-5081-8F5213B007B3}"/>
                </a:ext>
              </a:extLst>
            </p:cNvPr>
            <p:cNvSpPr/>
            <p:nvPr/>
          </p:nvSpPr>
          <p:spPr>
            <a:xfrm>
              <a:off x="1385094" y="2485106"/>
              <a:ext cx="1775481" cy="955848"/>
            </a:xfrm>
            <a:prstGeom prst="roundRect">
              <a:avLst>
                <a:gd name="adj" fmla="val 6891"/>
              </a:avLst>
            </a:prstGeom>
            <a:solidFill>
              <a:schemeClr val="accent5">
                <a:lumMod val="20000"/>
                <a:lumOff val="80000"/>
                <a:alpha val="42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zh-CN" altLang="en-US" sz="1200" kern="0" dirty="0">
                <a:solidFill>
                  <a:prstClr val="white"/>
                </a:solidFill>
                <a:latin typeface="等线 Light" panose="02010600030101010101" pitchFamily="2" charset="-122"/>
                <a:ea typeface="等线 Light" panose="02010600030101010101" pitchFamily="2" charset="-122"/>
              </a:endParaRPr>
            </a:p>
          </p:txBody>
        </p:sp>
        <p:sp>
          <p:nvSpPr>
            <p:cNvPr id="106" name="矩形: 圆角 105">
              <a:extLst>
                <a:ext uri="{FF2B5EF4-FFF2-40B4-BE49-F238E27FC236}">
                  <a16:creationId xmlns:a16="http://schemas.microsoft.com/office/drawing/2014/main" id="{B0844561-6320-093A-DF3E-229D678D037D}"/>
                </a:ext>
              </a:extLst>
            </p:cNvPr>
            <p:cNvSpPr/>
            <p:nvPr/>
          </p:nvSpPr>
          <p:spPr>
            <a:xfrm>
              <a:off x="5052190" y="2485106"/>
              <a:ext cx="1775481" cy="955848"/>
            </a:xfrm>
            <a:prstGeom prst="roundRect">
              <a:avLst>
                <a:gd name="adj" fmla="val 6891"/>
              </a:avLst>
            </a:prstGeom>
            <a:solidFill>
              <a:schemeClr val="accent5">
                <a:lumMod val="20000"/>
                <a:lumOff val="80000"/>
                <a:alpha val="42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zh-CN" altLang="en-US" sz="1200" kern="0" dirty="0">
                <a:solidFill>
                  <a:prstClr val="white"/>
                </a:solidFill>
                <a:latin typeface="等线 Light" panose="02010600030101010101" pitchFamily="2" charset="-122"/>
                <a:ea typeface="等线 Light" panose="02010600030101010101" pitchFamily="2" charset="-122"/>
              </a:endParaRPr>
            </a:p>
          </p:txBody>
        </p:sp>
        <p:sp>
          <p:nvSpPr>
            <p:cNvPr id="107" name="矩形: 圆角 106">
              <a:extLst>
                <a:ext uri="{FF2B5EF4-FFF2-40B4-BE49-F238E27FC236}">
                  <a16:creationId xmlns:a16="http://schemas.microsoft.com/office/drawing/2014/main" id="{92341CD3-26E1-FC65-11B3-BC3A4FBF64C9}"/>
                </a:ext>
              </a:extLst>
            </p:cNvPr>
            <p:cNvSpPr/>
            <p:nvPr/>
          </p:nvSpPr>
          <p:spPr>
            <a:xfrm>
              <a:off x="3218642" y="2485106"/>
              <a:ext cx="1775481" cy="955848"/>
            </a:xfrm>
            <a:prstGeom prst="roundRect">
              <a:avLst>
                <a:gd name="adj" fmla="val 6891"/>
              </a:avLst>
            </a:prstGeom>
            <a:solidFill>
              <a:schemeClr val="accent5">
                <a:lumMod val="20000"/>
                <a:lumOff val="80000"/>
                <a:alpha val="42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zh-CN" altLang="en-US" sz="1200" kern="0" dirty="0">
                <a:solidFill>
                  <a:prstClr val="white"/>
                </a:solidFill>
                <a:latin typeface="等线 Light" panose="02010600030101010101" pitchFamily="2" charset="-122"/>
                <a:ea typeface="等线 Light" panose="02010600030101010101" pitchFamily="2" charset="-122"/>
              </a:endParaRPr>
            </a:p>
          </p:txBody>
        </p:sp>
        <p:sp>
          <p:nvSpPr>
            <p:cNvPr id="108" name="矩形: 圆角 107">
              <a:extLst>
                <a:ext uri="{FF2B5EF4-FFF2-40B4-BE49-F238E27FC236}">
                  <a16:creationId xmlns:a16="http://schemas.microsoft.com/office/drawing/2014/main" id="{19DD8030-992A-BCED-F55B-7BC90B391FCE}"/>
                </a:ext>
              </a:extLst>
            </p:cNvPr>
            <p:cNvSpPr/>
            <p:nvPr/>
          </p:nvSpPr>
          <p:spPr>
            <a:xfrm>
              <a:off x="6885739" y="2485106"/>
              <a:ext cx="1775481" cy="955848"/>
            </a:xfrm>
            <a:prstGeom prst="roundRect">
              <a:avLst>
                <a:gd name="adj" fmla="val 6891"/>
              </a:avLst>
            </a:prstGeom>
            <a:solidFill>
              <a:schemeClr val="accent5">
                <a:lumMod val="20000"/>
                <a:lumOff val="80000"/>
                <a:alpha val="42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zh-CN" altLang="en-US" sz="1200" kern="0" dirty="0">
                <a:solidFill>
                  <a:prstClr val="white"/>
                </a:solidFill>
                <a:latin typeface="等线 Light" panose="02010600030101010101" pitchFamily="2" charset="-122"/>
                <a:ea typeface="等线 Light" panose="02010600030101010101" pitchFamily="2" charset="-122"/>
              </a:endParaRPr>
            </a:p>
          </p:txBody>
        </p:sp>
        <p:sp>
          <p:nvSpPr>
            <p:cNvPr id="109" name="文本框 108">
              <a:extLst>
                <a:ext uri="{FF2B5EF4-FFF2-40B4-BE49-F238E27FC236}">
                  <a16:creationId xmlns:a16="http://schemas.microsoft.com/office/drawing/2014/main" id="{350FF913-59A6-5BAC-82F9-7202F18DC821}"/>
                </a:ext>
              </a:extLst>
            </p:cNvPr>
            <p:cNvSpPr txBox="1"/>
            <p:nvPr/>
          </p:nvSpPr>
          <p:spPr>
            <a:xfrm>
              <a:off x="1428584" y="2569653"/>
              <a:ext cx="1688500" cy="7867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1" algn="ctr">
                <a:lnSpc>
                  <a:spcPct val="110000"/>
                </a:lnSpc>
                <a:spcBef>
                  <a:spcPct val="0"/>
                </a:spcBef>
                <a:defRPr/>
              </a:pPr>
              <a:r>
                <a:rPr lang="zh-CN" altLang="en-US" sz="1400" b="1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阿里巴巴普惠体 2.0 105 Heavy" panose="00020600040101010101" pitchFamily="18" charset="-122"/>
                </a:rPr>
                <a:t>不可靠的控制面传输导致协作时对邻居状态的错误估计</a:t>
              </a:r>
            </a:p>
          </p:txBody>
        </p:sp>
        <p:sp>
          <p:nvSpPr>
            <p:cNvPr id="110" name="文本框 109">
              <a:extLst>
                <a:ext uri="{FF2B5EF4-FFF2-40B4-BE49-F238E27FC236}">
                  <a16:creationId xmlns:a16="http://schemas.microsoft.com/office/drawing/2014/main" id="{FA469253-769F-361B-5DAB-5A37C69E206B}"/>
                </a:ext>
              </a:extLst>
            </p:cNvPr>
            <p:cNvSpPr txBox="1"/>
            <p:nvPr/>
          </p:nvSpPr>
          <p:spPr>
            <a:xfrm>
              <a:off x="3262132" y="2569653"/>
              <a:ext cx="1688500" cy="7867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1" algn="ctr">
                <a:lnSpc>
                  <a:spcPct val="110000"/>
                </a:lnSpc>
                <a:spcBef>
                  <a:spcPct val="0"/>
                </a:spcBef>
                <a:defRPr/>
              </a:pPr>
              <a:r>
                <a:rPr lang="zh-CN" altLang="en-US" sz="1400" b="1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阿里巴巴普惠体 2.0 105 Heavy" panose="00020600040101010101" pitchFamily="18" charset="-122"/>
                </a:rPr>
                <a:t>用户利己性导致卫星拥塞，切换频繁碰撞</a:t>
              </a:r>
            </a:p>
          </p:txBody>
        </p: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5EE504A6-CA72-96C5-221D-3F2BD6EFCDC5}"/>
                </a:ext>
              </a:extLst>
            </p:cNvPr>
            <p:cNvSpPr txBox="1"/>
            <p:nvPr/>
          </p:nvSpPr>
          <p:spPr>
            <a:xfrm>
              <a:off x="5037612" y="2569653"/>
              <a:ext cx="1804636" cy="7867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1" algn="ctr">
                <a:lnSpc>
                  <a:spcPct val="110000"/>
                </a:lnSpc>
                <a:spcBef>
                  <a:spcPct val="0"/>
                </a:spcBef>
                <a:defRPr/>
              </a:pPr>
              <a:r>
                <a:rPr lang="zh-CN" altLang="en-US" sz="1400" b="1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阿里巴巴普惠体 2.0 105 Heavy" panose="00020600040101010101" pitchFamily="18" charset="-122"/>
                </a:rPr>
                <a:t>切片</a:t>
              </a:r>
              <a:r>
                <a:rPr lang="en-US" altLang="zh-CN" sz="1400" b="1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阿里巴巴普惠体 2.0 105 Heavy" panose="00020600040101010101" pitchFamily="18" charset="-122"/>
                </a:rPr>
                <a:t>-MAC</a:t>
              </a:r>
              <a:r>
                <a:rPr lang="zh-CN" altLang="en-US" sz="1400" b="1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阿里巴巴普惠体 2.0 105 Heavy" panose="00020600040101010101" pitchFamily="18" charset="-122"/>
                </a:rPr>
                <a:t>的不匹配难以保障卫星用户的长期</a:t>
              </a:r>
              <a:r>
                <a:rPr lang="en-US" altLang="zh-CN" sz="1400" b="1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阿里巴巴普惠体 2.0 105 Heavy" panose="00020600040101010101" pitchFamily="18" charset="-122"/>
                </a:rPr>
                <a:t>QoS</a:t>
              </a:r>
            </a:p>
          </p:txBody>
        </p:sp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C7DC5988-2F21-135B-147A-58C5A0E5A995}"/>
                </a:ext>
              </a:extLst>
            </p:cNvPr>
            <p:cNvSpPr txBox="1"/>
            <p:nvPr/>
          </p:nvSpPr>
          <p:spPr>
            <a:xfrm>
              <a:off x="6929229" y="2569653"/>
              <a:ext cx="1688500" cy="7867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1" algn="ctr">
                <a:lnSpc>
                  <a:spcPct val="110000"/>
                </a:lnSpc>
                <a:spcBef>
                  <a:spcPct val="0"/>
                </a:spcBef>
                <a:defRPr/>
              </a:pPr>
              <a:r>
                <a:rPr lang="zh-CN" altLang="en-US" sz="1400" b="1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阿里巴巴普惠体 2.0 105 Heavy" panose="00020600040101010101" pitchFamily="18" charset="-122"/>
                </a:rPr>
                <a:t>星上硬件与时延约束使传统语义编码与恢复不可用</a:t>
              </a:r>
            </a:p>
          </p:txBody>
        </p:sp>
      </p:grpSp>
      <p:sp>
        <p:nvSpPr>
          <p:cNvPr id="57" name="下箭头 56">
            <a:extLst>
              <a:ext uri="{FF2B5EF4-FFF2-40B4-BE49-F238E27FC236}">
                <a16:creationId xmlns:a16="http://schemas.microsoft.com/office/drawing/2014/main" id="{B5632775-FA39-C916-3C1B-0A88E572442D}"/>
              </a:ext>
            </a:extLst>
          </p:cNvPr>
          <p:cNvSpPr/>
          <p:nvPr/>
        </p:nvSpPr>
        <p:spPr>
          <a:xfrm>
            <a:off x="2218164" y="3631747"/>
            <a:ext cx="249548" cy="365180"/>
          </a:xfrm>
          <a:prstGeom prst="downArrow">
            <a:avLst/>
          </a:prstGeom>
          <a:gradFill>
            <a:gsLst>
              <a:gs pos="1000">
                <a:srgbClr val="016AC0">
                  <a:alpha val="0"/>
                </a:srgbClr>
              </a:gs>
              <a:gs pos="100000">
                <a:srgbClr val="016AC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下箭头 56">
            <a:extLst>
              <a:ext uri="{FF2B5EF4-FFF2-40B4-BE49-F238E27FC236}">
                <a16:creationId xmlns:a16="http://schemas.microsoft.com/office/drawing/2014/main" id="{6BB24149-7ADE-13C8-282C-C60D5BB7DE70}"/>
              </a:ext>
            </a:extLst>
          </p:cNvPr>
          <p:cNvSpPr/>
          <p:nvPr/>
        </p:nvSpPr>
        <p:spPr>
          <a:xfrm>
            <a:off x="4051713" y="3631747"/>
            <a:ext cx="249548" cy="365180"/>
          </a:xfrm>
          <a:prstGeom prst="downArrow">
            <a:avLst/>
          </a:prstGeom>
          <a:gradFill>
            <a:gsLst>
              <a:gs pos="1000">
                <a:srgbClr val="016AC0">
                  <a:alpha val="0"/>
                </a:srgbClr>
              </a:gs>
              <a:gs pos="100000">
                <a:srgbClr val="016AC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下箭头 56">
            <a:extLst>
              <a:ext uri="{FF2B5EF4-FFF2-40B4-BE49-F238E27FC236}">
                <a16:creationId xmlns:a16="http://schemas.microsoft.com/office/drawing/2014/main" id="{0A84FF85-9D5D-2C0D-D299-36DCE0573BCF}"/>
              </a:ext>
            </a:extLst>
          </p:cNvPr>
          <p:cNvSpPr/>
          <p:nvPr/>
        </p:nvSpPr>
        <p:spPr>
          <a:xfrm>
            <a:off x="5885261" y="3631747"/>
            <a:ext cx="249548" cy="365180"/>
          </a:xfrm>
          <a:prstGeom prst="downArrow">
            <a:avLst/>
          </a:prstGeom>
          <a:gradFill>
            <a:gsLst>
              <a:gs pos="1000">
                <a:srgbClr val="016AC0">
                  <a:alpha val="0"/>
                </a:srgbClr>
              </a:gs>
              <a:gs pos="100000">
                <a:srgbClr val="016AC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下箭头 56">
            <a:extLst>
              <a:ext uri="{FF2B5EF4-FFF2-40B4-BE49-F238E27FC236}">
                <a16:creationId xmlns:a16="http://schemas.microsoft.com/office/drawing/2014/main" id="{AF3C9E3F-6BC1-5E83-24CC-F4808081AB6E}"/>
              </a:ext>
            </a:extLst>
          </p:cNvPr>
          <p:cNvSpPr/>
          <p:nvPr/>
        </p:nvSpPr>
        <p:spPr>
          <a:xfrm>
            <a:off x="7718810" y="3631747"/>
            <a:ext cx="249548" cy="365180"/>
          </a:xfrm>
          <a:prstGeom prst="downArrow">
            <a:avLst/>
          </a:prstGeom>
          <a:gradFill>
            <a:gsLst>
              <a:gs pos="1000">
                <a:srgbClr val="016AC0">
                  <a:alpha val="0"/>
                </a:srgbClr>
              </a:gs>
              <a:gs pos="100000">
                <a:srgbClr val="016AC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16" name="组合 115">
            <a:extLst>
              <a:ext uri="{FF2B5EF4-FFF2-40B4-BE49-F238E27FC236}">
                <a16:creationId xmlns:a16="http://schemas.microsoft.com/office/drawing/2014/main" id="{A015567B-EAC2-9D7E-542F-70C66EEE29D2}"/>
              </a:ext>
            </a:extLst>
          </p:cNvPr>
          <p:cNvGrpSpPr/>
          <p:nvPr/>
        </p:nvGrpSpPr>
        <p:grpSpPr>
          <a:xfrm>
            <a:off x="1407647" y="1077246"/>
            <a:ext cx="7402683" cy="316799"/>
            <a:chOff x="4798533" y="830396"/>
            <a:chExt cx="3359798" cy="603589"/>
          </a:xfrm>
        </p:grpSpPr>
        <p:sp>
          <p:nvSpPr>
            <p:cNvPr id="117" name="矩形 116">
              <a:extLst>
                <a:ext uri="{FF2B5EF4-FFF2-40B4-BE49-F238E27FC236}">
                  <a16:creationId xmlns:a16="http://schemas.microsoft.com/office/drawing/2014/main" id="{794CCFBC-9A1A-A1D0-A4E2-C2772ABC5FE5}"/>
                </a:ext>
              </a:extLst>
            </p:cNvPr>
            <p:cNvSpPr/>
            <p:nvPr/>
          </p:nvSpPr>
          <p:spPr>
            <a:xfrm>
              <a:off x="4798533" y="1020106"/>
              <a:ext cx="3359798" cy="409524"/>
            </a:xfrm>
            <a:prstGeom prst="rect">
              <a:avLst/>
            </a:prstGeom>
            <a:solidFill>
              <a:sysClr val="window" lastClr="FFFFFF">
                <a:lumMod val="95000"/>
                <a:alpha val="76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 defTabSz="914400">
                <a:defRPr/>
              </a:pPr>
              <a:endParaRPr lang="zh-CN" altLang="en-US" kern="0">
                <a:solidFill>
                  <a:srgbClr val="1258AE"/>
                </a:solidFill>
                <a:latin typeface="等线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8" name="矩形 117">
              <a:extLst>
                <a:ext uri="{FF2B5EF4-FFF2-40B4-BE49-F238E27FC236}">
                  <a16:creationId xmlns:a16="http://schemas.microsoft.com/office/drawing/2014/main" id="{BB85D107-EB71-7430-85FF-E718835B7EF5}"/>
                </a:ext>
              </a:extLst>
            </p:cNvPr>
            <p:cNvSpPr/>
            <p:nvPr/>
          </p:nvSpPr>
          <p:spPr>
            <a:xfrm>
              <a:off x="4798535" y="830396"/>
              <a:ext cx="3359796" cy="570681"/>
            </a:xfrm>
            <a:prstGeom prst="rect">
              <a:avLst/>
            </a:prstGeom>
            <a:pattFill prst="ltDnDiag">
              <a:fgClr>
                <a:sysClr val="window" lastClr="FFFFFF">
                  <a:lumMod val="85000"/>
                </a:sysClr>
              </a:fgClr>
              <a:bgClr>
                <a:sysClr val="window" lastClr="FFFFFF"/>
              </a:bgClr>
            </a:patt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574152">
                <a:defRPr/>
              </a:pPr>
              <a:r>
                <a:rPr lang="zh-CN" altLang="en-US" sz="1400" b="1" kern="0" dirty="0">
                  <a:solidFill>
                    <a:srgbClr val="0067B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单层</a:t>
              </a:r>
              <a:r>
                <a:rPr lang="en-US" altLang="zh-CN" sz="1400" b="1" kern="0" dirty="0">
                  <a:solidFill>
                    <a:srgbClr val="0067B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LEO</a:t>
              </a:r>
              <a:r>
                <a:rPr lang="zh-CN" altLang="en-US" sz="1400" b="1" kern="0" dirty="0">
                  <a:solidFill>
                    <a:srgbClr val="0067B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星座下，海量用户对地发起异构业务传输</a:t>
              </a:r>
            </a:p>
          </p:txBody>
        </p:sp>
        <p:sp>
          <p:nvSpPr>
            <p:cNvPr id="119" name="矩形: 圆角 118">
              <a:extLst>
                <a:ext uri="{FF2B5EF4-FFF2-40B4-BE49-F238E27FC236}">
                  <a16:creationId xmlns:a16="http://schemas.microsoft.com/office/drawing/2014/main" id="{28A391F1-3DF6-3A8A-5152-A72B1986BFF4}"/>
                </a:ext>
              </a:extLst>
            </p:cNvPr>
            <p:cNvSpPr/>
            <p:nvPr/>
          </p:nvSpPr>
          <p:spPr>
            <a:xfrm>
              <a:off x="4798533" y="1401072"/>
              <a:ext cx="3359797" cy="32913"/>
            </a:xfrm>
            <a:prstGeom prst="roundRect">
              <a:avLst>
                <a:gd name="adj" fmla="val 0"/>
              </a:avLst>
            </a:prstGeom>
            <a:gradFill flip="none" rotWithShape="1">
              <a:gsLst>
                <a:gs pos="0">
                  <a:sysClr val="window" lastClr="FFFFFF">
                    <a:lumMod val="65000"/>
                  </a:sysClr>
                </a:gs>
                <a:gs pos="100000">
                  <a:sysClr val="window" lastClr="FFFFFF">
                    <a:lumMod val="50000"/>
                  </a:sysClr>
                </a:gs>
              </a:gsLst>
              <a:lin ang="54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 defTabSz="914400">
                <a:defRPr/>
              </a:pPr>
              <a:endParaRPr lang="zh-CN" altLang="en-US" kern="0">
                <a:solidFill>
                  <a:srgbClr val="1258AE"/>
                </a:solidFill>
                <a:latin typeface="等线" panose="020F0502020204030204"/>
                <a:ea typeface="等线" panose="02010600030101010101" pitchFamily="2" charset="-122"/>
              </a:endParaRPr>
            </a:p>
          </p:txBody>
        </p:sp>
      </p:grp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DFFE9A18-C395-F9B6-BA55-D691E7686461}"/>
              </a:ext>
            </a:extLst>
          </p:cNvPr>
          <p:cNvSpPr/>
          <p:nvPr/>
        </p:nvSpPr>
        <p:spPr>
          <a:xfrm>
            <a:off x="2037056" y="1489167"/>
            <a:ext cx="1111368" cy="299528"/>
          </a:xfrm>
          <a:prstGeom prst="roundRect">
            <a:avLst>
              <a:gd name="adj" fmla="val 6963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>
            <a:outerShdw dist="38100" dir="2700000" algn="tl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" tIns="45720" rIns="0" bIns="45720" rtlCol="0" anchor="ctr"/>
          <a:lstStyle/>
          <a:p>
            <a:pPr algn="ctr" defTabSz="574152"/>
            <a:r>
              <a:rPr lang="zh-CN" altLang="en-US" sz="1400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状态感知 </a:t>
            </a:r>
          </a:p>
        </p:txBody>
      </p:sp>
      <p:sp>
        <p:nvSpPr>
          <p:cNvPr id="122" name="矩形: 圆角 121">
            <a:extLst>
              <a:ext uri="{FF2B5EF4-FFF2-40B4-BE49-F238E27FC236}">
                <a16:creationId xmlns:a16="http://schemas.microsoft.com/office/drawing/2014/main" id="{446F1CA5-8EA9-4807-5D5E-0C0FC7B18E0A}"/>
              </a:ext>
            </a:extLst>
          </p:cNvPr>
          <p:cNvSpPr/>
          <p:nvPr/>
        </p:nvSpPr>
        <p:spPr>
          <a:xfrm>
            <a:off x="3692012" y="1489167"/>
            <a:ext cx="1111368" cy="299528"/>
          </a:xfrm>
          <a:prstGeom prst="roundRect">
            <a:avLst>
              <a:gd name="adj" fmla="val 6963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>
            <a:outerShdw dist="38100" dir="2700000" algn="tl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" tIns="45720" rIns="0" bIns="45720" rtlCol="0" anchor="ctr"/>
          <a:lstStyle/>
          <a:p>
            <a:pPr algn="ctr" defTabSz="574152"/>
            <a:r>
              <a:rPr lang="zh-CN" altLang="en-US" sz="1400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接入切换 </a:t>
            </a:r>
          </a:p>
        </p:txBody>
      </p:sp>
      <p:sp>
        <p:nvSpPr>
          <p:cNvPr id="123" name="矩形: 圆角 122">
            <a:extLst>
              <a:ext uri="{FF2B5EF4-FFF2-40B4-BE49-F238E27FC236}">
                <a16:creationId xmlns:a16="http://schemas.microsoft.com/office/drawing/2014/main" id="{490DE674-CDCD-F0F9-6260-866DE335821D}"/>
              </a:ext>
            </a:extLst>
          </p:cNvPr>
          <p:cNvSpPr/>
          <p:nvPr/>
        </p:nvSpPr>
        <p:spPr>
          <a:xfrm>
            <a:off x="5346968" y="1489167"/>
            <a:ext cx="1111368" cy="299528"/>
          </a:xfrm>
          <a:prstGeom prst="roundRect">
            <a:avLst>
              <a:gd name="adj" fmla="val 6963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>
            <a:outerShdw dist="38100" dir="2700000" algn="tl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" tIns="45720" rIns="0" bIns="45720" rtlCol="0" anchor="ctr"/>
          <a:lstStyle/>
          <a:p>
            <a:pPr algn="ctr" defTabSz="574152"/>
            <a:r>
              <a:rPr lang="zh-CN" altLang="en-US" sz="1400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资源调度 </a:t>
            </a:r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387188E0-E935-E0B0-1E93-26BCFE508087}"/>
              </a:ext>
            </a:extLst>
          </p:cNvPr>
          <p:cNvSpPr/>
          <p:nvPr/>
        </p:nvSpPr>
        <p:spPr>
          <a:xfrm>
            <a:off x="7001923" y="1489167"/>
            <a:ext cx="1111368" cy="299528"/>
          </a:xfrm>
          <a:prstGeom prst="roundRect">
            <a:avLst>
              <a:gd name="adj" fmla="val 6963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>
            <a:outerShdw dist="38100" dir="2700000" algn="tl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" tIns="45720" rIns="0" bIns="45720" rtlCol="0" anchor="ctr"/>
          <a:lstStyle/>
          <a:p>
            <a:pPr algn="ctr" defTabSz="574152"/>
            <a:r>
              <a:rPr lang="zh-CN" altLang="en-US" sz="1400" b="1" kern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端到端传输</a:t>
            </a:r>
          </a:p>
        </p:txBody>
      </p:sp>
      <p:sp>
        <p:nvSpPr>
          <p:cNvPr id="133" name="下箭头 56">
            <a:extLst>
              <a:ext uri="{FF2B5EF4-FFF2-40B4-BE49-F238E27FC236}">
                <a16:creationId xmlns:a16="http://schemas.microsoft.com/office/drawing/2014/main" id="{F95C0764-15A4-AD2B-A9BB-6CEF8018CBAD}"/>
              </a:ext>
            </a:extLst>
          </p:cNvPr>
          <p:cNvSpPr/>
          <p:nvPr/>
        </p:nvSpPr>
        <p:spPr>
          <a:xfrm>
            <a:off x="2218164" y="1965519"/>
            <a:ext cx="249548" cy="365180"/>
          </a:xfrm>
          <a:prstGeom prst="downArrow">
            <a:avLst/>
          </a:prstGeom>
          <a:gradFill>
            <a:gsLst>
              <a:gs pos="1000">
                <a:srgbClr val="016AC0">
                  <a:alpha val="0"/>
                </a:srgbClr>
              </a:gs>
              <a:gs pos="100000">
                <a:srgbClr val="016AC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下箭头 56">
            <a:extLst>
              <a:ext uri="{FF2B5EF4-FFF2-40B4-BE49-F238E27FC236}">
                <a16:creationId xmlns:a16="http://schemas.microsoft.com/office/drawing/2014/main" id="{98A6CB2A-24C5-8539-1CD2-9B6B48D2132C}"/>
              </a:ext>
            </a:extLst>
          </p:cNvPr>
          <p:cNvSpPr/>
          <p:nvPr/>
        </p:nvSpPr>
        <p:spPr>
          <a:xfrm>
            <a:off x="4051713" y="1965519"/>
            <a:ext cx="249548" cy="365180"/>
          </a:xfrm>
          <a:prstGeom prst="downArrow">
            <a:avLst/>
          </a:prstGeom>
          <a:gradFill>
            <a:gsLst>
              <a:gs pos="1000">
                <a:srgbClr val="016AC0">
                  <a:alpha val="0"/>
                </a:srgbClr>
              </a:gs>
              <a:gs pos="100000">
                <a:srgbClr val="016AC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下箭头 56">
            <a:extLst>
              <a:ext uri="{FF2B5EF4-FFF2-40B4-BE49-F238E27FC236}">
                <a16:creationId xmlns:a16="http://schemas.microsoft.com/office/drawing/2014/main" id="{7CD830BF-5FB4-1691-7909-3104A5AA9FC4}"/>
              </a:ext>
            </a:extLst>
          </p:cNvPr>
          <p:cNvSpPr/>
          <p:nvPr/>
        </p:nvSpPr>
        <p:spPr>
          <a:xfrm>
            <a:off x="5885261" y="1965519"/>
            <a:ext cx="249548" cy="365180"/>
          </a:xfrm>
          <a:prstGeom prst="downArrow">
            <a:avLst/>
          </a:prstGeom>
          <a:gradFill>
            <a:gsLst>
              <a:gs pos="1000">
                <a:srgbClr val="016AC0">
                  <a:alpha val="0"/>
                </a:srgbClr>
              </a:gs>
              <a:gs pos="100000">
                <a:srgbClr val="016AC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下箭头 56">
            <a:extLst>
              <a:ext uri="{FF2B5EF4-FFF2-40B4-BE49-F238E27FC236}">
                <a16:creationId xmlns:a16="http://schemas.microsoft.com/office/drawing/2014/main" id="{8786187C-61F1-9116-FB93-7A7D0BB11513}"/>
              </a:ext>
            </a:extLst>
          </p:cNvPr>
          <p:cNvSpPr/>
          <p:nvPr/>
        </p:nvSpPr>
        <p:spPr>
          <a:xfrm>
            <a:off x="7718810" y="1965519"/>
            <a:ext cx="249548" cy="365180"/>
          </a:xfrm>
          <a:prstGeom prst="downArrow">
            <a:avLst/>
          </a:prstGeom>
          <a:gradFill>
            <a:gsLst>
              <a:gs pos="1000">
                <a:srgbClr val="016AC0">
                  <a:alpha val="0"/>
                </a:srgbClr>
              </a:gs>
              <a:gs pos="100000">
                <a:srgbClr val="016AC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37" name="Google Shape;780;p55">
            <a:extLst>
              <a:ext uri="{FF2B5EF4-FFF2-40B4-BE49-F238E27FC236}">
                <a16:creationId xmlns:a16="http://schemas.microsoft.com/office/drawing/2014/main" id="{2AB38A0F-005F-3C1E-EB45-9DA0A018036C}"/>
              </a:ext>
            </a:extLst>
          </p:cNvPr>
          <p:cNvGrpSpPr/>
          <p:nvPr/>
        </p:nvGrpSpPr>
        <p:grpSpPr>
          <a:xfrm>
            <a:off x="3335004" y="1573591"/>
            <a:ext cx="170427" cy="161502"/>
            <a:chOff x="4768575" y="2253950"/>
            <a:chExt cx="46296" cy="43875"/>
          </a:xfrm>
          <a:solidFill>
            <a:srgbClr val="016AC0"/>
          </a:solidFill>
        </p:grpSpPr>
        <p:sp>
          <p:nvSpPr>
            <p:cNvPr id="138" name="Google Shape;781;p55">
              <a:extLst>
                <a:ext uri="{FF2B5EF4-FFF2-40B4-BE49-F238E27FC236}">
                  <a16:creationId xmlns:a16="http://schemas.microsoft.com/office/drawing/2014/main" id="{8798C860-69D6-516F-4AD4-E0672982B3AF}"/>
                </a:ext>
              </a:extLst>
            </p:cNvPr>
            <p:cNvSpPr/>
            <p:nvPr/>
          </p:nvSpPr>
          <p:spPr>
            <a:xfrm>
              <a:off x="4785696" y="2253950"/>
              <a:ext cx="29175" cy="43875"/>
            </a:xfrm>
            <a:custGeom>
              <a:avLst/>
              <a:gdLst/>
              <a:ahLst/>
              <a:cxnLst/>
              <a:rect l="l" t="t" r="r" b="b"/>
              <a:pathLst>
                <a:path w="1167" h="1755" extrusionOk="0">
                  <a:moveTo>
                    <a:pt x="262" y="1"/>
                  </a:moveTo>
                  <a:cubicBezTo>
                    <a:pt x="150" y="1"/>
                    <a:pt x="49" y="149"/>
                    <a:pt x="164" y="247"/>
                  </a:cubicBezTo>
                  <a:lnTo>
                    <a:pt x="770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4" y="1754"/>
                  </a:cubicBezTo>
                  <a:cubicBezTo>
                    <a:pt x="236" y="1754"/>
                    <a:pt x="271" y="1742"/>
                    <a:pt x="301" y="1711"/>
                  </a:cubicBezTo>
                  <a:lnTo>
                    <a:pt x="1166" y="853"/>
                  </a:lnTo>
                  <a:lnTo>
                    <a:pt x="366" y="52"/>
                  </a:lnTo>
                  <a:cubicBezTo>
                    <a:pt x="334" y="16"/>
                    <a:pt x="297" y="1"/>
                    <a:pt x="26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6" tIns="91426" rIns="91426" bIns="91426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endParaRPr sz="1401"/>
            </a:p>
          </p:txBody>
        </p:sp>
        <p:sp>
          <p:nvSpPr>
            <p:cNvPr id="139" name="Google Shape;782;p55">
              <a:extLst>
                <a:ext uri="{FF2B5EF4-FFF2-40B4-BE49-F238E27FC236}">
                  <a16:creationId xmlns:a16="http://schemas.microsoft.com/office/drawing/2014/main" id="{2D082C74-8F88-9686-A0C2-23635A0A401A}"/>
                </a:ext>
              </a:extLst>
            </p:cNvPr>
            <p:cNvSpPr/>
            <p:nvPr/>
          </p:nvSpPr>
          <p:spPr>
            <a:xfrm>
              <a:off x="4768575" y="2253950"/>
              <a:ext cx="29175" cy="43875"/>
            </a:xfrm>
            <a:custGeom>
              <a:avLst/>
              <a:gdLst/>
              <a:ahLst/>
              <a:cxnLst/>
              <a:rect l="l" t="t" r="r" b="b"/>
              <a:pathLst>
                <a:path w="1167" h="1755" extrusionOk="0">
                  <a:moveTo>
                    <a:pt x="261" y="1"/>
                  </a:moveTo>
                  <a:cubicBezTo>
                    <a:pt x="150" y="1"/>
                    <a:pt x="50" y="149"/>
                    <a:pt x="171" y="247"/>
                  </a:cubicBezTo>
                  <a:lnTo>
                    <a:pt x="769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3" y="1754"/>
                  </a:cubicBezTo>
                  <a:cubicBezTo>
                    <a:pt x="236" y="1754"/>
                    <a:pt x="270" y="1742"/>
                    <a:pt x="301" y="1711"/>
                  </a:cubicBezTo>
                  <a:lnTo>
                    <a:pt x="1166" y="853"/>
                  </a:lnTo>
                  <a:lnTo>
                    <a:pt x="365" y="52"/>
                  </a:lnTo>
                  <a:cubicBezTo>
                    <a:pt x="334" y="16"/>
                    <a:pt x="297" y="1"/>
                    <a:pt x="26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6" tIns="91426" rIns="91426" bIns="91426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endParaRPr sz="1401"/>
            </a:p>
          </p:txBody>
        </p:sp>
      </p:grpSp>
      <p:grpSp>
        <p:nvGrpSpPr>
          <p:cNvPr id="140" name="Google Shape;780;p55">
            <a:extLst>
              <a:ext uri="{FF2B5EF4-FFF2-40B4-BE49-F238E27FC236}">
                <a16:creationId xmlns:a16="http://schemas.microsoft.com/office/drawing/2014/main" id="{4FCFD50F-07AF-8559-CA58-867819333F82}"/>
              </a:ext>
            </a:extLst>
          </p:cNvPr>
          <p:cNvGrpSpPr/>
          <p:nvPr/>
        </p:nvGrpSpPr>
        <p:grpSpPr>
          <a:xfrm>
            <a:off x="4992748" y="1573591"/>
            <a:ext cx="170427" cy="161502"/>
            <a:chOff x="4768575" y="2253950"/>
            <a:chExt cx="46296" cy="43875"/>
          </a:xfrm>
          <a:solidFill>
            <a:srgbClr val="016AC0"/>
          </a:solidFill>
        </p:grpSpPr>
        <p:sp>
          <p:nvSpPr>
            <p:cNvPr id="141" name="Google Shape;781;p55">
              <a:extLst>
                <a:ext uri="{FF2B5EF4-FFF2-40B4-BE49-F238E27FC236}">
                  <a16:creationId xmlns:a16="http://schemas.microsoft.com/office/drawing/2014/main" id="{1DE00316-23E3-9BF7-D4BA-BFA7085385C8}"/>
                </a:ext>
              </a:extLst>
            </p:cNvPr>
            <p:cNvSpPr/>
            <p:nvPr/>
          </p:nvSpPr>
          <p:spPr>
            <a:xfrm>
              <a:off x="4785696" y="2253950"/>
              <a:ext cx="29175" cy="43875"/>
            </a:xfrm>
            <a:custGeom>
              <a:avLst/>
              <a:gdLst/>
              <a:ahLst/>
              <a:cxnLst/>
              <a:rect l="l" t="t" r="r" b="b"/>
              <a:pathLst>
                <a:path w="1167" h="1755" extrusionOk="0">
                  <a:moveTo>
                    <a:pt x="262" y="1"/>
                  </a:moveTo>
                  <a:cubicBezTo>
                    <a:pt x="150" y="1"/>
                    <a:pt x="49" y="149"/>
                    <a:pt x="164" y="247"/>
                  </a:cubicBezTo>
                  <a:lnTo>
                    <a:pt x="770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4" y="1754"/>
                  </a:cubicBezTo>
                  <a:cubicBezTo>
                    <a:pt x="236" y="1754"/>
                    <a:pt x="271" y="1742"/>
                    <a:pt x="301" y="1711"/>
                  </a:cubicBezTo>
                  <a:lnTo>
                    <a:pt x="1166" y="853"/>
                  </a:lnTo>
                  <a:lnTo>
                    <a:pt x="366" y="52"/>
                  </a:lnTo>
                  <a:cubicBezTo>
                    <a:pt x="334" y="16"/>
                    <a:pt x="297" y="1"/>
                    <a:pt x="26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6" tIns="91426" rIns="91426" bIns="91426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endParaRPr sz="1401"/>
            </a:p>
          </p:txBody>
        </p:sp>
        <p:sp>
          <p:nvSpPr>
            <p:cNvPr id="142" name="Google Shape;782;p55">
              <a:extLst>
                <a:ext uri="{FF2B5EF4-FFF2-40B4-BE49-F238E27FC236}">
                  <a16:creationId xmlns:a16="http://schemas.microsoft.com/office/drawing/2014/main" id="{05FD7ACF-E73D-AD18-8B5E-3FEE1B1B5114}"/>
                </a:ext>
              </a:extLst>
            </p:cNvPr>
            <p:cNvSpPr/>
            <p:nvPr/>
          </p:nvSpPr>
          <p:spPr>
            <a:xfrm>
              <a:off x="4768575" y="2253950"/>
              <a:ext cx="29175" cy="43875"/>
            </a:xfrm>
            <a:custGeom>
              <a:avLst/>
              <a:gdLst/>
              <a:ahLst/>
              <a:cxnLst/>
              <a:rect l="l" t="t" r="r" b="b"/>
              <a:pathLst>
                <a:path w="1167" h="1755" extrusionOk="0">
                  <a:moveTo>
                    <a:pt x="261" y="1"/>
                  </a:moveTo>
                  <a:cubicBezTo>
                    <a:pt x="150" y="1"/>
                    <a:pt x="50" y="149"/>
                    <a:pt x="171" y="247"/>
                  </a:cubicBezTo>
                  <a:lnTo>
                    <a:pt x="769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3" y="1754"/>
                  </a:cubicBezTo>
                  <a:cubicBezTo>
                    <a:pt x="236" y="1754"/>
                    <a:pt x="270" y="1742"/>
                    <a:pt x="301" y="1711"/>
                  </a:cubicBezTo>
                  <a:lnTo>
                    <a:pt x="1166" y="853"/>
                  </a:lnTo>
                  <a:lnTo>
                    <a:pt x="365" y="52"/>
                  </a:lnTo>
                  <a:cubicBezTo>
                    <a:pt x="334" y="16"/>
                    <a:pt x="297" y="1"/>
                    <a:pt x="26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6" tIns="91426" rIns="91426" bIns="91426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endParaRPr sz="1401"/>
            </a:p>
          </p:txBody>
        </p:sp>
      </p:grpSp>
      <p:grpSp>
        <p:nvGrpSpPr>
          <p:cNvPr id="143" name="Google Shape;780;p55">
            <a:extLst>
              <a:ext uri="{FF2B5EF4-FFF2-40B4-BE49-F238E27FC236}">
                <a16:creationId xmlns:a16="http://schemas.microsoft.com/office/drawing/2014/main" id="{5C2716E2-992C-2DEE-6F6A-169C4FA40453}"/>
              </a:ext>
            </a:extLst>
          </p:cNvPr>
          <p:cNvGrpSpPr/>
          <p:nvPr/>
        </p:nvGrpSpPr>
        <p:grpSpPr>
          <a:xfrm>
            <a:off x="6644916" y="1573591"/>
            <a:ext cx="170427" cy="161502"/>
            <a:chOff x="4768575" y="2253950"/>
            <a:chExt cx="46296" cy="43875"/>
          </a:xfrm>
          <a:solidFill>
            <a:srgbClr val="016AC0"/>
          </a:solidFill>
        </p:grpSpPr>
        <p:sp>
          <p:nvSpPr>
            <p:cNvPr id="144" name="Google Shape;781;p55">
              <a:extLst>
                <a:ext uri="{FF2B5EF4-FFF2-40B4-BE49-F238E27FC236}">
                  <a16:creationId xmlns:a16="http://schemas.microsoft.com/office/drawing/2014/main" id="{241BDC42-6F56-9D45-BC94-B97EB84CBD74}"/>
                </a:ext>
              </a:extLst>
            </p:cNvPr>
            <p:cNvSpPr/>
            <p:nvPr/>
          </p:nvSpPr>
          <p:spPr>
            <a:xfrm>
              <a:off x="4785696" y="2253950"/>
              <a:ext cx="29175" cy="43875"/>
            </a:xfrm>
            <a:custGeom>
              <a:avLst/>
              <a:gdLst/>
              <a:ahLst/>
              <a:cxnLst/>
              <a:rect l="l" t="t" r="r" b="b"/>
              <a:pathLst>
                <a:path w="1167" h="1755" extrusionOk="0">
                  <a:moveTo>
                    <a:pt x="262" y="1"/>
                  </a:moveTo>
                  <a:cubicBezTo>
                    <a:pt x="150" y="1"/>
                    <a:pt x="49" y="149"/>
                    <a:pt x="164" y="247"/>
                  </a:cubicBezTo>
                  <a:lnTo>
                    <a:pt x="770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4" y="1754"/>
                  </a:cubicBezTo>
                  <a:cubicBezTo>
                    <a:pt x="236" y="1754"/>
                    <a:pt x="271" y="1742"/>
                    <a:pt x="301" y="1711"/>
                  </a:cubicBezTo>
                  <a:lnTo>
                    <a:pt x="1166" y="853"/>
                  </a:lnTo>
                  <a:lnTo>
                    <a:pt x="366" y="52"/>
                  </a:lnTo>
                  <a:cubicBezTo>
                    <a:pt x="334" y="16"/>
                    <a:pt x="297" y="1"/>
                    <a:pt x="26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6" tIns="91426" rIns="91426" bIns="91426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endParaRPr sz="1401"/>
            </a:p>
          </p:txBody>
        </p:sp>
        <p:sp>
          <p:nvSpPr>
            <p:cNvPr id="145" name="Google Shape;782;p55">
              <a:extLst>
                <a:ext uri="{FF2B5EF4-FFF2-40B4-BE49-F238E27FC236}">
                  <a16:creationId xmlns:a16="http://schemas.microsoft.com/office/drawing/2014/main" id="{F67890AD-F2A0-9F7C-15EC-A6498F083274}"/>
                </a:ext>
              </a:extLst>
            </p:cNvPr>
            <p:cNvSpPr/>
            <p:nvPr/>
          </p:nvSpPr>
          <p:spPr>
            <a:xfrm>
              <a:off x="4768575" y="2253950"/>
              <a:ext cx="29175" cy="43875"/>
            </a:xfrm>
            <a:custGeom>
              <a:avLst/>
              <a:gdLst/>
              <a:ahLst/>
              <a:cxnLst/>
              <a:rect l="l" t="t" r="r" b="b"/>
              <a:pathLst>
                <a:path w="1167" h="1755" extrusionOk="0">
                  <a:moveTo>
                    <a:pt x="261" y="1"/>
                  </a:moveTo>
                  <a:cubicBezTo>
                    <a:pt x="150" y="1"/>
                    <a:pt x="50" y="149"/>
                    <a:pt x="171" y="247"/>
                  </a:cubicBezTo>
                  <a:lnTo>
                    <a:pt x="769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3" y="1754"/>
                  </a:cubicBezTo>
                  <a:cubicBezTo>
                    <a:pt x="236" y="1754"/>
                    <a:pt x="270" y="1742"/>
                    <a:pt x="301" y="1711"/>
                  </a:cubicBezTo>
                  <a:lnTo>
                    <a:pt x="1166" y="853"/>
                  </a:lnTo>
                  <a:lnTo>
                    <a:pt x="365" y="52"/>
                  </a:lnTo>
                  <a:cubicBezTo>
                    <a:pt x="334" y="16"/>
                    <a:pt x="297" y="1"/>
                    <a:pt x="26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6" tIns="91426" rIns="91426" bIns="91426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endParaRPr sz="1401"/>
            </a:p>
          </p:txBody>
        </p:sp>
      </p:grpSp>
      <p:sp>
        <p:nvSpPr>
          <p:cNvPr id="146" name="任意多边形: 形状 145">
            <a:extLst>
              <a:ext uri="{FF2B5EF4-FFF2-40B4-BE49-F238E27FC236}">
                <a16:creationId xmlns:a16="http://schemas.microsoft.com/office/drawing/2014/main" id="{5BE58C8B-6B63-F4BD-B15C-69241BD8A0FC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 rot="16200000" flipV="1">
            <a:off x="4773339" y="4351718"/>
            <a:ext cx="532062" cy="2339086"/>
          </a:xfrm>
          <a:custGeom>
            <a:avLst/>
            <a:gdLst>
              <a:gd name="connsiteX0" fmla="*/ 1463339 w 1463339"/>
              <a:gd name="connsiteY0" fmla="*/ 4210722 h 4210722"/>
              <a:gd name="connsiteX1" fmla="*/ 1463339 w 1463339"/>
              <a:gd name="connsiteY1" fmla="*/ 0 h 4210722"/>
              <a:gd name="connsiteX2" fmla="*/ 1389173 w 1463339"/>
              <a:gd name="connsiteY2" fmla="*/ 316415 h 4210722"/>
              <a:gd name="connsiteX3" fmla="*/ 568783 w 1463339"/>
              <a:gd name="connsiteY3" fmla="*/ 1760917 h 4210722"/>
              <a:gd name="connsiteX4" fmla="*/ 494552 w 1463339"/>
              <a:gd name="connsiteY4" fmla="*/ 1803866 h 4210722"/>
              <a:gd name="connsiteX5" fmla="*/ 494552 w 1463339"/>
              <a:gd name="connsiteY5" fmla="*/ 1568332 h 4210722"/>
              <a:gd name="connsiteX6" fmla="*/ 0 w 1463339"/>
              <a:gd name="connsiteY6" fmla="*/ 2105360 h 4210722"/>
              <a:gd name="connsiteX7" fmla="*/ 494553 w 1463339"/>
              <a:gd name="connsiteY7" fmla="*/ 2642389 h 4210722"/>
              <a:gd name="connsiteX8" fmla="*/ 494553 w 1463339"/>
              <a:gd name="connsiteY8" fmla="*/ 2406856 h 4210722"/>
              <a:gd name="connsiteX9" fmla="*/ 568783 w 1463339"/>
              <a:gd name="connsiteY9" fmla="*/ 2449805 h 4210722"/>
              <a:gd name="connsiteX10" fmla="*/ 1389174 w 1463339"/>
              <a:gd name="connsiteY10" fmla="*/ 3894307 h 4210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463339" h="4210722">
                <a:moveTo>
                  <a:pt x="1463339" y="4210722"/>
                </a:moveTo>
                <a:lnTo>
                  <a:pt x="1463339" y="0"/>
                </a:lnTo>
                <a:lnTo>
                  <a:pt x="1389173" y="316415"/>
                </a:lnTo>
                <a:cubicBezTo>
                  <a:pt x="1204939" y="998707"/>
                  <a:pt x="914152" y="1519193"/>
                  <a:pt x="568783" y="1760917"/>
                </a:cubicBezTo>
                <a:lnTo>
                  <a:pt x="494552" y="1803866"/>
                </a:lnTo>
                <a:lnTo>
                  <a:pt x="494552" y="1568332"/>
                </a:lnTo>
                <a:lnTo>
                  <a:pt x="0" y="2105360"/>
                </a:lnTo>
                <a:lnTo>
                  <a:pt x="494553" y="2642389"/>
                </a:lnTo>
                <a:lnTo>
                  <a:pt x="494553" y="2406856"/>
                </a:lnTo>
                <a:lnTo>
                  <a:pt x="568783" y="2449805"/>
                </a:lnTo>
                <a:cubicBezTo>
                  <a:pt x="914152" y="2691529"/>
                  <a:pt x="1204941" y="3212015"/>
                  <a:pt x="1389174" y="3894307"/>
                </a:cubicBezTo>
                <a:close/>
              </a:path>
            </a:pathLst>
          </a:custGeom>
          <a:gradFill flip="none" rotWithShape="1">
            <a:gsLst>
              <a:gs pos="100000">
                <a:srgbClr val="016AC0"/>
              </a:gs>
              <a:gs pos="11000">
                <a:srgbClr val="016AC0">
                  <a:alpha val="0"/>
                </a:srgbClr>
              </a:gs>
            </a:gsLst>
            <a:lin ang="10800000" scaled="1"/>
            <a:tileRect/>
          </a:gradFill>
          <a:ln w="23876" cap="flat" cmpd="sng" algn="ctr">
            <a:noFill/>
            <a:prstDash val="solid"/>
            <a:miter lim="800000"/>
          </a:ln>
          <a:effectLst>
            <a:outerShdw blurRad="358140" sx="102000" sy="102000" algn="ctr" rotWithShape="0">
              <a:srgbClr val="B1C0DF">
                <a:alpha val="40000"/>
              </a:srgbClr>
            </a:outerShdw>
          </a:effectLst>
          <a:scene3d>
            <a:camera prst="perspectiveFront" fov="0">
              <a:rot lat="0" lon="0" rev="0"/>
            </a:camera>
            <a:lightRig rig="threePt" dir="t">
              <a:rot lat="0" lon="0" rev="4800000"/>
            </a:lightRig>
          </a:scene3d>
          <a:sp3d extrusionH="47752" prstMaterial="softEdge">
            <a:bevelT w="0" h="0"/>
            <a:bevelB w="0" h="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85954" tIns="42977" rIns="85954" bIns="42977" rtlCol="0" anchor="ctr">
            <a:noAutofit/>
            <a:sp3d>
              <a:bevelT w="0" h="0"/>
              <a:bevelB w="0" h="0"/>
            </a:sp3d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256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等线" panose="02010600030101010101" pitchFamily="2" charset="-122"/>
              <a:cs typeface="+mn-ea"/>
              <a:sym typeface="+mn-lt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8C2653B-829E-A90B-9E4B-F4B22B6EDD6B}"/>
              </a:ext>
            </a:extLst>
          </p:cNvPr>
          <p:cNvSpPr txBox="1"/>
          <p:nvPr/>
        </p:nvSpPr>
        <p:spPr>
          <a:xfrm>
            <a:off x="-79962" y="1904716"/>
            <a:ext cx="16740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zh-CN" altLang="en-US" sz="1400" b="1" kern="0" dirty="0">
                <a:solidFill>
                  <a:srgbClr val="3A65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（端到端业务承载）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9182EC16-7B40-B3A0-4CA3-79720C14FEE3}"/>
              </a:ext>
            </a:extLst>
          </p:cNvPr>
          <p:cNvSpPr txBox="1"/>
          <p:nvPr/>
        </p:nvSpPr>
        <p:spPr>
          <a:xfrm>
            <a:off x="-79962" y="5197049"/>
            <a:ext cx="16740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zh-CN" altLang="en-US" sz="1400" b="1" kern="0" dirty="0">
                <a:solidFill>
                  <a:srgbClr val="3A65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（感知</a:t>
            </a:r>
            <a:r>
              <a:rPr lang="en-US" altLang="zh-CN" sz="1400" b="1" kern="0" dirty="0">
                <a:solidFill>
                  <a:srgbClr val="3A65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-</a:t>
            </a:r>
            <a:r>
              <a:rPr lang="zh-CN" altLang="en-US" sz="1400" b="1" kern="0" dirty="0">
                <a:solidFill>
                  <a:srgbClr val="3A65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决策闭环）</a:t>
            </a:r>
          </a:p>
        </p:txBody>
      </p:sp>
      <p:sp>
        <p:nvSpPr>
          <p:cNvPr id="149" name="矩形: 圆角 148">
            <a:extLst>
              <a:ext uri="{FF2B5EF4-FFF2-40B4-BE49-F238E27FC236}">
                <a16:creationId xmlns:a16="http://schemas.microsoft.com/office/drawing/2014/main" id="{952775C9-0DDF-47F4-E537-8695F27C5297}"/>
              </a:ext>
            </a:extLst>
          </p:cNvPr>
          <p:cNvSpPr/>
          <p:nvPr/>
        </p:nvSpPr>
        <p:spPr>
          <a:xfrm>
            <a:off x="3235233" y="4137836"/>
            <a:ext cx="5569131" cy="1059212"/>
          </a:xfrm>
          <a:prstGeom prst="roundRect">
            <a:avLst>
              <a:gd name="adj" fmla="val 0"/>
            </a:avLst>
          </a:prstGeom>
          <a:noFill/>
          <a:ln w="1905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CC09CA42-C179-760A-277E-AF1F615C7940}"/>
              </a:ext>
            </a:extLst>
          </p:cNvPr>
          <p:cNvSpPr txBox="1"/>
          <p:nvPr/>
        </p:nvSpPr>
        <p:spPr>
          <a:xfrm>
            <a:off x="4130539" y="3734097"/>
            <a:ext cx="19382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面向协作提供感知能力</a:t>
            </a:r>
          </a:p>
        </p:txBody>
      </p:sp>
      <p:cxnSp>
        <p:nvCxnSpPr>
          <p:cNvPr id="153" name="连接符: 肘形 152">
            <a:extLst>
              <a:ext uri="{FF2B5EF4-FFF2-40B4-BE49-F238E27FC236}">
                <a16:creationId xmlns:a16="http://schemas.microsoft.com/office/drawing/2014/main" id="{0811BCFB-8A7C-1714-E56F-C7FE55E13C99}"/>
              </a:ext>
            </a:extLst>
          </p:cNvPr>
          <p:cNvCxnSpPr>
            <a:cxnSpLocks/>
            <a:stCxn id="97" idx="0"/>
            <a:endCxn id="149" idx="0"/>
          </p:cNvCxnSpPr>
          <p:nvPr/>
        </p:nvCxnSpPr>
        <p:spPr>
          <a:xfrm rot="5400000" flipH="1" flipV="1">
            <a:off x="4151159" y="2329617"/>
            <a:ext cx="60421" cy="3676860"/>
          </a:xfrm>
          <a:prstGeom prst="bentConnector3">
            <a:avLst>
              <a:gd name="adj1" fmla="val 301331"/>
            </a:avLst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280079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DJUSTMENTS" val="58.05646"/>
  <p:tag name="SHADOWSIZE" val="102"/>
  <p:tag name="TEXTZ '" val="-2.147484E+09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51</TotalTime>
  <Words>187</Words>
  <Application>Microsoft Office PowerPoint</Application>
  <PresentationFormat>自定义</PresentationFormat>
  <Paragraphs>22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HarmonyOS Sans SC</vt:lpstr>
      <vt:lpstr>等线</vt:lpstr>
      <vt:lpstr>等线 Light</vt:lpstr>
      <vt:lpstr>微软雅黑</vt:lpstr>
      <vt:lpstr>Arial</vt:lpstr>
      <vt:lpstr>Calibri</vt:lpstr>
      <vt:lpstr>Calibri Light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郎修璞</dc:creator>
  <cp:lastModifiedBy>Administrator</cp:lastModifiedBy>
  <cp:revision>72</cp:revision>
  <dcterms:created xsi:type="dcterms:W3CDTF">2023-08-09T12:44:00Z</dcterms:created>
  <dcterms:modified xsi:type="dcterms:W3CDTF">2026-07-01T12:57:07Z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82E270E24820429391A6C26D26E19FB8_12</vt:lpwstr>
  </property>
</Properties>
</file>