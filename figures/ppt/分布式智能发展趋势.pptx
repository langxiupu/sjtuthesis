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6"/>
        <p:guide pos="3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28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5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27.xml"/><Relationship Id="rId41" Type="http://schemas.openxmlformats.org/officeDocument/2006/relationships/tags" Target="../tags/tag26.xml"/><Relationship Id="rId40" Type="http://schemas.openxmlformats.org/officeDocument/2006/relationships/tags" Target="../tags/tag25.xml"/><Relationship Id="rId4" Type="http://schemas.openxmlformats.org/officeDocument/2006/relationships/tags" Target="../tags/tag4.xml"/><Relationship Id="rId39" Type="http://schemas.openxmlformats.org/officeDocument/2006/relationships/tags" Target="../tags/tag24.xml"/><Relationship Id="rId38" Type="http://schemas.openxmlformats.org/officeDocument/2006/relationships/image" Target="../media/image15.png"/><Relationship Id="rId37" Type="http://schemas.openxmlformats.org/officeDocument/2006/relationships/tags" Target="../tags/tag23.xml"/><Relationship Id="rId36" Type="http://schemas.openxmlformats.org/officeDocument/2006/relationships/tags" Target="../tags/tag22.xml"/><Relationship Id="rId35" Type="http://schemas.openxmlformats.org/officeDocument/2006/relationships/tags" Target="../tags/tag21.xml"/><Relationship Id="rId34" Type="http://schemas.openxmlformats.org/officeDocument/2006/relationships/tags" Target="../tags/tag20.xml"/><Relationship Id="rId33" Type="http://schemas.openxmlformats.org/officeDocument/2006/relationships/image" Target="../media/image14.svg"/><Relationship Id="rId32" Type="http://schemas.openxmlformats.org/officeDocument/2006/relationships/image" Target="../media/image13.png"/><Relationship Id="rId31" Type="http://schemas.openxmlformats.org/officeDocument/2006/relationships/tags" Target="../tags/tag19.xml"/><Relationship Id="rId30" Type="http://schemas.openxmlformats.org/officeDocument/2006/relationships/image" Target="../media/image12.png"/><Relationship Id="rId3" Type="http://schemas.openxmlformats.org/officeDocument/2006/relationships/tags" Target="../tags/tag3.xml"/><Relationship Id="rId29" Type="http://schemas.openxmlformats.org/officeDocument/2006/relationships/tags" Target="../tags/tag18.xml"/><Relationship Id="rId28" Type="http://schemas.openxmlformats.org/officeDocument/2006/relationships/image" Target="../media/image11.svg"/><Relationship Id="rId27" Type="http://schemas.openxmlformats.org/officeDocument/2006/relationships/image" Target="../media/image10.png"/><Relationship Id="rId26" Type="http://schemas.openxmlformats.org/officeDocument/2006/relationships/tags" Target="../tags/tag17.xml"/><Relationship Id="rId25" Type="http://schemas.openxmlformats.org/officeDocument/2006/relationships/tags" Target="../tags/tag16.xml"/><Relationship Id="rId24" Type="http://schemas.openxmlformats.org/officeDocument/2006/relationships/tags" Target="../tags/tag15.xml"/><Relationship Id="rId23" Type="http://schemas.openxmlformats.org/officeDocument/2006/relationships/tags" Target="../tags/tag14.xml"/><Relationship Id="rId22" Type="http://schemas.openxmlformats.org/officeDocument/2006/relationships/image" Target="../media/image9.png"/><Relationship Id="rId21" Type="http://schemas.openxmlformats.org/officeDocument/2006/relationships/image" Target="../media/image8.png"/><Relationship Id="rId20" Type="http://schemas.openxmlformats.org/officeDocument/2006/relationships/image" Target="../media/image7.png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image" Target="../media/image6.svg"/><Relationship Id="rId16" Type="http://schemas.openxmlformats.org/officeDocument/2006/relationships/image" Target="../media/image5.png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.sv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1318260" y="1409700"/>
            <a:ext cx="2940685" cy="12617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788160" y="578231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单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星服务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572760" y="578231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星座服务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290685" y="5782310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卫星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互联网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 descr="卫星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09545" y="1580515"/>
            <a:ext cx="277495" cy="277495"/>
          </a:xfrm>
          <a:prstGeom prst="rect">
            <a:avLst/>
          </a:prstGeom>
        </p:spPr>
      </p:pic>
      <p:pic>
        <p:nvPicPr>
          <p:cNvPr id="11" name="图片 10" descr="用户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13230" y="1804670"/>
            <a:ext cx="303530" cy="3035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922145" y="2202815"/>
            <a:ext cx="1727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无服务质量保障的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单跳通信管道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>
            <p:custDataLst>
              <p:tags r:id="rId12"/>
            </p:custDataLst>
          </p:nvPr>
        </p:nvSpPr>
        <p:spPr>
          <a:xfrm>
            <a:off x="1318260" y="3097530"/>
            <a:ext cx="2940685" cy="12617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>
            <p:custDataLst>
              <p:tags r:id="rId13"/>
            </p:custDataLst>
          </p:nvPr>
        </p:nvSpPr>
        <p:spPr>
          <a:xfrm>
            <a:off x="1318260" y="4785360"/>
            <a:ext cx="2940685" cy="620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透明转发平台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>
            <p:custDataLst>
              <p:tags r:id="rId14"/>
            </p:custDataLst>
          </p:nvPr>
        </p:nvSpPr>
        <p:spPr>
          <a:xfrm>
            <a:off x="4970780" y="1409700"/>
            <a:ext cx="2940685" cy="12617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>
            <p:custDataLst>
              <p:tags r:id="rId15"/>
            </p:custDataLst>
          </p:nvPr>
        </p:nvSpPr>
        <p:spPr>
          <a:xfrm>
            <a:off x="8623300" y="1409700"/>
            <a:ext cx="2940685" cy="12617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 descr="互联网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15360" y="1793240"/>
            <a:ext cx="314960" cy="314960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>
            <a:off x="2164080" y="1959610"/>
            <a:ext cx="1219200" cy="0"/>
          </a:xfrm>
          <a:prstGeom prst="straightConnector1">
            <a:avLst/>
          </a:prstGeom>
          <a:ln w="28575" cmpd="dbl">
            <a:solidFill>
              <a:schemeClr val="tx1">
                <a:lumMod val="75000"/>
                <a:lumOff val="25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18"/>
            </p:custDataLst>
          </p:nvPr>
        </p:nvSpPr>
        <p:spPr>
          <a:xfrm>
            <a:off x="5236845" y="2265680"/>
            <a:ext cx="2407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尽力而为的多跳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传输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9"/>
            </p:custDataLst>
          </p:nvPr>
        </p:nvSpPr>
        <p:spPr>
          <a:xfrm>
            <a:off x="10065385" y="1811020"/>
            <a:ext cx="1574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QoS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保障的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跳传输服务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2" name="图片 31" descr="卫星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7105" y="1865630"/>
            <a:ext cx="289560" cy="28956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0960" y="1463040"/>
            <a:ext cx="292100" cy="2921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94500" y="1858010"/>
            <a:ext cx="292100" cy="292100"/>
          </a:xfrm>
          <a:prstGeom prst="rect">
            <a:avLst/>
          </a:prstGeom>
        </p:spPr>
      </p:pic>
      <p:cxnSp>
        <p:nvCxnSpPr>
          <p:cNvPr id="36" name="直接连接符 35"/>
          <p:cNvCxnSpPr/>
          <p:nvPr/>
        </p:nvCxnSpPr>
        <p:spPr>
          <a:xfrm flipV="1">
            <a:off x="6156960" y="1605915"/>
            <a:ext cx="421640" cy="406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552565" y="1605915"/>
            <a:ext cx="381000" cy="4165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6184900" y="2022475"/>
            <a:ext cx="859155" cy="444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0" name="图片 3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67960" y="1793240"/>
            <a:ext cx="304800" cy="30480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29500" y="1790700"/>
            <a:ext cx="317500" cy="317500"/>
          </a:xfrm>
          <a:prstGeom prst="rect">
            <a:avLst/>
          </a:prstGeom>
        </p:spPr>
      </p:pic>
      <p:cxnSp>
        <p:nvCxnSpPr>
          <p:cNvPr id="43" name="直接箭头连接符 42"/>
          <p:cNvCxnSpPr/>
          <p:nvPr/>
        </p:nvCxnSpPr>
        <p:spPr>
          <a:xfrm>
            <a:off x="5617210" y="1959610"/>
            <a:ext cx="385445" cy="0"/>
          </a:xfrm>
          <a:prstGeom prst="straightConnector1">
            <a:avLst/>
          </a:prstGeom>
          <a:ln w="28575" cmpd="dbl">
            <a:solidFill>
              <a:schemeClr val="tx1">
                <a:lumMod val="75000"/>
                <a:lumOff val="25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7044055" y="1959610"/>
            <a:ext cx="385445" cy="0"/>
          </a:xfrm>
          <a:prstGeom prst="straightConnector1">
            <a:avLst/>
          </a:prstGeom>
          <a:ln w="28575" cmpd="dbl">
            <a:solidFill>
              <a:schemeClr val="tx1">
                <a:lumMod val="75000"/>
                <a:lumOff val="25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9130030" y="2515235"/>
            <a:ext cx="928370" cy="508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9138920" y="2188210"/>
            <a:ext cx="721360" cy="3200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 flipV="1">
            <a:off x="9845040" y="2172970"/>
            <a:ext cx="223520" cy="3048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8855075" y="1409700"/>
            <a:ext cx="1457325" cy="559435"/>
            <a:chOff x="13580" y="7381"/>
            <a:chExt cx="2056" cy="881"/>
          </a:xfrm>
        </p:grpSpPr>
        <p:sp>
          <p:nvSpPr>
            <p:cNvPr id="67" name="云形 66"/>
            <p:cNvSpPr/>
            <p:nvPr/>
          </p:nvSpPr>
          <p:spPr>
            <a:xfrm>
              <a:off x="13720" y="7381"/>
              <a:ext cx="1840" cy="881"/>
            </a:xfrm>
            <a:prstGeom prst="clou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>
              <p:custDataLst>
                <p:tags r:id="rId23"/>
              </p:custDataLst>
            </p:nvPr>
          </p:nvSpPr>
          <p:spPr>
            <a:xfrm>
              <a:off x="13580" y="7610"/>
              <a:ext cx="205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宋体" panose="02010600030101010101" pitchFamily="2" charset="-122"/>
                  <a:ea typeface="宋体" panose="02010600030101010101" pitchFamily="2" charset="-122"/>
                </a:rPr>
                <a:t>QoS</a:t>
              </a:r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管理策略配置</a:t>
              </a:r>
              <a:endParaRPr lang="zh-CN" altLang="en-US" sz="10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70" name="直接箭头连接符 69"/>
          <p:cNvCxnSpPr/>
          <p:nvPr/>
        </p:nvCxnSpPr>
        <p:spPr>
          <a:xfrm>
            <a:off x="9850120" y="1913890"/>
            <a:ext cx="5080" cy="259080"/>
          </a:xfrm>
          <a:prstGeom prst="straightConnector1">
            <a:avLst/>
          </a:prstGeom>
          <a:ln w="15875" cmpd="sng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10083800" y="1771650"/>
            <a:ext cx="3810" cy="609600"/>
          </a:xfrm>
          <a:prstGeom prst="straightConnector1">
            <a:avLst/>
          </a:prstGeom>
          <a:ln w="15875" cmpd="sng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9055100" y="1858010"/>
            <a:ext cx="3810" cy="471805"/>
          </a:xfrm>
          <a:prstGeom prst="straightConnector1">
            <a:avLst/>
          </a:prstGeom>
          <a:ln w="15875" cmpd="sng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1" name="图片 6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97085" y="2011680"/>
            <a:ext cx="292100" cy="29210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39020" y="2343150"/>
            <a:ext cx="292100" cy="29210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97950" y="2343150"/>
            <a:ext cx="292100" cy="292100"/>
          </a:xfrm>
          <a:prstGeom prst="rect">
            <a:avLst/>
          </a:prstGeom>
        </p:spPr>
      </p:pic>
      <p:sp>
        <p:nvSpPr>
          <p:cNvPr id="74" name="右箭头 73"/>
          <p:cNvSpPr/>
          <p:nvPr/>
        </p:nvSpPr>
        <p:spPr>
          <a:xfrm>
            <a:off x="1513205" y="2790190"/>
            <a:ext cx="9855835" cy="230505"/>
          </a:xfrm>
          <a:prstGeom prst="rightArrow">
            <a:avLst>
              <a:gd name="adj1" fmla="val 50000"/>
              <a:gd name="adj2" fmla="val 96694"/>
            </a:avLst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24"/>
            </p:custDataLst>
          </p:nvPr>
        </p:nvSpPr>
        <p:spPr>
          <a:xfrm>
            <a:off x="42545" y="1736090"/>
            <a:ext cx="1146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服务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类型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25"/>
            </p:custDataLst>
          </p:nvPr>
        </p:nvSpPr>
        <p:spPr>
          <a:xfrm>
            <a:off x="42545" y="3405505"/>
            <a:ext cx="1146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管控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26"/>
            </p:custDataLst>
          </p:nvPr>
        </p:nvSpPr>
        <p:spPr>
          <a:xfrm>
            <a:off x="163830" y="4785360"/>
            <a:ext cx="903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平台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85645" y="3282950"/>
            <a:ext cx="292100" cy="292100"/>
          </a:xfrm>
          <a:prstGeom prst="rect">
            <a:avLst/>
          </a:prstGeom>
        </p:spPr>
      </p:pic>
      <p:pic>
        <p:nvPicPr>
          <p:cNvPr id="82" name="图片 81" descr="天线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68780" y="3735705"/>
            <a:ext cx="314960" cy="314960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29"/>
            </p:custDataLst>
          </p:nvPr>
        </p:nvSpPr>
        <p:spPr>
          <a:xfrm>
            <a:off x="2567305" y="3528695"/>
            <a:ext cx="1691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遥测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遥控与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指令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无网络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控制面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flipH="1">
            <a:off x="2241550" y="3733165"/>
            <a:ext cx="317500" cy="317500"/>
          </a:xfrm>
          <a:prstGeom prst="rect">
            <a:avLst/>
          </a:prstGeom>
        </p:spPr>
      </p:pic>
      <p:sp>
        <p:nvSpPr>
          <p:cNvPr id="91" name="圆角矩形 90"/>
          <p:cNvSpPr/>
          <p:nvPr>
            <p:custDataLst>
              <p:tags r:id="rId31"/>
            </p:custDataLst>
          </p:nvPr>
        </p:nvSpPr>
        <p:spPr>
          <a:xfrm>
            <a:off x="4897120" y="3097530"/>
            <a:ext cx="2940685" cy="126174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2" name="组合 91"/>
          <p:cNvGrpSpPr/>
          <p:nvPr/>
        </p:nvGrpSpPr>
        <p:grpSpPr>
          <a:xfrm>
            <a:off x="5044440" y="3035300"/>
            <a:ext cx="1419860" cy="971550"/>
            <a:chOff x="11934" y="6490"/>
            <a:chExt cx="2236" cy="1530"/>
          </a:xfrm>
        </p:grpSpPr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flipH="1">
              <a:off x="13710" y="6490"/>
              <a:ext cx="460" cy="460"/>
            </a:xfrm>
            <a:prstGeom prst="rect">
              <a:avLst/>
            </a:prstGeom>
          </p:spPr>
        </p:pic>
        <p:sp>
          <p:nvSpPr>
            <p:cNvPr id="89" name="矩形 88"/>
            <p:cNvSpPr/>
            <p:nvPr/>
          </p:nvSpPr>
          <p:spPr>
            <a:xfrm>
              <a:off x="11934" y="6720"/>
              <a:ext cx="2010" cy="650"/>
            </a:xfrm>
            <a:prstGeom prst="rect">
              <a:avLst/>
            </a:prstGeom>
            <a:noFill/>
            <a:ln w="158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MAC</a:t>
              </a:r>
              <a:r>
                <a:rPr lang="zh-CN" altLang="en-US" sz="1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学习</a:t>
              </a:r>
              <a:r>
                <a:rPr lang="en-US" altLang="zh-CN" sz="1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/</a:t>
              </a:r>
              <a:r>
                <a:rPr lang="zh-CN" altLang="en-US" sz="1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路由表</a:t>
              </a:r>
              <a:endParaRPr lang="zh-CN" altLang="en-US" sz="1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/>
              <a:r>
                <a:rPr lang="zh-CN" altLang="en-US" sz="1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生成</a:t>
              </a:r>
              <a:endParaRPr lang="zh-CN" altLang="en-US" sz="1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11935" y="7370"/>
              <a:ext cx="2010" cy="650"/>
            </a:xfrm>
            <a:prstGeom prst="rect">
              <a:avLst/>
            </a:prstGeom>
            <a:noFill/>
            <a:ln w="158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数据面转发</a:t>
              </a:r>
              <a:r>
                <a:rPr lang="zh-CN" altLang="en-US" sz="1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数据</a:t>
              </a:r>
              <a:endParaRPr lang="zh-CN" altLang="en-US" sz="1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94" name="图片 93" descr="数据中心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303135" y="3181350"/>
            <a:ext cx="292100" cy="292100"/>
          </a:xfrm>
          <a:prstGeom prst="rect">
            <a:avLst/>
          </a:prstGeom>
        </p:spPr>
      </p:pic>
      <p:cxnSp>
        <p:nvCxnSpPr>
          <p:cNvPr id="95" name="直接箭头连接符 94"/>
          <p:cNvCxnSpPr/>
          <p:nvPr/>
        </p:nvCxnSpPr>
        <p:spPr>
          <a:xfrm>
            <a:off x="6394450" y="3359150"/>
            <a:ext cx="831850" cy="0"/>
          </a:xfrm>
          <a:prstGeom prst="straightConnector1">
            <a:avLst/>
          </a:prstGeom>
          <a:ln w="28575" cmpd="dbl">
            <a:solidFill>
              <a:schemeClr val="tx1">
                <a:lumMod val="75000"/>
                <a:lumOff val="25000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6" name="文本框 95"/>
          <p:cNvSpPr txBox="1"/>
          <p:nvPr>
            <p:custDataLst>
              <p:tags r:id="rId34"/>
            </p:custDataLst>
          </p:nvPr>
        </p:nvSpPr>
        <p:spPr>
          <a:xfrm>
            <a:off x="7035165" y="3439795"/>
            <a:ext cx="876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</a:rPr>
              <a:t>软件定义</a:t>
            </a:r>
            <a:endParaRPr lang="zh-CN" altLang="en-US" sz="1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</a:rPr>
              <a:t>网络管理</a:t>
            </a:r>
            <a:endParaRPr lang="zh-CN" altLang="en-US" sz="1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35"/>
            </p:custDataLst>
          </p:nvPr>
        </p:nvSpPr>
        <p:spPr>
          <a:xfrm>
            <a:off x="5187315" y="4006850"/>
            <a:ext cx="2407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集中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分布式的网络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管理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" name="右箭头 97"/>
          <p:cNvSpPr/>
          <p:nvPr/>
        </p:nvSpPr>
        <p:spPr>
          <a:xfrm>
            <a:off x="1513205" y="4472940"/>
            <a:ext cx="9855835" cy="230505"/>
          </a:xfrm>
          <a:prstGeom prst="rightArrow">
            <a:avLst>
              <a:gd name="adj1" fmla="val 50000"/>
              <a:gd name="adj2" fmla="val 96694"/>
            </a:avLst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圆角矩形 98"/>
          <p:cNvSpPr/>
          <p:nvPr>
            <p:custDataLst>
              <p:tags r:id="rId36"/>
            </p:custDataLst>
          </p:nvPr>
        </p:nvSpPr>
        <p:spPr>
          <a:xfrm>
            <a:off x="8623300" y="3097530"/>
            <a:ext cx="2940685" cy="12617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8" name="组合 117"/>
          <p:cNvGrpSpPr/>
          <p:nvPr/>
        </p:nvGrpSpPr>
        <p:grpSpPr>
          <a:xfrm>
            <a:off x="8659495" y="3186430"/>
            <a:ext cx="2822575" cy="1232535"/>
            <a:chOff x="10765" y="8296"/>
            <a:chExt cx="4445" cy="1941"/>
          </a:xfrm>
        </p:grpSpPr>
        <p:grpSp>
          <p:nvGrpSpPr>
            <p:cNvPr id="100" name="组合 99"/>
            <p:cNvGrpSpPr/>
            <p:nvPr/>
          </p:nvGrpSpPr>
          <p:grpSpPr>
            <a:xfrm rot="0">
              <a:off x="10765" y="8558"/>
              <a:ext cx="1416" cy="1357"/>
              <a:chOff x="13580" y="7381"/>
              <a:chExt cx="2056" cy="881"/>
            </a:xfrm>
          </p:grpSpPr>
          <p:sp>
            <p:nvSpPr>
              <p:cNvPr id="101" name="云形 100"/>
              <p:cNvSpPr/>
              <p:nvPr/>
            </p:nvSpPr>
            <p:spPr>
              <a:xfrm>
                <a:off x="13720" y="7381"/>
                <a:ext cx="1840" cy="881"/>
              </a:xfrm>
              <a:prstGeom prst="clou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文本框 101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13580" y="7610"/>
                <a:ext cx="2056" cy="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panose="02010600030101010101" pitchFamily="2" charset="-122"/>
                    <a:ea typeface="宋体" panose="02010600030101010101" pitchFamily="2" charset="-122"/>
                  </a:rPr>
                  <a:t>地面集中式</a:t>
                </a:r>
                <a:r>
                  <a:rPr lang="zh-CN" altLang="en-US" sz="1000" b="1">
                    <a:latin typeface="宋体" panose="02010600030101010101" pitchFamily="2" charset="-122"/>
                    <a:ea typeface="宋体" panose="02010600030101010101" pitchFamily="2" charset="-122"/>
                  </a:rPr>
                  <a:t>控制</a:t>
                </a:r>
                <a:endPara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03" name="图片 102" descr="卫星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13083" y="9020"/>
              <a:ext cx="456" cy="456"/>
            </a:xfrm>
            <a:prstGeom prst="rect">
              <a:avLst/>
            </a:prstGeom>
          </p:spPr>
        </p:pic>
        <p:pic>
          <p:nvPicPr>
            <p:cNvPr id="104" name="图片 103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3656" y="8386"/>
              <a:ext cx="460" cy="460"/>
            </a:xfrm>
            <a:prstGeom prst="rect">
              <a:avLst/>
            </a:prstGeom>
          </p:spPr>
        </p:pic>
        <p:pic>
          <p:nvPicPr>
            <p:cNvPr id="105" name="图片 10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260" y="9008"/>
              <a:ext cx="460" cy="460"/>
            </a:xfrm>
            <a:prstGeom prst="rect">
              <a:avLst/>
            </a:prstGeom>
          </p:spPr>
        </p:pic>
        <p:cxnSp>
          <p:nvCxnSpPr>
            <p:cNvPr id="106" name="直接连接符 105"/>
            <p:cNvCxnSpPr/>
            <p:nvPr/>
          </p:nvCxnSpPr>
          <p:spPr>
            <a:xfrm flipV="1">
              <a:off x="13256" y="8611"/>
              <a:ext cx="664" cy="64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13879" y="8611"/>
              <a:ext cx="600" cy="65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13300" y="9267"/>
              <a:ext cx="1353" cy="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3022" y="9008"/>
              <a:ext cx="460" cy="460"/>
            </a:xfrm>
            <a:prstGeom prst="rect">
              <a:avLst/>
            </a:prstGeom>
          </p:spPr>
        </p:pic>
        <p:pic>
          <p:nvPicPr>
            <p:cNvPr id="110" name="图片 109" descr="ChatGPT Image 2025年11月12日 14_54_01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4045" y="8296"/>
              <a:ext cx="557" cy="557"/>
            </a:xfrm>
            <a:prstGeom prst="rect">
              <a:avLst/>
            </a:prstGeom>
          </p:spPr>
        </p:pic>
        <p:pic>
          <p:nvPicPr>
            <p:cNvPr id="111" name="图片 110" descr="ChatGPT Image 2025年11月12日 14_54_01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3022" y="8558"/>
              <a:ext cx="557" cy="557"/>
            </a:xfrm>
            <a:prstGeom prst="rect">
              <a:avLst/>
            </a:prstGeom>
          </p:spPr>
        </p:pic>
        <p:pic>
          <p:nvPicPr>
            <p:cNvPr id="112" name="图片 111" descr="ChatGPT Image 2025年11月12日 14_54_01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4653" y="8846"/>
              <a:ext cx="557" cy="557"/>
            </a:xfrm>
            <a:prstGeom prst="rect">
              <a:avLst/>
            </a:prstGeom>
          </p:spPr>
        </p:pic>
        <p:sp>
          <p:nvSpPr>
            <p:cNvPr id="113" name="文本框 112"/>
            <p:cNvSpPr txBox="1"/>
            <p:nvPr>
              <p:custDataLst>
                <p:tags r:id="rId39"/>
              </p:custDataLst>
            </p:nvPr>
          </p:nvSpPr>
          <p:spPr>
            <a:xfrm>
              <a:off x="12962" y="9609"/>
              <a:ext cx="224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基于人工智能的区域自治</a:t>
              </a:r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系统</a:t>
              </a:r>
              <a:endParaRPr lang="zh-CN" altLang="en-US" sz="10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14" name="直接箭头连接符 113"/>
            <p:cNvCxnSpPr/>
            <p:nvPr/>
          </p:nvCxnSpPr>
          <p:spPr>
            <a:xfrm>
              <a:off x="12313" y="9182"/>
              <a:ext cx="736" cy="0"/>
            </a:xfrm>
            <a:prstGeom prst="straightConnector1">
              <a:avLst/>
            </a:prstGeom>
            <a:ln w="28575" cmpd="dbl">
              <a:solidFill>
                <a:schemeClr val="tx1">
                  <a:lumMod val="75000"/>
                  <a:lumOff val="25000"/>
                </a:schemeClr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9" name="文本框 118"/>
          <p:cNvSpPr txBox="1"/>
          <p:nvPr>
            <p:custDataLst>
              <p:tags r:id="rId40"/>
            </p:custDataLst>
          </p:nvPr>
        </p:nvSpPr>
        <p:spPr>
          <a:xfrm>
            <a:off x="8276590" y="4194175"/>
            <a:ext cx="24079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地面微调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边缘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分布式管理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0" name="圆角矩形 119"/>
          <p:cNvSpPr/>
          <p:nvPr>
            <p:custDataLst>
              <p:tags r:id="rId41"/>
            </p:custDataLst>
          </p:nvPr>
        </p:nvSpPr>
        <p:spPr>
          <a:xfrm>
            <a:off x="4897120" y="4785360"/>
            <a:ext cx="2940685" cy="620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再生载荷</a:t>
            </a:r>
            <a:r>
              <a:rPr lang="zh-CN" altLang="en-US">
                <a:solidFill>
                  <a:schemeClr val="tx1"/>
                </a:solidFill>
              </a:rPr>
              <a:t>平台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1" name="圆角矩形 120"/>
          <p:cNvSpPr/>
          <p:nvPr>
            <p:custDataLst>
              <p:tags r:id="rId42"/>
            </p:custDataLst>
          </p:nvPr>
        </p:nvSpPr>
        <p:spPr>
          <a:xfrm>
            <a:off x="8659495" y="4785360"/>
            <a:ext cx="2940685" cy="62039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通感算一体化</a:t>
            </a:r>
            <a:r>
              <a:rPr lang="zh-CN" altLang="en-US">
                <a:solidFill>
                  <a:schemeClr val="tx1"/>
                </a:solidFill>
              </a:rPr>
              <a:t>平台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" name="右箭头 121"/>
          <p:cNvSpPr/>
          <p:nvPr/>
        </p:nvSpPr>
        <p:spPr>
          <a:xfrm>
            <a:off x="1513205" y="5551805"/>
            <a:ext cx="9855835" cy="230505"/>
          </a:xfrm>
          <a:prstGeom prst="rightArrow">
            <a:avLst>
              <a:gd name="adj1" fmla="val 50000"/>
              <a:gd name="adj2" fmla="val 96694"/>
            </a:avLst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74000">
                <a:schemeClr val="accent1">
                  <a:lumMod val="20000"/>
                  <a:lumOff val="80000"/>
                </a:schemeClr>
              </a:gs>
              <a:gs pos="83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2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3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4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5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6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7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8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9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10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11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12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13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14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15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16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17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18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19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20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21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22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23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24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25.xml><?xml version="1.0" encoding="utf-8"?>
<p:tagLst xmlns:p="http://schemas.openxmlformats.org/presentationml/2006/main">
  <p:tag name="KSO_WM_DIAGRAM_VIRTUALLY_FRAME" val="{&quot;height&quot;:125.05,&quot;left&quot;:144.7,&quot;top&quot;:46.65,&quot;width&quot;:506.2}"/>
</p:tagLst>
</file>

<file path=ppt/tags/tag26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27.xml><?xml version="1.0" encoding="utf-8"?>
<p:tagLst xmlns:p="http://schemas.openxmlformats.org/presentationml/2006/main">
  <p:tag name="KSO_WM_DIAGRAM_VIRTUALLY_FRAME" val="{&quot;height&quot;:148.9,&quot;left&quot;:103.8,&quot;top&quot;:46.65,&quot;width&quot;:547.1}"/>
</p:tagLst>
</file>

<file path=ppt/tags/tag28.xml><?xml version="1.0" encoding="utf-8"?>
<p:tagLst xmlns:p="http://schemas.openxmlformats.org/presentationml/2006/main">
  <p:tag name="resource_record_key" val="{&quot;10&quot;:[21579545,4532468,50043745,20286838,50030423,4587825,50013530,2155875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WPS 演示</Application>
  <PresentationFormat>宽屏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190</cp:revision>
  <dcterms:created xsi:type="dcterms:W3CDTF">2023-08-09T12:44:00Z</dcterms:created>
  <dcterms:modified xsi:type="dcterms:W3CDTF">2025-11-12T07:17:09Z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74F9586315F74FEBAB28A7869A7E370A_12</vt:lpwstr>
  </property>
</Properties>
</file>